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54" r:id="rId4"/>
    <p:sldMasterId id="2147483786" r:id="rId5"/>
    <p:sldMasterId id="2147483881" r:id="rId6"/>
    <p:sldMasterId id="2147483913" r:id="rId7"/>
  </p:sldMasterIdLst>
  <p:notesMasterIdLst>
    <p:notesMasterId r:id="rId41"/>
  </p:notesMasterIdLst>
  <p:handoutMasterIdLst>
    <p:handoutMasterId r:id="rId42"/>
  </p:handoutMasterIdLst>
  <p:sldIdLst>
    <p:sldId id="4279" r:id="rId8"/>
    <p:sldId id="4404" r:id="rId9"/>
    <p:sldId id="4407" r:id="rId10"/>
    <p:sldId id="4457" r:id="rId11"/>
    <p:sldId id="4458" r:id="rId12"/>
    <p:sldId id="4459" r:id="rId13"/>
    <p:sldId id="4460" r:id="rId14"/>
    <p:sldId id="4461" r:id="rId15"/>
    <p:sldId id="4462" r:id="rId16"/>
    <p:sldId id="4411" r:id="rId17"/>
    <p:sldId id="4402" r:id="rId18"/>
    <p:sldId id="4413" r:id="rId19"/>
    <p:sldId id="4415" r:id="rId20"/>
    <p:sldId id="4417" r:id="rId21"/>
    <p:sldId id="4418" r:id="rId22"/>
    <p:sldId id="4420" r:id="rId23"/>
    <p:sldId id="4425" r:id="rId24"/>
    <p:sldId id="4428" r:id="rId25"/>
    <p:sldId id="4431" r:id="rId26"/>
    <p:sldId id="4450" r:id="rId27"/>
    <p:sldId id="4433" r:id="rId28"/>
    <p:sldId id="4455" r:id="rId29"/>
    <p:sldId id="4435" r:id="rId30"/>
    <p:sldId id="4437" r:id="rId31"/>
    <p:sldId id="4449" r:id="rId32"/>
    <p:sldId id="4439" r:id="rId33"/>
    <p:sldId id="4441" r:id="rId34"/>
    <p:sldId id="4446" r:id="rId35"/>
    <p:sldId id="4447" r:id="rId36"/>
    <p:sldId id="4448" r:id="rId37"/>
    <p:sldId id="4445" r:id="rId38"/>
    <p:sldId id="4422" r:id="rId39"/>
    <p:sldId id="4442" r:id="rId40"/>
  </p:sldIdLst>
  <p:sldSz cx="11522075" cy="6480175"/>
  <p:notesSz cx="6858000" cy="9144000"/>
  <p:embeddedFontLst>
    <p:embeddedFont>
      <p:font typeface="Helvetica Neue" panose="020B0604020202020204" charset="-52"/>
      <p:bold r:id="rId43"/>
    </p:embeddedFont>
    <p:embeddedFont>
      <p:font typeface="Beeline Sans V0.3 Black" panose="020B0604020202020204" charset="0"/>
      <p:bold r:id="rId44"/>
    </p:embeddedFont>
    <p:embeddedFont>
      <p:font typeface="Open Sans ExtraBold" panose="020B0604020202020204" charset="0"/>
      <p:bold r:id="rId45"/>
      <p:boldItalic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Beeline Sans" panose="020B0500040202020204" pitchFamily="34" charset="-52"/>
      <p:regular r:id="rId51"/>
      <p:bold r:id="rId52"/>
    </p:embeddedFont>
    <p:embeddedFont>
      <p:font typeface="Arial Black" panose="020B0A04020102020204" pitchFamily="34" charset="0"/>
      <p:bold r:id="rId53"/>
    </p:embeddedFont>
    <p:embeddedFont>
      <p:font typeface="Beeline Sans V0.3 Regular" panose="020B0604020202020204" charset="0"/>
      <p:regular r:id="rId54"/>
      <p:bold r:id="rId55"/>
    </p:embeddedFont>
  </p:embeddedFontLst>
  <p:custDataLst>
    <p:tags r:id="rId5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C58EC14-7CF7-4213-8EF4-46E802D85C70}">
          <p14:sldIdLst>
            <p14:sldId id="4279"/>
          </p14:sldIdLst>
        </p14:section>
        <p14:section name="Дополнительная информация" id="{2BB321EE-EABE-44E8-ACF6-E67A3EFB1510}">
          <p14:sldIdLst>
            <p14:sldId id="4404"/>
            <p14:sldId id="4407"/>
            <p14:sldId id="4457"/>
            <p14:sldId id="4458"/>
            <p14:sldId id="4459"/>
            <p14:sldId id="4460"/>
            <p14:sldId id="4461"/>
            <p14:sldId id="4462"/>
            <p14:sldId id="4411"/>
          </p14:sldIdLst>
        </p14:section>
        <p14:section name="Шаблон для заполнения" id="{CA13BFB2-E4DB-4357-89DF-05708A1BCE0D}">
          <p14:sldIdLst>
            <p14:sldId id="4402"/>
            <p14:sldId id="4413"/>
            <p14:sldId id="4415"/>
            <p14:sldId id="4417"/>
            <p14:sldId id="4418"/>
            <p14:sldId id="4420"/>
            <p14:sldId id="4425"/>
            <p14:sldId id="4428"/>
            <p14:sldId id="4431"/>
            <p14:sldId id="4450"/>
            <p14:sldId id="4433"/>
            <p14:sldId id="4455"/>
            <p14:sldId id="4435"/>
            <p14:sldId id="4437"/>
            <p14:sldId id="4449"/>
            <p14:sldId id="4439"/>
            <p14:sldId id="4441"/>
            <p14:sldId id="4446"/>
            <p14:sldId id="4447"/>
            <p14:sldId id="4448"/>
            <p14:sldId id="4445"/>
            <p14:sldId id="4422"/>
            <p14:sldId id="44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1" userDrawn="1">
          <p15:clr>
            <a:srgbClr val="A4A3A4"/>
          </p15:clr>
        </p15:guide>
        <p15:guide id="2" orient="horz" pos="3787" userDrawn="1">
          <p15:clr>
            <a:srgbClr val="A4A3A4"/>
          </p15:clr>
        </p15:guide>
        <p15:guide id="3" pos="46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ронин Вадим Анатольевич" initials="ПВА" lastIdx="4" clrIdx="0">
    <p:extLst>
      <p:ext uri="{19B8F6BF-5375-455C-9EA6-DF929625EA0E}">
        <p15:presenceInfo xmlns:p15="http://schemas.microsoft.com/office/powerpoint/2012/main" userId="S-1-5-21-1034887424-1308305834-632688529-1727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300"/>
    <a:srgbClr val="F59B19"/>
    <a:srgbClr val="1EBEAA"/>
    <a:srgbClr val="F3F3F3"/>
    <a:srgbClr val="6D6D6D"/>
    <a:srgbClr val="92D050"/>
    <a:srgbClr val="B4DF87"/>
    <a:srgbClr val="0032FA"/>
    <a:srgbClr val="00C8F0"/>
    <a:srgbClr val="E50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2" autoAdjust="0"/>
    <p:restoredTop sz="93717" autoAdjust="0"/>
  </p:normalViewPr>
  <p:slideViewPr>
    <p:cSldViewPr snapToGrid="0" snapToObjects="1">
      <p:cViewPr varScale="1">
        <p:scale>
          <a:sx n="68" d="100"/>
          <a:sy n="68" d="100"/>
        </p:scale>
        <p:origin x="540" y="56"/>
      </p:cViewPr>
      <p:guideLst>
        <p:guide orient="horz" pos="771"/>
        <p:guide orient="horz" pos="3787"/>
        <p:guide pos="46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68"/>
    </p:cViewPr>
  </p:sorterViewPr>
  <p:notesViewPr>
    <p:cSldViewPr snapToGrid="0" snapToObjects="1" showGuides="1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gs" Target="tags/tag1.xml"/><Relationship Id="rId8" Type="http://schemas.openxmlformats.org/officeDocument/2006/relationships/slide" Target="slides/slide1.xml"/><Relationship Id="rId51" Type="http://schemas.openxmlformats.org/officeDocument/2006/relationships/font" Target="fonts/font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font" Target="fonts/font4.fntdata"/><Relationship Id="rId59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font" Target="fonts/font7.fntdata"/><Relationship Id="rId57" Type="http://schemas.openxmlformats.org/officeDocument/2006/relationships/commentAuthors" Target="commentAuthor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3D633E-E06E-4AE4-AF2B-8F4E3EBC60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45BAF-4D81-4B56-9849-EBEFED93F4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68E04-49E3-4A44-B050-955DB03B8849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ABD4E-7DAA-452C-8876-A6FD15FBBB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D148-7325-456E-B206-4D021E8E4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94602-C6AE-4B73-B748-62ABF558E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EC30-7318-4140-AB7E-7A453A13E346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DBB27-19F2-BA47-9626-C091B64D84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19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40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558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537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88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80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54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44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813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469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022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55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482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250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195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145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277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32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0669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152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04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058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116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642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210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656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892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4513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078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480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7805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643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150673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39BC1EF-BDDC-4CA5-BA0E-A682A518AD33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3E068-9F85-DF45-908E-1D900384E1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E5E1A-065B-BF4C-877F-63197AEC21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FEB7EF8-C4F7-9342-AA26-FADE6D20E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906311"/>
            <a:ext cx="5761037" cy="576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BF7E606F-094E-D049-BDAC-6D6CB07043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832251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2D3A8B9-4EA7-8442-9EE1-8B6242FDD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360363"/>
            <a:ext cx="8640762" cy="1471888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100"/>
              </a:lnSpc>
              <a:defRPr sz="51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DBC5C4-F410-634F-9B96-7EA66809C2DD}"/>
              </a:ext>
            </a:extLst>
          </p:cNvPr>
          <p:cNvGrpSpPr/>
          <p:nvPr userDrawn="1"/>
        </p:nvGrpSpPr>
        <p:grpSpPr>
          <a:xfrm>
            <a:off x="3595410" y="4068403"/>
            <a:ext cx="7197347" cy="1853841"/>
            <a:chOff x="285404" y="226734"/>
            <a:chExt cx="1790694" cy="461234"/>
          </a:xfrm>
        </p:grpSpPr>
        <p:grpSp>
          <p:nvGrpSpPr>
            <p:cNvPr id="32" name="Graphic 6">
              <a:extLst>
                <a:ext uri="{FF2B5EF4-FFF2-40B4-BE49-F238E27FC236}">
                  <a16:creationId xmlns:a16="http://schemas.microsoft.com/office/drawing/2014/main" id="{8B9E6DBA-60EB-504E-B318-DD3B348205FB}"/>
                </a:ext>
              </a:extLst>
            </p:cNvPr>
            <p:cNvGrpSpPr/>
            <p:nvPr/>
          </p:nvGrpSpPr>
          <p:grpSpPr>
            <a:xfrm>
              <a:off x="347551" y="287518"/>
              <a:ext cx="1728547" cy="338305"/>
              <a:chOff x="4586236" y="536515"/>
              <a:chExt cx="5005996" cy="979755"/>
            </a:xfrm>
          </p:grpSpPr>
          <p:grpSp>
            <p:nvGrpSpPr>
              <p:cNvPr id="35" name="Graphic 6">
                <a:extLst>
                  <a:ext uri="{FF2B5EF4-FFF2-40B4-BE49-F238E27FC236}">
                    <a16:creationId xmlns:a16="http://schemas.microsoft.com/office/drawing/2014/main" id="{11DD22BD-63FB-AB4E-8599-CB4FA3B512BC}"/>
                  </a:ext>
                </a:extLst>
              </p:cNvPr>
              <p:cNvGrpSpPr/>
              <p:nvPr/>
            </p:nvGrpSpPr>
            <p:grpSpPr>
              <a:xfrm>
                <a:off x="5858663" y="539363"/>
                <a:ext cx="3733569" cy="884382"/>
                <a:chOff x="5858663" y="539363"/>
                <a:chExt cx="3733569" cy="884382"/>
              </a:xfrm>
              <a:solidFill>
                <a:srgbClr val="000000"/>
              </a:solidFill>
            </p:grpSpPr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E49BF66C-618B-234E-AED0-7F1D62CF7B2C}"/>
                    </a:ext>
                  </a:extLst>
                </p:cNvPr>
                <p:cNvSpPr/>
                <p:nvPr/>
              </p:nvSpPr>
              <p:spPr>
                <a:xfrm>
                  <a:off x="8518665" y="593100"/>
                  <a:ext cx="368031" cy="166148"/>
                </a:xfrm>
                <a:custGeom>
                  <a:avLst/>
                  <a:gdLst>
                    <a:gd name="connsiteX0" fmla="*/ 184777 w 368031"/>
                    <a:gd name="connsiteY0" fmla="*/ 166148 h 166148"/>
                    <a:gd name="connsiteX1" fmla="*/ 368032 w 368031"/>
                    <a:gd name="connsiteY1" fmla="*/ 0 h 166148"/>
                    <a:gd name="connsiteX2" fmla="*/ 270556 w 368031"/>
                    <a:gd name="connsiteY2" fmla="*/ 0 h 166148"/>
                    <a:gd name="connsiteX3" fmla="*/ 184872 w 368031"/>
                    <a:gd name="connsiteY3" fmla="*/ 60383 h 166148"/>
                    <a:gd name="connsiteX4" fmla="*/ 97476 w 368031"/>
                    <a:gd name="connsiteY4" fmla="*/ 0 h 166148"/>
                    <a:gd name="connsiteX5" fmla="*/ 0 w 368031"/>
                    <a:gd name="connsiteY5" fmla="*/ 0 h 166148"/>
                    <a:gd name="connsiteX6" fmla="*/ 184777 w 368031"/>
                    <a:gd name="connsiteY6" fmla="*/ 166148 h 16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8031" h="166148">
                      <a:moveTo>
                        <a:pt x="184777" y="166148"/>
                      </a:moveTo>
                      <a:cubicBezTo>
                        <a:pt x="283964" y="166148"/>
                        <a:pt x="354527" y="114120"/>
                        <a:pt x="368032" y="0"/>
                      </a:cubicBezTo>
                      <a:lnTo>
                        <a:pt x="270556" y="0"/>
                      </a:lnTo>
                      <a:cubicBezTo>
                        <a:pt x="260475" y="40255"/>
                        <a:pt x="236891" y="60383"/>
                        <a:pt x="184872" y="60383"/>
                      </a:cubicBezTo>
                      <a:cubicBezTo>
                        <a:pt x="132758" y="60383"/>
                        <a:pt x="105845" y="40255"/>
                        <a:pt x="97476" y="0"/>
                      </a:cubicBezTo>
                      <a:lnTo>
                        <a:pt x="0" y="0"/>
                      </a:lnTo>
                      <a:cubicBezTo>
                        <a:pt x="13314" y="114120"/>
                        <a:pt x="85589" y="166148"/>
                        <a:pt x="184777" y="1661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871B9C1A-41E8-EA42-AD2A-73273DB453E5}"/>
                    </a:ext>
                  </a:extLst>
                </p:cNvPr>
                <p:cNvSpPr/>
                <p:nvPr/>
              </p:nvSpPr>
              <p:spPr>
                <a:xfrm>
                  <a:off x="6579415" y="811276"/>
                  <a:ext cx="497555" cy="600791"/>
                </a:xfrm>
                <a:custGeom>
                  <a:avLst/>
                  <a:gdLst>
                    <a:gd name="connsiteX0" fmla="*/ 122677 w 497555"/>
                    <a:gd name="connsiteY0" fmla="*/ 412142 h 600791"/>
                    <a:gd name="connsiteX1" fmla="*/ 122677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8 w 497555"/>
                    <a:gd name="connsiteY5" fmla="*/ 181719 h 600791"/>
                    <a:gd name="connsiteX6" fmla="*/ 374878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677" y="412142"/>
                      </a:move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8" y="181719"/>
                      </a:lnTo>
                      <a:lnTo>
                        <a:pt x="374878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9EEC8F5E-9AA9-234B-868A-891F97719839}"/>
                    </a:ext>
                  </a:extLst>
                </p:cNvPr>
                <p:cNvSpPr/>
                <p:nvPr/>
              </p:nvSpPr>
              <p:spPr>
                <a:xfrm>
                  <a:off x="5858663" y="539363"/>
                  <a:ext cx="598455" cy="884382"/>
                </a:xfrm>
                <a:custGeom>
                  <a:avLst/>
                  <a:gdLst>
                    <a:gd name="connsiteX0" fmla="*/ 334557 w 598455"/>
                    <a:gd name="connsiteY0" fmla="*/ 276945 h 884382"/>
                    <a:gd name="connsiteX1" fmla="*/ 111551 w 598455"/>
                    <a:gd name="connsiteY1" fmla="*/ 406066 h 884382"/>
                    <a:gd name="connsiteX2" fmla="*/ 302604 w 598455"/>
                    <a:gd name="connsiteY2" fmla="*/ 167857 h 884382"/>
                    <a:gd name="connsiteX3" fmla="*/ 548053 w 598455"/>
                    <a:gd name="connsiteY3" fmla="*/ 134248 h 884382"/>
                    <a:gd name="connsiteX4" fmla="*/ 537973 w 598455"/>
                    <a:gd name="connsiteY4" fmla="*/ 0 h 884382"/>
                    <a:gd name="connsiteX5" fmla="*/ 282443 w 598455"/>
                    <a:gd name="connsiteY5" fmla="*/ 35223 h 884382"/>
                    <a:gd name="connsiteX6" fmla="*/ 0 w 598455"/>
                    <a:gd name="connsiteY6" fmla="*/ 501767 h 884382"/>
                    <a:gd name="connsiteX7" fmla="*/ 302604 w 598455"/>
                    <a:gd name="connsiteY7" fmla="*/ 884382 h 884382"/>
                    <a:gd name="connsiteX8" fmla="*/ 598455 w 598455"/>
                    <a:gd name="connsiteY8" fmla="*/ 563859 h 884382"/>
                    <a:gd name="connsiteX9" fmla="*/ 334557 w 598455"/>
                    <a:gd name="connsiteY9" fmla="*/ 276945 h 884382"/>
                    <a:gd name="connsiteX10" fmla="*/ 302604 w 598455"/>
                    <a:gd name="connsiteY10" fmla="*/ 751844 h 884382"/>
                    <a:gd name="connsiteX11" fmla="*/ 126101 w 598455"/>
                    <a:gd name="connsiteY11" fmla="*/ 550472 h 884382"/>
                    <a:gd name="connsiteX12" fmla="*/ 126101 w 598455"/>
                    <a:gd name="connsiteY12" fmla="*/ 488380 h 884382"/>
                    <a:gd name="connsiteX13" fmla="*/ 302604 w 598455"/>
                    <a:gd name="connsiteY13" fmla="*/ 404452 h 884382"/>
                    <a:gd name="connsiteX14" fmla="*/ 472355 w 598455"/>
                    <a:gd name="connsiteY14" fmla="*/ 563859 h 884382"/>
                    <a:gd name="connsiteX15" fmla="*/ 302604 w 598455"/>
                    <a:gd name="connsiteY15" fmla="*/ 751844 h 88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8455" h="884382">
                      <a:moveTo>
                        <a:pt x="334557" y="276945"/>
                      </a:moveTo>
                      <a:cubicBezTo>
                        <a:pt x="237366" y="276945"/>
                        <a:pt x="154440" y="322137"/>
                        <a:pt x="111551" y="406066"/>
                      </a:cubicBezTo>
                      <a:cubicBezTo>
                        <a:pt x="117637" y="269919"/>
                        <a:pt x="144740" y="188934"/>
                        <a:pt x="302604" y="167857"/>
                      </a:cubicBezTo>
                      <a:lnTo>
                        <a:pt x="548053" y="134248"/>
                      </a:lnTo>
                      <a:lnTo>
                        <a:pt x="537973" y="0"/>
                      </a:lnTo>
                      <a:lnTo>
                        <a:pt x="282443" y="35223"/>
                      </a:lnTo>
                      <a:cubicBezTo>
                        <a:pt x="62194" y="65415"/>
                        <a:pt x="0" y="234981"/>
                        <a:pt x="0" y="501767"/>
                      </a:cubicBezTo>
                      <a:cubicBezTo>
                        <a:pt x="0" y="735039"/>
                        <a:pt x="105940" y="884382"/>
                        <a:pt x="302604" y="884382"/>
                      </a:cubicBezTo>
                      <a:cubicBezTo>
                        <a:pt x="494227" y="884382"/>
                        <a:pt x="598455" y="736653"/>
                        <a:pt x="598455" y="563859"/>
                      </a:cubicBezTo>
                      <a:cubicBezTo>
                        <a:pt x="598455" y="391065"/>
                        <a:pt x="482530" y="276945"/>
                        <a:pt x="334557" y="276945"/>
                      </a:cubicBezTo>
                      <a:close/>
                      <a:moveTo>
                        <a:pt x="302604" y="751844"/>
                      </a:moveTo>
                      <a:cubicBezTo>
                        <a:pt x="191624" y="751844"/>
                        <a:pt x="126101" y="671333"/>
                        <a:pt x="126101" y="550472"/>
                      </a:cubicBezTo>
                      <a:lnTo>
                        <a:pt x="126101" y="488380"/>
                      </a:lnTo>
                      <a:cubicBezTo>
                        <a:pt x="149590" y="441384"/>
                        <a:pt x="211880" y="404452"/>
                        <a:pt x="302604" y="404452"/>
                      </a:cubicBezTo>
                      <a:cubicBezTo>
                        <a:pt x="398463" y="404452"/>
                        <a:pt x="472355" y="449739"/>
                        <a:pt x="472355" y="563859"/>
                      </a:cubicBezTo>
                      <a:cubicBezTo>
                        <a:pt x="472355" y="677979"/>
                        <a:pt x="413584" y="751844"/>
                        <a:pt x="302604" y="7518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A3A37522-2D59-6B44-99AC-85967B9A613D}"/>
                    </a:ext>
                  </a:extLst>
                </p:cNvPr>
                <p:cNvSpPr/>
                <p:nvPr/>
              </p:nvSpPr>
              <p:spPr>
                <a:xfrm>
                  <a:off x="9108086" y="811276"/>
                  <a:ext cx="484146" cy="600791"/>
                </a:xfrm>
                <a:custGeom>
                  <a:avLst/>
                  <a:gdLst>
                    <a:gd name="connsiteX0" fmla="*/ 361375 w 484146"/>
                    <a:gd name="connsiteY0" fmla="*/ 0 h 600791"/>
                    <a:gd name="connsiteX1" fmla="*/ 361375 w 484146"/>
                    <a:gd name="connsiteY1" fmla="*/ 224822 h 600791"/>
                    <a:gd name="connsiteX2" fmla="*/ 122677 w 484146"/>
                    <a:gd name="connsiteY2" fmla="*/ 224822 h 600791"/>
                    <a:gd name="connsiteX3" fmla="*/ 122677 w 484146"/>
                    <a:gd name="connsiteY3" fmla="*/ 0 h 600791"/>
                    <a:gd name="connsiteX4" fmla="*/ 0 w 484146"/>
                    <a:gd name="connsiteY4" fmla="*/ 0 h 600791"/>
                    <a:gd name="connsiteX5" fmla="*/ 0 w 484146"/>
                    <a:gd name="connsiteY5" fmla="*/ 600791 h 600791"/>
                    <a:gd name="connsiteX6" fmla="*/ 122677 w 484146"/>
                    <a:gd name="connsiteY6" fmla="*/ 600791 h 600791"/>
                    <a:gd name="connsiteX7" fmla="*/ 122677 w 484146"/>
                    <a:gd name="connsiteY7" fmla="*/ 349006 h 600791"/>
                    <a:gd name="connsiteX8" fmla="*/ 361375 w 484146"/>
                    <a:gd name="connsiteY8" fmla="*/ 349006 h 600791"/>
                    <a:gd name="connsiteX9" fmla="*/ 361375 w 484146"/>
                    <a:gd name="connsiteY9" fmla="*/ 600791 h 600791"/>
                    <a:gd name="connsiteX10" fmla="*/ 484147 w 484146"/>
                    <a:gd name="connsiteY10" fmla="*/ 600791 h 600791"/>
                    <a:gd name="connsiteX11" fmla="*/ 484147 w 484146"/>
                    <a:gd name="connsiteY11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46" h="600791">
                      <a:moveTo>
                        <a:pt x="361375" y="0"/>
                      </a:moveTo>
                      <a:lnTo>
                        <a:pt x="361375" y="224822"/>
                      </a:lnTo>
                      <a:lnTo>
                        <a:pt x="122677" y="224822"/>
                      </a:ln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2677" y="600791"/>
                      </a:lnTo>
                      <a:lnTo>
                        <a:pt x="122677" y="349006"/>
                      </a:lnTo>
                      <a:lnTo>
                        <a:pt x="361375" y="349006"/>
                      </a:lnTo>
                      <a:lnTo>
                        <a:pt x="361375" y="600791"/>
                      </a:lnTo>
                      <a:lnTo>
                        <a:pt x="484147" y="600791"/>
                      </a:lnTo>
                      <a:lnTo>
                        <a:pt x="4841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9339D256-6505-5F44-B792-15DF60BC35B9}"/>
                    </a:ext>
                  </a:extLst>
                </p:cNvPr>
                <p:cNvSpPr/>
                <p:nvPr/>
              </p:nvSpPr>
              <p:spPr>
                <a:xfrm>
                  <a:off x="8456280" y="811276"/>
                  <a:ext cx="497555" cy="600791"/>
                </a:xfrm>
                <a:custGeom>
                  <a:avLst/>
                  <a:gdLst>
                    <a:gd name="connsiteX0" fmla="*/ 122772 w 497555"/>
                    <a:gd name="connsiteY0" fmla="*/ 412142 h 600791"/>
                    <a:gd name="connsiteX1" fmla="*/ 122772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9 w 497555"/>
                    <a:gd name="connsiteY5" fmla="*/ 181719 h 600791"/>
                    <a:gd name="connsiteX6" fmla="*/ 374879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772" y="412142"/>
                      </a:moveTo>
                      <a:lnTo>
                        <a:pt x="122772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9" y="181719"/>
                      </a:lnTo>
                      <a:lnTo>
                        <a:pt x="374879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2C508792-969C-3D4E-B815-BCDBE2EACD3F}"/>
                    </a:ext>
                  </a:extLst>
                </p:cNvPr>
                <p:cNvSpPr/>
                <p:nvPr/>
              </p:nvSpPr>
              <p:spPr>
                <a:xfrm>
                  <a:off x="7183386" y="811276"/>
                  <a:ext cx="517811" cy="609241"/>
                </a:xfrm>
                <a:custGeom>
                  <a:avLst/>
                  <a:gdLst>
                    <a:gd name="connsiteX0" fmla="*/ 114309 w 517811"/>
                    <a:gd name="connsiteY0" fmla="*/ 367520 h 609241"/>
                    <a:gd name="connsiteX1" fmla="*/ 45362 w 517811"/>
                    <a:gd name="connsiteY1" fmla="*/ 463221 h 609241"/>
                    <a:gd name="connsiteX2" fmla="*/ 0 w 517811"/>
                    <a:gd name="connsiteY2" fmla="*/ 458189 h 609241"/>
                    <a:gd name="connsiteX3" fmla="*/ 0 w 517811"/>
                    <a:gd name="connsiteY3" fmla="*/ 597468 h 609241"/>
                    <a:gd name="connsiteX4" fmla="*/ 60483 w 517811"/>
                    <a:gd name="connsiteY4" fmla="*/ 609241 h 609241"/>
                    <a:gd name="connsiteX5" fmla="*/ 191624 w 517811"/>
                    <a:gd name="connsiteY5" fmla="*/ 515249 h 609241"/>
                    <a:gd name="connsiteX6" fmla="*/ 220248 w 517811"/>
                    <a:gd name="connsiteY6" fmla="*/ 369228 h 609241"/>
                    <a:gd name="connsiteX7" fmla="*/ 232041 w 517811"/>
                    <a:gd name="connsiteY7" fmla="*/ 127602 h 609241"/>
                    <a:gd name="connsiteX8" fmla="*/ 395135 w 517811"/>
                    <a:gd name="connsiteY8" fmla="*/ 127602 h 609241"/>
                    <a:gd name="connsiteX9" fmla="*/ 395135 w 517811"/>
                    <a:gd name="connsiteY9" fmla="*/ 600886 h 609241"/>
                    <a:gd name="connsiteX10" fmla="*/ 517812 w 517811"/>
                    <a:gd name="connsiteY10" fmla="*/ 600886 h 609241"/>
                    <a:gd name="connsiteX11" fmla="*/ 517812 w 517811"/>
                    <a:gd name="connsiteY11" fmla="*/ 0 h 609241"/>
                    <a:gd name="connsiteX12" fmla="*/ 129524 w 517811"/>
                    <a:gd name="connsiteY12" fmla="*/ 0 h 609241"/>
                    <a:gd name="connsiteX13" fmla="*/ 114309 w 517811"/>
                    <a:gd name="connsiteY13" fmla="*/ 367520 h 60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7811" h="609241">
                      <a:moveTo>
                        <a:pt x="114309" y="367520"/>
                      </a:moveTo>
                      <a:cubicBezTo>
                        <a:pt x="100900" y="434643"/>
                        <a:pt x="82355" y="463221"/>
                        <a:pt x="45362" y="463221"/>
                      </a:cubicBezTo>
                      <a:cubicBezTo>
                        <a:pt x="25201" y="463221"/>
                        <a:pt x="10080" y="461512"/>
                        <a:pt x="0" y="458189"/>
                      </a:cubicBezTo>
                      <a:lnTo>
                        <a:pt x="0" y="597468"/>
                      </a:lnTo>
                      <a:cubicBezTo>
                        <a:pt x="15121" y="604209"/>
                        <a:pt x="28625" y="609241"/>
                        <a:pt x="60483" y="609241"/>
                      </a:cubicBezTo>
                      <a:cubicBezTo>
                        <a:pt x="124389" y="609241"/>
                        <a:pt x="169751" y="572309"/>
                        <a:pt x="191624" y="515249"/>
                      </a:cubicBezTo>
                      <a:cubicBezTo>
                        <a:pt x="205032" y="480026"/>
                        <a:pt x="213496" y="431320"/>
                        <a:pt x="220248" y="369228"/>
                      </a:cubicBezTo>
                      <a:cubicBezTo>
                        <a:pt x="227001" y="307137"/>
                        <a:pt x="232041" y="224917"/>
                        <a:pt x="232041" y="127602"/>
                      </a:cubicBezTo>
                      <a:lnTo>
                        <a:pt x="395135" y="127602"/>
                      </a:lnTo>
                      <a:lnTo>
                        <a:pt x="395135" y="600886"/>
                      </a:lnTo>
                      <a:lnTo>
                        <a:pt x="517812" y="600886"/>
                      </a:lnTo>
                      <a:lnTo>
                        <a:pt x="517812" y="0"/>
                      </a:lnTo>
                      <a:lnTo>
                        <a:pt x="129524" y="0"/>
                      </a:lnTo>
                      <a:cubicBezTo>
                        <a:pt x="129524" y="181244"/>
                        <a:pt x="124484" y="300396"/>
                        <a:pt x="114309" y="3675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CE644AAF-E9EA-674C-B155-CD635C9ABBBB}"/>
                    </a:ext>
                  </a:extLst>
                </p:cNvPr>
                <p:cNvSpPr/>
                <p:nvPr/>
              </p:nvSpPr>
              <p:spPr>
                <a:xfrm>
                  <a:off x="7829771" y="797794"/>
                  <a:ext cx="514483" cy="624336"/>
                </a:xfrm>
                <a:custGeom>
                  <a:avLst/>
                  <a:gdLst>
                    <a:gd name="connsiteX0" fmla="*/ 450482 w 514483"/>
                    <a:gd name="connsiteY0" fmla="*/ 451448 h 624336"/>
                    <a:gd name="connsiteX1" fmla="*/ 452194 w 514483"/>
                    <a:gd name="connsiteY1" fmla="*/ 213144 h 624336"/>
                    <a:gd name="connsiteX2" fmla="*/ 226905 w 514483"/>
                    <a:gd name="connsiteY2" fmla="*/ 0 h 624336"/>
                    <a:gd name="connsiteX3" fmla="*/ 0 w 514483"/>
                    <a:gd name="connsiteY3" fmla="*/ 201371 h 624336"/>
                    <a:gd name="connsiteX4" fmla="*/ 117637 w 514483"/>
                    <a:gd name="connsiteY4" fmla="*/ 201371 h 624336"/>
                    <a:gd name="connsiteX5" fmla="*/ 226905 w 514483"/>
                    <a:gd name="connsiteY5" fmla="*/ 127507 h 624336"/>
                    <a:gd name="connsiteX6" fmla="*/ 333701 w 514483"/>
                    <a:gd name="connsiteY6" fmla="*/ 207827 h 624336"/>
                    <a:gd name="connsiteX7" fmla="*/ 183255 w 514483"/>
                    <a:gd name="connsiteY7" fmla="*/ 268495 h 624336"/>
                    <a:gd name="connsiteX8" fmla="*/ 3424 w 514483"/>
                    <a:gd name="connsiteY8" fmla="*/ 456480 h 624336"/>
                    <a:gd name="connsiteX9" fmla="*/ 174886 w 514483"/>
                    <a:gd name="connsiteY9" fmla="*/ 624337 h 624336"/>
                    <a:gd name="connsiteX10" fmla="*/ 343686 w 514483"/>
                    <a:gd name="connsiteY10" fmla="*/ 514964 h 624336"/>
                    <a:gd name="connsiteX11" fmla="*/ 480818 w 514483"/>
                    <a:gd name="connsiteY11" fmla="*/ 619305 h 624336"/>
                    <a:gd name="connsiteX12" fmla="*/ 514483 w 514483"/>
                    <a:gd name="connsiteY12" fmla="*/ 619305 h 624336"/>
                    <a:gd name="connsiteX13" fmla="*/ 514483 w 514483"/>
                    <a:gd name="connsiteY13" fmla="*/ 503476 h 624336"/>
                    <a:gd name="connsiteX14" fmla="*/ 504403 w 514483"/>
                    <a:gd name="connsiteY14" fmla="*/ 503476 h 624336"/>
                    <a:gd name="connsiteX15" fmla="*/ 450482 w 514483"/>
                    <a:gd name="connsiteY15" fmla="*/ 451448 h 624336"/>
                    <a:gd name="connsiteX16" fmla="*/ 220153 w 514483"/>
                    <a:gd name="connsiteY16" fmla="*/ 498444 h 624336"/>
                    <a:gd name="connsiteX17" fmla="*/ 120965 w 514483"/>
                    <a:gd name="connsiteY17" fmla="*/ 431320 h 624336"/>
                    <a:gd name="connsiteX18" fmla="*/ 216825 w 514483"/>
                    <a:gd name="connsiteY18" fmla="*/ 340651 h 624336"/>
                    <a:gd name="connsiteX19" fmla="*/ 333986 w 514483"/>
                    <a:gd name="connsiteY19" fmla="*/ 292041 h 624336"/>
                    <a:gd name="connsiteX20" fmla="*/ 332750 w 514483"/>
                    <a:gd name="connsiteY20" fmla="*/ 454771 h 624336"/>
                    <a:gd name="connsiteX21" fmla="*/ 220153 w 514483"/>
                    <a:gd name="connsiteY21" fmla="*/ 498444 h 62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483" h="624336">
                      <a:moveTo>
                        <a:pt x="450482" y="451448"/>
                      </a:moveTo>
                      <a:lnTo>
                        <a:pt x="452194" y="213144"/>
                      </a:lnTo>
                      <a:cubicBezTo>
                        <a:pt x="453906" y="62092"/>
                        <a:pt x="361375" y="0"/>
                        <a:pt x="226905" y="0"/>
                      </a:cubicBezTo>
                      <a:cubicBezTo>
                        <a:pt x="115925" y="0"/>
                        <a:pt x="15121" y="60383"/>
                        <a:pt x="0" y="201371"/>
                      </a:cubicBezTo>
                      <a:lnTo>
                        <a:pt x="117637" y="201371"/>
                      </a:lnTo>
                      <a:cubicBezTo>
                        <a:pt x="124389" y="146020"/>
                        <a:pt x="168039" y="127507"/>
                        <a:pt x="226905" y="127507"/>
                      </a:cubicBezTo>
                      <a:cubicBezTo>
                        <a:pt x="287198" y="127507"/>
                        <a:pt x="327615" y="146020"/>
                        <a:pt x="333701" y="207827"/>
                      </a:cubicBezTo>
                      <a:lnTo>
                        <a:pt x="183255" y="268495"/>
                      </a:lnTo>
                      <a:cubicBezTo>
                        <a:pt x="80739" y="310460"/>
                        <a:pt x="3424" y="357456"/>
                        <a:pt x="3424" y="456480"/>
                      </a:cubicBezTo>
                      <a:cubicBezTo>
                        <a:pt x="3424" y="558827"/>
                        <a:pt x="60578" y="624337"/>
                        <a:pt x="174886" y="624337"/>
                      </a:cubicBezTo>
                      <a:cubicBezTo>
                        <a:pt x="253818" y="624337"/>
                        <a:pt x="303745" y="587310"/>
                        <a:pt x="343686" y="514964"/>
                      </a:cubicBezTo>
                      <a:cubicBezTo>
                        <a:pt x="349678" y="587310"/>
                        <a:pt x="397702" y="619305"/>
                        <a:pt x="480818" y="619305"/>
                      </a:cubicBezTo>
                      <a:lnTo>
                        <a:pt x="514483" y="619305"/>
                      </a:lnTo>
                      <a:lnTo>
                        <a:pt x="514483" y="503476"/>
                      </a:lnTo>
                      <a:lnTo>
                        <a:pt x="504403" y="503476"/>
                      </a:lnTo>
                      <a:cubicBezTo>
                        <a:pt x="465603" y="503476"/>
                        <a:pt x="450482" y="488380"/>
                        <a:pt x="450482" y="451448"/>
                      </a:cubicBezTo>
                      <a:close/>
                      <a:moveTo>
                        <a:pt x="220153" y="498444"/>
                      </a:moveTo>
                      <a:cubicBezTo>
                        <a:pt x="162999" y="498444"/>
                        <a:pt x="120965" y="483348"/>
                        <a:pt x="120965" y="431320"/>
                      </a:cubicBezTo>
                      <a:cubicBezTo>
                        <a:pt x="120965" y="386033"/>
                        <a:pt x="156247" y="365905"/>
                        <a:pt x="216825" y="340651"/>
                      </a:cubicBezTo>
                      <a:lnTo>
                        <a:pt x="333986" y="292041"/>
                      </a:lnTo>
                      <a:lnTo>
                        <a:pt x="332750" y="454771"/>
                      </a:lnTo>
                      <a:cubicBezTo>
                        <a:pt x="312589" y="480025"/>
                        <a:pt x="272267" y="498444"/>
                        <a:pt x="220153" y="4984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3FEBAAF2-2B34-6E43-B79D-377160E5BBE8}"/>
                  </a:ext>
                </a:extLst>
              </p:cNvPr>
              <p:cNvGrpSpPr/>
              <p:nvPr/>
            </p:nvGrpSpPr>
            <p:grpSpPr>
              <a:xfrm>
                <a:off x="4586236" y="536515"/>
                <a:ext cx="981996" cy="979755"/>
                <a:chOff x="4586236" y="536515"/>
                <a:chExt cx="981996" cy="979755"/>
              </a:xfrm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7209F7E8-C1F4-D240-ACA5-3BD2A442A110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BA245C76-892C-BD45-A0A7-4F552159CD36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70EE963-8756-D741-9B3C-6722BA51B0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81D824C-37B6-D64B-8F1E-3B2D42C3D132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29954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EB501CD-24E0-1342-8879-F14867856C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1469" y="5373753"/>
            <a:ext cx="5761037" cy="7460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8F821E3-850E-BA40-9ED9-E01E897483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632907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</a:t>
            </a:r>
            <a:r>
              <a:rPr lang="ru-RU" dirty="0"/>
              <a:t>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38317A0-674A-3C4B-9284-E2C6DAF88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503271"/>
            <a:ext cx="10369550" cy="1098776"/>
          </a:xfrm>
        </p:spPr>
        <p:txBody>
          <a:bodyPr bIns="0" anchor="t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</a:t>
            </a:r>
            <a:r>
              <a:rPr lang="en-US" dirty="0"/>
              <a:t>1pt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CBCB1-2700-4645-9028-F780557FD101}"/>
              </a:ext>
            </a:extLst>
          </p:cNvPr>
          <p:cNvSpPr/>
          <p:nvPr userDrawn="1"/>
        </p:nvSpPr>
        <p:spPr>
          <a:xfrm>
            <a:off x="10801350" y="252413"/>
            <a:ext cx="443593" cy="433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DF7DF0-7BE4-B64F-B1D3-2421717162FC}"/>
              </a:ext>
            </a:extLst>
          </p:cNvPr>
          <p:cNvGrpSpPr/>
          <p:nvPr userDrawn="1"/>
        </p:nvGrpSpPr>
        <p:grpSpPr>
          <a:xfrm>
            <a:off x="2042941" y="2385625"/>
            <a:ext cx="7197347" cy="1853841"/>
            <a:chOff x="285404" y="226734"/>
            <a:chExt cx="1790694" cy="461234"/>
          </a:xfrm>
        </p:grpSpPr>
        <p:grpSp>
          <p:nvGrpSpPr>
            <p:cNvPr id="33" name="Graphic 6">
              <a:extLst>
                <a:ext uri="{FF2B5EF4-FFF2-40B4-BE49-F238E27FC236}">
                  <a16:creationId xmlns:a16="http://schemas.microsoft.com/office/drawing/2014/main" id="{189CAD52-DBDF-524E-B04B-8B81E18D1ACB}"/>
                </a:ext>
              </a:extLst>
            </p:cNvPr>
            <p:cNvGrpSpPr/>
            <p:nvPr/>
          </p:nvGrpSpPr>
          <p:grpSpPr>
            <a:xfrm>
              <a:off x="347551" y="287518"/>
              <a:ext cx="1728547" cy="338305"/>
              <a:chOff x="4586236" y="536515"/>
              <a:chExt cx="5005996" cy="979755"/>
            </a:xfrm>
          </p:grpSpPr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98569FFA-D3CA-9D4C-A09D-C3D912D43E88}"/>
                  </a:ext>
                </a:extLst>
              </p:cNvPr>
              <p:cNvGrpSpPr/>
              <p:nvPr/>
            </p:nvGrpSpPr>
            <p:grpSpPr>
              <a:xfrm>
                <a:off x="5858663" y="539363"/>
                <a:ext cx="3733569" cy="884382"/>
                <a:chOff x="5858663" y="539363"/>
                <a:chExt cx="3733569" cy="884382"/>
              </a:xfrm>
              <a:solidFill>
                <a:srgbClr val="000000"/>
              </a:solidFill>
            </p:grpSpPr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BD46BE67-2F34-FD40-99C3-E16BEB1189C2}"/>
                    </a:ext>
                  </a:extLst>
                </p:cNvPr>
                <p:cNvSpPr/>
                <p:nvPr/>
              </p:nvSpPr>
              <p:spPr>
                <a:xfrm>
                  <a:off x="8518665" y="593100"/>
                  <a:ext cx="368031" cy="166148"/>
                </a:xfrm>
                <a:custGeom>
                  <a:avLst/>
                  <a:gdLst>
                    <a:gd name="connsiteX0" fmla="*/ 184777 w 368031"/>
                    <a:gd name="connsiteY0" fmla="*/ 166148 h 166148"/>
                    <a:gd name="connsiteX1" fmla="*/ 368032 w 368031"/>
                    <a:gd name="connsiteY1" fmla="*/ 0 h 166148"/>
                    <a:gd name="connsiteX2" fmla="*/ 270556 w 368031"/>
                    <a:gd name="connsiteY2" fmla="*/ 0 h 166148"/>
                    <a:gd name="connsiteX3" fmla="*/ 184872 w 368031"/>
                    <a:gd name="connsiteY3" fmla="*/ 60383 h 166148"/>
                    <a:gd name="connsiteX4" fmla="*/ 97476 w 368031"/>
                    <a:gd name="connsiteY4" fmla="*/ 0 h 166148"/>
                    <a:gd name="connsiteX5" fmla="*/ 0 w 368031"/>
                    <a:gd name="connsiteY5" fmla="*/ 0 h 166148"/>
                    <a:gd name="connsiteX6" fmla="*/ 184777 w 368031"/>
                    <a:gd name="connsiteY6" fmla="*/ 166148 h 16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8031" h="166148">
                      <a:moveTo>
                        <a:pt x="184777" y="166148"/>
                      </a:moveTo>
                      <a:cubicBezTo>
                        <a:pt x="283964" y="166148"/>
                        <a:pt x="354527" y="114120"/>
                        <a:pt x="368032" y="0"/>
                      </a:cubicBezTo>
                      <a:lnTo>
                        <a:pt x="270556" y="0"/>
                      </a:lnTo>
                      <a:cubicBezTo>
                        <a:pt x="260475" y="40255"/>
                        <a:pt x="236891" y="60383"/>
                        <a:pt x="184872" y="60383"/>
                      </a:cubicBezTo>
                      <a:cubicBezTo>
                        <a:pt x="132758" y="60383"/>
                        <a:pt x="105845" y="40255"/>
                        <a:pt x="97476" y="0"/>
                      </a:cubicBezTo>
                      <a:lnTo>
                        <a:pt x="0" y="0"/>
                      </a:lnTo>
                      <a:cubicBezTo>
                        <a:pt x="13314" y="114120"/>
                        <a:pt x="85589" y="166148"/>
                        <a:pt x="184777" y="1661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F39B9020-D405-EC47-BC8F-27EDF349DB9E}"/>
                    </a:ext>
                  </a:extLst>
                </p:cNvPr>
                <p:cNvSpPr/>
                <p:nvPr/>
              </p:nvSpPr>
              <p:spPr>
                <a:xfrm>
                  <a:off x="6579415" y="811276"/>
                  <a:ext cx="497555" cy="600791"/>
                </a:xfrm>
                <a:custGeom>
                  <a:avLst/>
                  <a:gdLst>
                    <a:gd name="connsiteX0" fmla="*/ 122677 w 497555"/>
                    <a:gd name="connsiteY0" fmla="*/ 412142 h 600791"/>
                    <a:gd name="connsiteX1" fmla="*/ 122677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8 w 497555"/>
                    <a:gd name="connsiteY5" fmla="*/ 181719 h 600791"/>
                    <a:gd name="connsiteX6" fmla="*/ 374878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677" y="412142"/>
                      </a:move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8" y="181719"/>
                      </a:lnTo>
                      <a:lnTo>
                        <a:pt x="374878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D7FCDAC3-797F-BD46-BCE7-FCA881B9FD46}"/>
                    </a:ext>
                  </a:extLst>
                </p:cNvPr>
                <p:cNvSpPr/>
                <p:nvPr/>
              </p:nvSpPr>
              <p:spPr>
                <a:xfrm>
                  <a:off x="5858663" y="539363"/>
                  <a:ext cx="598455" cy="884382"/>
                </a:xfrm>
                <a:custGeom>
                  <a:avLst/>
                  <a:gdLst>
                    <a:gd name="connsiteX0" fmla="*/ 334557 w 598455"/>
                    <a:gd name="connsiteY0" fmla="*/ 276945 h 884382"/>
                    <a:gd name="connsiteX1" fmla="*/ 111551 w 598455"/>
                    <a:gd name="connsiteY1" fmla="*/ 406066 h 884382"/>
                    <a:gd name="connsiteX2" fmla="*/ 302604 w 598455"/>
                    <a:gd name="connsiteY2" fmla="*/ 167857 h 884382"/>
                    <a:gd name="connsiteX3" fmla="*/ 548053 w 598455"/>
                    <a:gd name="connsiteY3" fmla="*/ 134248 h 884382"/>
                    <a:gd name="connsiteX4" fmla="*/ 537973 w 598455"/>
                    <a:gd name="connsiteY4" fmla="*/ 0 h 884382"/>
                    <a:gd name="connsiteX5" fmla="*/ 282443 w 598455"/>
                    <a:gd name="connsiteY5" fmla="*/ 35223 h 884382"/>
                    <a:gd name="connsiteX6" fmla="*/ 0 w 598455"/>
                    <a:gd name="connsiteY6" fmla="*/ 501767 h 884382"/>
                    <a:gd name="connsiteX7" fmla="*/ 302604 w 598455"/>
                    <a:gd name="connsiteY7" fmla="*/ 884382 h 884382"/>
                    <a:gd name="connsiteX8" fmla="*/ 598455 w 598455"/>
                    <a:gd name="connsiteY8" fmla="*/ 563859 h 884382"/>
                    <a:gd name="connsiteX9" fmla="*/ 334557 w 598455"/>
                    <a:gd name="connsiteY9" fmla="*/ 276945 h 884382"/>
                    <a:gd name="connsiteX10" fmla="*/ 302604 w 598455"/>
                    <a:gd name="connsiteY10" fmla="*/ 751844 h 884382"/>
                    <a:gd name="connsiteX11" fmla="*/ 126101 w 598455"/>
                    <a:gd name="connsiteY11" fmla="*/ 550472 h 884382"/>
                    <a:gd name="connsiteX12" fmla="*/ 126101 w 598455"/>
                    <a:gd name="connsiteY12" fmla="*/ 488380 h 884382"/>
                    <a:gd name="connsiteX13" fmla="*/ 302604 w 598455"/>
                    <a:gd name="connsiteY13" fmla="*/ 404452 h 884382"/>
                    <a:gd name="connsiteX14" fmla="*/ 472355 w 598455"/>
                    <a:gd name="connsiteY14" fmla="*/ 563859 h 884382"/>
                    <a:gd name="connsiteX15" fmla="*/ 302604 w 598455"/>
                    <a:gd name="connsiteY15" fmla="*/ 751844 h 88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8455" h="884382">
                      <a:moveTo>
                        <a:pt x="334557" y="276945"/>
                      </a:moveTo>
                      <a:cubicBezTo>
                        <a:pt x="237366" y="276945"/>
                        <a:pt x="154440" y="322137"/>
                        <a:pt x="111551" y="406066"/>
                      </a:cubicBezTo>
                      <a:cubicBezTo>
                        <a:pt x="117637" y="269919"/>
                        <a:pt x="144740" y="188934"/>
                        <a:pt x="302604" y="167857"/>
                      </a:cubicBezTo>
                      <a:lnTo>
                        <a:pt x="548053" y="134248"/>
                      </a:lnTo>
                      <a:lnTo>
                        <a:pt x="537973" y="0"/>
                      </a:lnTo>
                      <a:lnTo>
                        <a:pt x="282443" y="35223"/>
                      </a:lnTo>
                      <a:cubicBezTo>
                        <a:pt x="62194" y="65415"/>
                        <a:pt x="0" y="234981"/>
                        <a:pt x="0" y="501767"/>
                      </a:cubicBezTo>
                      <a:cubicBezTo>
                        <a:pt x="0" y="735039"/>
                        <a:pt x="105940" y="884382"/>
                        <a:pt x="302604" y="884382"/>
                      </a:cubicBezTo>
                      <a:cubicBezTo>
                        <a:pt x="494227" y="884382"/>
                        <a:pt x="598455" y="736653"/>
                        <a:pt x="598455" y="563859"/>
                      </a:cubicBezTo>
                      <a:cubicBezTo>
                        <a:pt x="598455" y="391065"/>
                        <a:pt x="482530" y="276945"/>
                        <a:pt x="334557" y="276945"/>
                      </a:cubicBezTo>
                      <a:close/>
                      <a:moveTo>
                        <a:pt x="302604" y="751844"/>
                      </a:moveTo>
                      <a:cubicBezTo>
                        <a:pt x="191624" y="751844"/>
                        <a:pt x="126101" y="671333"/>
                        <a:pt x="126101" y="550472"/>
                      </a:cubicBezTo>
                      <a:lnTo>
                        <a:pt x="126101" y="488380"/>
                      </a:lnTo>
                      <a:cubicBezTo>
                        <a:pt x="149590" y="441384"/>
                        <a:pt x="211880" y="404452"/>
                        <a:pt x="302604" y="404452"/>
                      </a:cubicBezTo>
                      <a:cubicBezTo>
                        <a:pt x="398463" y="404452"/>
                        <a:pt x="472355" y="449739"/>
                        <a:pt x="472355" y="563859"/>
                      </a:cubicBezTo>
                      <a:cubicBezTo>
                        <a:pt x="472355" y="677979"/>
                        <a:pt x="413584" y="751844"/>
                        <a:pt x="302604" y="7518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F518131B-60CC-0D4C-9308-8E792F3946CF}"/>
                    </a:ext>
                  </a:extLst>
                </p:cNvPr>
                <p:cNvSpPr/>
                <p:nvPr/>
              </p:nvSpPr>
              <p:spPr>
                <a:xfrm>
                  <a:off x="9108086" y="811276"/>
                  <a:ext cx="484146" cy="600791"/>
                </a:xfrm>
                <a:custGeom>
                  <a:avLst/>
                  <a:gdLst>
                    <a:gd name="connsiteX0" fmla="*/ 361375 w 484146"/>
                    <a:gd name="connsiteY0" fmla="*/ 0 h 600791"/>
                    <a:gd name="connsiteX1" fmla="*/ 361375 w 484146"/>
                    <a:gd name="connsiteY1" fmla="*/ 224822 h 600791"/>
                    <a:gd name="connsiteX2" fmla="*/ 122677 w 484146"/>
                    <a:gd name="connsiteY2" fmla="*/ 224822 h 600791"/>
                    <a:gd name="connsiteX3" fmla="*/ 122677 w 484146"/>
                    <a:gd name="connsiteY3" fmla="*/ 0 h 600791"/>
                    <a:gd name="connsiteX4" fmla="*/ 0 w 484146"/>
                    <a:gd name="connsiteY4" fmla="*/ 0 h 600791"/>
                    <a:gd name="connsiteX5" fmla="*/ 0 w 484146"/>
                    <a:gd name="connsiteY5" fmla="*/ 600791 h 600791"/>
                    <a:gd name="connsiteX6" fmla="*/ 122677 w 484146"/>
                    <a:gd name="connsiteY6" fmla="*/ 600791 h 600791"/>
                    <a:gd name="connsiteX7" fmla="*/ 122677 w 484146"/>
                    <a:gd name="connsiteY7" fmla="*/ 349006 h 600791"/>
                    <a:gd name="connsiteX8" fmla="*/ 361375 w 484146"/>
                    <a:gd name="connsiteY8" fmla="*/ 349006 h 600791"/>
                    <a:gd name="connsiteX9" fmla="*/ 361375 w 484146"/>
                    <a:gd name="connsiteY9" fmla="*/ 600791 h 600791"/>
                    <a:gd name="connsiteX10" fmla="*/ 484147 w 484146"/>
                    <a:gd name="connsiteY10" fmla="*/ 600791 h 600791"/>
                    <a:gd name="connsiteX11" fmla="*/ 484147 w 484146"/>
                    <a:gd name="connsiteY11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46" h="600791">
                      <a:moveTo>
                        <a:pt x="361375" y="0"/>
                      </a:moveTo>
                      <a:lnTo>
                        <a:pt x="361375" y="224822"/>
                      </a:lnTo>
                      <a:lnTo>
                        <a:pt x="122677" y="224822"/>
                      </a:ln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2677" y="600791"/>
                      </a:lnTo>
                      <a:lnTo>
                        <a:pt x="122677" y="349006"/>
                      </a:lnTo>
                      <a:lnTo>
                        <a:pt x="361375" y="349006"/>
                      </a:lnTo>
                      <a:lnTo>
                        <a:pt x="361375" y="600791"/>
                      </a:lnTo>
                      <a:lnTo>
                        <a:pt x="484147" y="600791"/>
                      </a:lnTo>
                      <a:lnTo>
                        <a:pt x="4841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9BB899F-0E33-DF42-AE41-72F979414F1B}"/>
                    </a:ext>
                  </a:extLst>
                </p:cNvPr>
                <p:cNvSpPr/>
                <p:nvPr/>
              </p:nvSpPr>
              <p:spPr>
                <a:xfrm>
                  <a:off x="8456280" y="811276"/>
                  <a:ext cx="497555" cy="600791"/>
                </a:xfrm>
                <a:custGeom>
                  <a:avLst/>
                  <a:gdLst>
                    <a:gd name="connsiteX0" fmla="*/ 122772 w 497555"/>
                    <a:gd name="connsiteY0" fmla="*/ 412142 h 600791"/>
                    <a:gd name="connsiteX1" fmla="*/ 122772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9 w 497555"/>
                    <a:gd name="connsiteY5" fmla="*/ 181719 h 600791"/>
                    <a:gd name="connsiteX6" fmla="*/ 374879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772" y="412142"/>
                      </a:moveTo>
                      <a:lnTo>
                        <a:pt x="122772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9" y="181719"/>
                      </a:lnTo>
                      <a:lnTo>
                        <a:pt x="374879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B37E9037-241D-F749-9013-6D64F859E015}"/>
                    </a:ext>
                  </a:extLst>
                </p:cNvPr>
                <p:cNvSpPr/>
                <p:nvPr/>
              </p:nvSpPr>
              <p:spPr>
                <a:xfrm>
                  <a:off x="7183386" y="811276"/>
                  <a:ext cx="517811" cy="609241"/>
                </a:xfrm>
                <a:custGeom>
                  <a:avLst/>
                  <a:gdLst>
                    <a:gd name="connsiteX0" fmla="*/ 114309 w 517811"/>
                    <a:gd name="connsiteY0" fmla="*/ 367520 h 609241"/>
                    <a:gd name="connsiteX1" fmla="*/ 45362 w 517811"/>
                    <a:gd name="connsiteY1" fmla="*/ 463221 h 609241"/>
                    <a:gd name="connsiteX2" fmla="*/ 0 w 517811"/>
                    <a:gd name="connsiteY2" fmla="*/ 458189 h 609241"/>
                    <a:gd name="connsiteX3" fmla="*/ 0 w 517811"/>
                    <a:gd name="connsiteY3" fmla="*/ 597468 h 609241"/>
                    <a:gd name="connsiteX4" fmla="*/ 60483 w 517811"/>
                    <a:gd name="connsiteY4" fmla="*/ 609241 h 609241"/>
                    <a:gd name="connsiteX5" fmla="*/ 191624 w 517811"/>
                    <a:gd name="connsiteY5" fmla="*/ 515249 h 609241"/>
                    <a:gd name="connsiteX6" fmla="*/ 220248 w 517811"/>
                    <a:gd name="connsiteY6" fmla="*/ 369228 h 609241"/>
                    <a:gd name="connsiteX7" fmla="*/ 232041 w 517811"/>
                    <a:gd name="connsiteY7" fmla="*/ 127602 h 609241"/>
                    <a:gd name="connsiteX8" fmla="*/ 395135 w 517811"/>
                    <a:gd name="connsiteY8" fmla="*/ 127602 h 609241"/>
                    <a:gd name="connsiteX9" fmla="*/ 395135 w 517811"/>
                    <a:gd name="connsiteY9" fmla="*/ 600886 h 609241"/>
                    <a:gd name="connsiteX10" fmla="*/ 517812 w 517811"/>
                    <a:gd name="connsiteY10" fmla="*/ 600886 h 609241"/>
                    <a:gd name="connsiteX11" fmla="*/ 517812 w 517811"/>
                    <a:gd name="connsiteY11" fmla="*/ 0 h 609241"/>
                    <a:gd name="connsiteX12" fmla="*/ 129524 w 517811"/>
                    <a:gd name="connsiteY12" fmla="*/ 0 h 609241"/>
                    <a:gd name="connsiteX13" fmla="*/ 114309 w 517811"/>
                    <a:gd name="connsiteY13" fmla="*/ 367520 h 60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7811" h="609241">
                      <a:moveTo>
                        <a:pt x="114309" y="367520"/>
                      </a:moveTo>
                      <a:cubicBezTo>
                        <a:pt x="100900" y="434643"/>
                        <a:pt x="82355" y="463221"/>
                        <a:pt x="45362" y="463221"/>
                      </a:cubicBezTo>
                      <a:cubicBezTo>
                        <a:pt x="25201" y="463221"/>
                        <a:pt x="10080" y="461512"/>
                        <a:pt x="0" y="458189"/>
                      </a:cubicBezTo>
                      <a:lnTo>
                        <a:pt x="0" y="597468"/>
                      </a:lnTo>
                      <a:cubicBezTo>
                        <a:pt x="15121" y="604209"/>
                        <a:pt x="28625" y="609241"/>
                        <a:pt x="60483" y="609241"/>
                      </a:cubicBezTo>
                      <a:cubicBezTo>
                        <a:pt x="124389" y="609241"/>
                        <a:pt x="169751" y="572309"/>
                        <a:pt x="191624" y="515249"/>
                      </a:cubicBezTo>
                      <a:cubicBezTo>
                        <a:pt x="205032" y="480026"/>
                        <a:pt x="213496" y="431320"/>
                        <a:pt x="220248" y="369228"/>
                      </a:cubicBezTo>
                      <a:cubicBezTo>
                        <a:pt x="227001" y="307137"/>
                        <a:pt x="232041" y="224917"/>
                        <a:pt x="232041" y="127602"/>
                      </a:cubicBezTo>
                      <a:lnTo>
                        <a:pt x="395135" y="127602"/>
                      </a:lnTo>
                      <a:lnTo>
                        <a:pt x="395135" y="600886"/>
                      </a:lnTo>
                      <a:lnTo>
                        <a:pt x="517812" y="600886"/>
                      </a:lnTo>
                      <a:lnTo>
                        <a:pt x="517812" y="0"/>
                      </a:lnTo>
                      <a:lnTo>
                        <a:pt x="129524" y="0"/>
                      </a:lnTo>
                      <a:cubicBezTo>
                        <a:pt x="129524" y="181244"/>
                        <a:pt x="124484" y="300396"/>
                        <a:pt x="114309" y="3675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16221F9B-CC92-A94B-8A94-A6A446C9C745}"/>
                    </a:ext>
                  </a:extLst>
                </p:cNvPr>
                <p:cNvSpPr/>
                <p:nvPr/>
              </p:nvSpPr>
              <p:spPr>
                <a:xfrm>
                  <a:off x="7829771" y="797794"/>
                  <a:ext cx="514483" cy="624336"/>
                </a:xfrm>
                <a:custGeom>
                  <a:avLst/>
                  <a:gdLst>
                    <a:gd name="connsiteX0" fmla="*/ 450482 w 514483"/>
                    <a:gd name="connsiteY0" fmla="*/ 451448 h 624336"/>
                    <a:gd name="connsiteX1" fmla="*/ 452194 w 514483"/>
                    <a:gd name="connsiteY1" fmla="*/ 213144 h 624336"/>
                    <a:gd name="connsiteX2" fmla="*/ 226905 w 514483"/>
                    <a:gd name="connsiteY2" fmla="*/ 0 h 624336"/>
                    <a:gd name="connsiteX3" fmla="*/ 0 w 514483"/>
                    <a:gd name="connsiteY3" fmla="*/ 201371 h 624336"/>
                    <a:gd name="connsiteX4" fmla="*/ 117637 w 514483"/>
                    <a:gd name="connsiteY4" fmla="*/ 201371 h 624336"/>
                    <a:gd name="connsiteX5" fmla="*/ 226905 w 514483"/>
                    <a:gd name="connsiteY5" fmla="*/ 127507 h 624336"/>
                    <a:gd name="connsiteX6" fmla="*/ 333701 w 514483"/>
                    <a:gd name="connsiteY6" fmla="*/ 207827 h 624336"/>
                    <a:gd name="connsiteX7" fmla="*/ 183255 w 514483"/>
                    <a:gd name="connsiteY7" fmla="*/ 268495 h 624336"/>
                    <a:gd name="connsiteX8" fmla="*/ 3424 w 514483"/>
                    <a:gd name="connsiteY8" fmla="*/ 456480 h 624336"/>
                    <a:gd name="connsiteX9" fmla="*/ 174886 w 514483"/>
                    <a:gd name="connsiteY9" fmla="*/ 624337 h 624336"/>
                    <a:gd name="connsiteX10" fmla="*/ 343686 w 514483"/>
                    <a:gd name="connsiteY10" fmla="*/ 514964 h 624336"/>
                    <a:gd name="connsiteX11" fmla="*/ 480818 w 514483"/>
                    <a:gd name="connsiteY11" fmla="*/ 619305 h 624336"/>
                    <a:gd name="connsiteX12" fmla="*/ 514483 w 514483"/>
                    <a:gd name="connsiteY12" fmla="*/ 619305 h 624336"/>
                    <a:gd name="connsiteX13" fmla="*/ 514483 w 514483"/>
                    <a:gd name="connsiteY13" fmla="*/ 503476 h 624336"/>
                    <a:gd name="connsiteX14" fmla="*/ 504403 w 514483"/>
                    <a:gd name="connsiteY14" fmla="*/ 503476 h 624336"/>
                    <a:gd name="connsiteX15" fmla="*/ 450482 w 514483"/>
                    <a:gd name="connsiteY15" fmla="*/ 451448 h 624336"/>
                    <a:gd name="connsiteX16" fmla="*/ 220153 w 514483"/>
                    <a:gd name="connsiteY16" fmla="*/ 498444 h 624336"/>
                    <a:gd name="connsiteX17" fmla="*/ 120965 w 514483"/>
                    <a:gd name="connsiteY17" fmla="*/ 431320 h 624336"/>
                    <a:gd name="connsiteX18" fmla="*/ 216825 w 514483"/>
                    <a:gd name="connsiteY18" fmla="*/ 340651 h 624336"/>
                    <a:gd name="connsiteX19" fmla="*/ 333986 w 514483"/>
                    <a:gd name="connsiteY19" fmla="*/ 292041 h 624336"/>
                    <a:gd name="connsiteX20" fmla="*/ 332750 w 514483"/>
                    <a:gd name="connsiteY20" fmla="*/ 454771 h 624336"/>
                    <a:gd name="connsiteX21" fmla="*/ 220153 w 514483"/>
                    <a:gd name="connsiteY21" fmla="*/ 498444 h 62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483" h="624336">
                      <a:moveTo>
                        <a:pt x="450482" y="451448"/>
                      </a:moveTo>
                      <a:lnTo>
                        <a:pt x="452194" y="213144"/>
                      </a:lnTo>
                      <a:cubicBezTo>
                        <a:pt x="453906" y="62092"/>
                        <a:pt x="361375" y="0"/>
                        <a:pt x="226905" y="0"/>
                      </a:cubicBezTo>
                      <a:cubicBezTo>
                        <a:pt x="115925" y="0"/>
                        <a:pt x="15121" y="60383"/>
                        <a:pt x="0" y="201371"/>
                      </a:cubicBezTo>
                      <a:lnTo>
                        <a:pt x="117637" y="201371"/>
                      </a:lnTo>
                      <a:cubicBezTo>
                        <a:pt x="124389" y="146020"/>
                        <a:pt x="168039" y="127507"/>
                        <a:pt x="226905" y="127507"/>
                      </a:cubicBezTo>
                      <a:cubicBezTo>
                        <a:pt x="287198" y="127507"/>
                        <a:pt x="327615" y="146020"/>
                        <a:pt x="333701" y="207827"/>
                      </a:cubicBezTo>
                      <a:lnTo>
                        <a:pt x="183255" y="268495"/>
                      </a:lnTo>
                      <a:cubicBezTo>
                        <a:pt x="80739" y="310460"/>
                        <a:pt x="3424" y="357456"/>
                        <a:pt x="3424" y="456480"/>
                      </a:cubicBezTo>
                      <a:cubicBezTo>
                        <a:pt x="3424" y="558827"/>
                        <a:pt x="60578" y="624337"/>
                        <a:pt x="174886" y="624337"/>
                      </a:cubicBezTo>
                      <a:cubicBezTo>
                        <a:pt x="253818" y="624337"/>
                        <a:pt x="303745" y="587310"/>
                        <a:pt x="343686" y="514964"/>
                      </a:cubicBezTo>
                      <a:cubicBezTo>
                        <a:pt x="349678" y="587310"/>
                        <a:pt x="397702" y="619305"/>
                        <a:pt x="480818" y="619305"/>
                      </a:cubicBezTo>
                      <a:lnTo>
                        <a:pt x="514483" y="619305"/>
                      </a:lnTo>
                      <a:lnTo>
                        <a:pt x="514483" y="503476"/>
                      </a:lnTo>
                      <a:lnTo>
                        <a:pt x="504403" y="503476"/>
                      </a:lnTo>
                      <a:cubicBezTo>
                        <a:pt x="465603" y="503476"/>
                        <a:pt x="450482" y="488380"/>
                        <a:pt x="450482" y="451448"/>
                      </a:cubicBezTo>
                      <a:close/>
                      <a:moveTo>
                        <a:pt x="220153" y="498444"/>
                      </a:moveTo>
                      <a:cubicBezTo>
                        <a:pt x="162999" y="498444"/>
                        <a:pt x="120965" y="483348"/>
                        <a:pt x="120965" y="431320"/>
                      </a:cubicBezTo>
                      <a:cubicBezTo>
                        <a:pt x="120965" y="386033"/>
                        <a:pt x="156247" y="365905"/>
                        <a:pt x="216825" y="340651"/>
                      </a:cubicBezTo>
                      <a:lnTo>
                        <a:pt x="333986" y="292041"/>
                      </a:lnTo>
                      <a:lnTo>
                        <a:pt x="332750" y="454771"/>
                      </a:lnTo>
                      <a:cubicBezTo>
                        <a:pt x="312589" y="480025"/>
                        <a:pt x="272267" y="498444"/>
                        <a:pt x="220153" y="4984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grpSp>
            <p:nvGrpSpPr>
              <p:cNvPr id="37" name="Graphic 6">
                <a:extLst>
                  <a:ext uri="{FF2B5EF4-FFF2-40B4-BE49-F238E27FC236}">
                    <a16:creationId xmlns:a16="http://schemas.microsoft.com/office/drawing/2014/main" id="{F4497604-A7FE-6449-A227-8B9D6A97DFAD}"/>
                  </a:ext>
                </a:extLst>
              </p:cNvPr>
              <p:cNvGrpSpPr/>
              <p:nvPr/>
            </p:nvGrpSpPr>
            <p:grpSpPr>
              <a:xfrm>
                <a:off x="4586236" y="536515"/>
                <a:ext cx="981996" cy="979755"/>
                <a:chOff x="4586236" y="536515"/>
                <a:chExt cx="981996" cy="979755"/>
              </a:xfrm>
            </p:grpSpPr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66E19D22-9B55-694F-91FD-3DF9E2A9F92A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5A06B546-8DEC-4843-AF69-D890327A35A3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9CEC82A-07C0-824A-AC97-A9257EDBC7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0ED9469-A7EB-174F-8409-1F9857B7B351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322002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123E15-76CA-CC41-9639-810635F8D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3E2FE2-EF02-4B46-ACB7-559806CDBF64}"/>
              </a:ext>
            </a:extLst>
          </p:cNvPr>
          <p:cNvGrpSpPr/>
          <p:nvPr userDrawn="1"/>
        </p:nvGrpSpPr>
        <p:grpSpPr>
          <a:xfrm>
            <a:off x="285404" y="226734"/>
            <a:ext cx="1790694" cy="461234"/>
            <a:chOff x="285404" y="226734"/>
            <a:chExt cx="1790694" cy="461234"/>
          </a:xfrm>
        </p:grpSpPr>
        <p:grpSp>
          <p:nvGrpSpPr>
            <p:cNvPr id="36" name="Graphic 6">
              <a:extLst>
                <a:ext uri="{FF2B5EF4-FFF2-40B4-BE49-F238E27FC236}">
                  <a16:creationId xmlns:a16="http://schemas.microsoft.com/office/drawing/2014/main" id="{6642A211-936C-B440-A44F-06472B56D4F8}"/>
                </a:ext>
              </a:extLst>
            </p:cNvPr>
            <p:cNvGrpSpPr/>
            <p:nvPr/>
          </p:nvGrpSpPr>
          <p:grpSpPr>
            <a:xfrm>
              <a:off x="347551" y="287518"/>
              <a:ext cx="1728547" cy="338305"/>
              <a:chOff x="4586236" y="536515"/>
              <a:chExt cx="5005996" cy="979755"/>
            </a:xfrm>
          </p:grpSpPr>
          <p:grpSp>
            <p:nvGrpSpPr>
              <p:cNvPr id="39" name="Graphic 6">
                <a:extLst>
                  <a:ext uri="{FF2B5EF4-FFF2-40B4-BE49-F238E27FC236}">
                    <a16:creationId xmlns:a16="http://schemas.microsoft.com/office/drawing/2014/main" id="{02ECB8CA-0454-3B48-8010-F4CF46A731CB}"/>
                  </a:ext>
                </a:extLst>
              </p:cNvPr>
              <p:cNvGrpSpPr/>
              <p:nvPr/>
            </p:nvGrpSpPr>
            <p:grpSpPr>
              <a:xfrm>
                <a:off x="5858663" y="539363"/>
                <a:ext cx="3733569" cy="884382"/>
                <a:chOff x="5858663" y="539363"/>
                <a:chExt cx="3733569" cy="884382"/>
              </a:xfrm>
              <a:solidFill>
                <a:srgbClr val="000000"/>
              </a:solidFill>
            </p:grpSpPr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19848087-BDDE-5C4A-8573-F607E2482A56}"/>
                    </a:ext>
                  </a:extLst>
                </p:cNvPr>
                <p:cNvSpPr/>
                <p:nvPr/>
              </p:nvSpPr>
              <p:spPr>
                <a:xfrm>
                  <a:off x="8518665" y="593100"/>
                  <a:ext cx="368031" cy="166148"/>
                </a:xfrm>
                <a:custGeom>
                  <a:avLst/>
                  <a:gdLst>
                    <a:gd name="connsiteX0" fmla="*/ 184777 w 368031"/>
                    <a:gd name="connsiteY0" fmla="*/ 166148 h 166148"/>
                    <a:gd name="connsiteX1" fmla="*/ 368032 w 368031"/>
                    <a:gd name="connsiteY1" fmla="*/ 0 h 166148"/>
                    <a:gd name="connsiteX2" fmla="*/ 270556 w 368031"/>
                    <a:gd name="connsiteY2" fmla="*/ 0 h 166148"/>
                    <a:gd name="connsiteX3" fmla="*/ 184872 w 368031"/>
                    <a:gd name="connsiteY3" fmla="*/ 60383 h 166148"/>
                    <a:gd name="connsiteX4" fmla="*/ 97476 w 368031"/>
                    <a:gd name="connsiteY4" fmla="*/ 0 h 166148"/>
                    <a:gd name="connsiteX5" fmla="*/ 0 w 368031"/>
                    <a:gd name="connsiteY5" fmla="*/ 0 h 166148"/>
                    <a:gd name="connsiteX6" fmla="*/ 184777 w 368031"/>
                    <a:gd name="connsiteY6" fmla="*/ 166148 h 16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8031" h="166148">
                      <a:moveTo>
                        <a:pt x="184777" y="166148"/>
                      </a:moveTo>
                      <a:cubicBezTo>
                        <a:pt x="283964" y="166148"/>
                        <a:pt x="354527" y="114120"/>
                        <a:pt x="368032" y="0"/>
                      </a:cubicBezTo>
                      <a:lnTo>
                        <a:pt x="270556" y="0"/>
                      </a:lnTo>
                      <a:cubicBezTo>
                        <a:pt x="260475" y="40255"/>
                        <a:pt x="236891" y="60383"/>
                        <a:pt x="184872" y="60383"/>
                      </a:cubicBezTo>
                      <a:cubicBezTo>
                        <a:pt x="132758" y="60383"/>
                        <a:pt x="105845" y="40255"/>
                        <a:pt x="97476" y="0"/>
                      </a:cubicBezTo>
                      <a:lnTo>
                        <a:pt x="0" y="0"/>
                      </a:lnTo>
                      <a:cubicBezTo>
                        <a:pt x="13314" y="114120"/>
                        <a:pt x="85589" y="166148"/>
                        <a:pt x="184777" y="1661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273D6B31-9D09-1741-9F49-B1332CACA1B3}"/>
                    </a:ext>
                  </a:extLst>
                </p:cNvPr>
                <p:cNvSpPr/>
                <p:nvPr/>
              </p:nvSpPr>
              <p:spPr>
                <a:xfrm>
                  <a:off x="6579415" y="811276"/>
                  <a:ext cx="497555" cy="600791"/>
                </a:xfrm>
                <a:custGeom>
                  <a:avLst/>
                  <a:gdLst>
                    <a:gd name="connsiteX0" fmla="*/ 122677 w 497555"/>
                    <a:gd name="connsiteY0" fmla="*/ 412142 h 600791"/>
                    <a:gd name="connsiteX1" fmla="*/ 122677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8 w 497555"/>
                    <a:gd name="connsiteY5" fmla="*/ 181719 h 600791"/>
                    <a:gd name="connsiteX6" fmla="*/ 374878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677" y="412142"/>
                      </a:move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8" y="181719"/>
                      </a:lnTo>
                      <a:lnTo>
                        <a:pt x="374878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2E505A56-7A19-1346-A977-FA57059BF515}"/>
                    </a:ext>
                  </a:extLst>
                </p:cNvPr>
                <p:cNvSpPr/>
                <p:nvPr/>
              </p:nvSpPr>
              <p:spPr>
                <a:xfrm>
                  <a:off x="5858663" y="539363"/>
                  <a:ext cx="598455" cy="884382"/>
                </a:xfrm>
                <a:custGeom>
                  <a:avLst/>
                  <a:gdLst>
                    <a:gd name="connsiteX0" fmla="*/ 334557 w 598455"/>
                    <a:gd name="connsiteY0" fmla="*/ 276945 h 884382"/>
                    <a:gd name="connsiteX1" fmla="*/ 111551 w 598455"/>
                    <a:gd name="connsiteY1" fmla="*/ 406066 h 884382"/>
                    <a:gd name="connsiteX2" fmla="*/ 302604 w 598455"/>
                    <a:gd name="connsiteY2" fmla="*/ 167857 h 884382"/>
                    <a:gd name="connsiteX3" fmla="*/ 548053 w 598455"/>
                    <a:gd name="connsiteY3" fmla="*/ 134248 h 884382"/>
                    <a:gd name="connsiteX4" fmla="*/ 537973 w 598455"/>
                    <a:gd name="connsiteY4" fmla="*/ 0 h 884382"/>
                    <a:gd name="connsiteX5" fmla="*/ 282443 w 598455"/>
                    <a:gd name="connsiteY5" fmla="*/ 35223 h 884382"/>
                    <a:gd name="connsiteX6" fmla="*/ 0 w 598455"/>
                    <a:gd name="connsiteY6" fmla="*/ 501767 h 884382"/>
                    <a:gd name="connsiteX7" fmla="*/ 302604 w 598455"/>
                    <a:gd name="connsiteY7" fmla="*/ 884382 h 884382"/>
                    <a:gd name="connsiteX8" fmla="*/ 598455 w 598455"/>
                    <a:gd name="connsiteY8" fmla="*/ 563859 h 884382"/>
                    <a:gd name="connsiteX9" fmla="*/ 334557 w 598455"/>
                    <a:gd name="connsiteY9" fmla="*/ 276945 h 884382"/>
                    <a:gd name="connsiteX10" fmla="*/ 302604 w 598455"/>
                    <a:gd name="connsiteY10" fmla="*/ 751844 h 884382"/>
                    <a:gd name="connsiteX11" fmla="*/ 126101 w 598455"/>
                    <a:gd name="connsiteY11" fmla="*/ 550472 h 884382"/>
                    <a:gd name="connsiteX12" fmla="*/ 126101 w 598455"/>
                    <a:gd name="connsiteY12" fmla="*/ 488380 h 884382"/>
                    <a:gd name="connsiteX13" fmla="*/ 302604 w 598455"/>
                    <a:gd name="connsiteY13" fmla="*/ 404452 h 884382"/>
                    <a:gd name="connsiteX14" fmla="*/ 472355 w 598455"/>
                    <a:gd name="connsiteY14" fmla="*/ 563859 h 884382"/>
                    <a:gd name="connsiteX15" fmla="*/ 302604 w 598455"/>
                    <a:gd name="connsiteY15" fmla="*/ 751844 h 88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8455" h="884382">
                      <a:moveTo>
                        <a:pt x="334557" y="276945"/>
                      </a:moveTo>
                      <a:cubicBezTo>
                        <a:pt x="237366" y="276945"/>
                        <a:pt x="154440" y="322137"/>
                        <a:pt x="111551" y="406066"/>
                      </a:cubicBezTo>
                      <a:cubicBezTo>
                        <a:pt x="117637" y="269919"/>
                        <a:pt x="144740" y="188934"/>
                        <a:pt x="302604" y="167857"/>
                      </a:cubicBezTo>
                      <a:lnTo>
                        <a:pt x="548053" y="134248"/>
                      </a:lnTo>
                      <a:lnTo>
                        <a:pt x="537973" y="0"/>
                      </a:lnTo>
                      <a:lnTo>
                        <a:pt x="282443" y="35223"/>
                      </a:lnTo>
                      <a:cubicBezTo>
                        <a:pt x="62194" y="65415"/>
                        <a:pt x="0" y="234981"/>
                        <a:pt x="0" y="501767"/>
                      </a:cubicBezTo>
                      <a:cubicBezTo>
                        <a:pt x="0" y="735039"/>
                        <a:pt x="105940" y="884382"/>
                        <a:pt x="302604" y="884382"/>
                      </a:cubicBezTo>
                      <a:cubicBezTo>
                        <a:pt x="494227" y="884382"/>
                        <a:pt x="598455" y="736653"/>
                        <a:pt x="598455" y="563859"/>
                      </a:cubicBezTo>
                      <a:cubicBezTo>
                        <a:pt x="598455" y="391065"/>
                        <a:pt x="482530" y="276945"/>
                        <a:pt x="334557" y="276945"/>
                      </a:cubicBezTo>
                      <a:close/>
                      <a:moveTo>
                        <a:pt x="302604" y="751844"/>
                      </a:moveTo>
                      <a:cubicBezTo>
                        <a:pt x="191624" y="751844"/>
                        <a:pt x="126101" y="671333"/>
                        <a:pt x="126101" y="550472"/>
                      </a:cubicBezTo>
                      <a:lnTo>
                        <a:pt x="126101" y="488380"/>
                      </a:lnTo>
                      <a:cubicBezTo>
                        <a:pt x="149590" y="441384"/>
                        <a:pt x="211880" y="404452"/>
                        <a:pt x="302604" y="404452"/>
                      </a:cubicBezTo>
                      <a:cubicBezTo>
                        <a:pt x="398463" y="404452"/>
                        <a:pt x="472355" y="449739"/>
                        <a:pt x="472355" y="563859"/>
                      </a:cubicBezTo>
                      <a:cubicBezTo>
                        <a:pt x="472355" y="677979"/>
                        <a:pt x="413584" y="751844"/>
                        <a:pt x="302604" y="7518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AC49245B-19BA-F946-81C8-47E6D70FAF96}"/>
                    </a:ext>
                  </a:extLst>
                </p:cNvPr>
                <p:cNvSpPr/>
                <p:nvPr/>
              </p:nvSpPr>
              <p:spPr>
                <a:xfrm>
                  <a:off x="9108086" y="811276"/>
                  <a:ext cx="484146" cy="600791"/>
                </a:xfrm>
                <a:custGeom>
                  <a:avLst/>
                  <a:gdLst>
                    <a:gd name="connsiteX0" fmla="*/ 361375 w 484146"/>
                    <a:gd name="connsiteY0" fmla="*/ 0 h 600791"/>
                    <a:gd name="connsiteX1" fmla="*/ 361375 w 484146"/>
                    <a:gd name="connsiteY1" fmla="*/ 224822 h 600791"/>
                    <a:gd name="connsiteX2" fmla="*/ 122677 w 484146"/>
                    <a:gd name="connsiteY2" fmla="*/ 224822 h 600791"/>
                    <a:gd name="connsiteX3" fmla="*/ 122677 w 484146"/>
                    <a:gd name="connsiteY3" fmla="*/ 0 h 600791"/>
                    <a:gd name="connsiteX4" fmla="*/ 0 w 484146"/>
                    <a:gd name="connsiteY4" fmla="*/ 0 h 600791"/>
                    <a:gd name="connsiteX5" fmla="*/ 0 w 484146"/>
                    <a:gd name="connsiteY5" fmla="*/ 600791 h 600791"/>
                    <a:gd name="connsiteX6" fmla="*/ 122677 w 484146"/>
                    <a:gd name="connsiteY6" fmla="*/ 600791 h 600791"/>
                    <a:gd name="connsiteX7" fmla="*/ 122677 w 484146"/>
                    <a:gd name="connsiteY7" fmla="*/ 349006 h 600791"/>
                    <a:gd name="connsiteX8" fmla="*/ 361375 w 484146"/>
                    <a:gd name="connsiteY8" fmla="*/ 349006 h 600791"/>
                    <a:gd name="connsiteX9" fmla="*/ 361375 w 484146"/>
                    <a:gd name="connsiteY9" fmla="*/ 600791 h 600791"/>
                    <a:gd name="connsiteX10" fmla="*/ 484147 w 484146"/>
                    <a:gd name="connsiteY10" fmla="*/ 600791 h 600791"/>
                    <a:gd name="connsiteX11" fmla="*/ 484147 w 484146"/>
                    <a:gd name="connsiteY11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46" h="600791">
                      <a:moveTo>
                        <a:pt x="361375" y="0"/>
                      </a:moveTo>
                      <a:lnTo>
                        <a:pt x="361375" y="224822"/>
                      </a:lnTo>
                      <a:lnTo>
                        <a:pt x="122677" y="224822"/>
                      </a:ln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2677" y="600791"/>
                      </a:lnTo>
                      <a:lnTo>
                        <a:pt x="122677" y="349006"/>
                      </a:lnTo>
                      <a:lnTo>
                        <a:pt x="361375" y="349006"/>
                      </a:lnTo>
                      <a:lnTo>
                        <a:pt x="361375" y="600791"/>
                      </a:lnTo>
                      <a:lnTo>
                        <a:pt x="484147" y="600791"/>
                      </a:lnTo>
                      <a:lnTo>
                        <a:pt x="4841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2D91D3DA-360C-6C41-B733-03BBF34C6195}"/>
                    </a:ext>
                  </a:extLst>
                </p:cNvPr>
                <p:cNvSpPr/>
                <p:nvPr/>
              </p:nvSpPr>
              <p:spPr>
                <a:xfrm>
                  <a:off x="8456280" y="811276"/>
                  <a:ext cx="497555" cy="600791"/>
                </a:xfrm>
                <a:custGeom>
                  <a:avLst/>
                  <a:gdLst>
                    <a:gd name="connsiteX0" fmla="*/ 122772 w 497555"/>
                    <a:gd name="connsiteY0" fmla="*/ 412142 h 600791"/>
                    <a:gd name="connsiteX1" fmla="*/ 122772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9 w 497555"/>
                    <a:gd name="connsiteY5" fmla="*/ 181719 h 600791"/>
                    <a:gd name="connsiteX6" fmla="*/ 374879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772" y="412142"/>
                      </a:moveTo>
                      <a:lnTo>
                        <a:pt x="122772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9" y="181719"/>
                      </a:lnTo>
                      <a:lnTo>
                        <a:pt x="374879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E59CC2B1-F595-AB4A-9CBD-0B0814C9466E}"/>
                    </a:ext>
                  </a:extLst>
                </p:cNvPr>
                <p:cNvSpPr/>
                <p:nvPr/>
              </p:nvSpPr>
              <p:spPr>
                <a:xfrm>
                  <a:off x="7183386" y="811276"/>
                  <a:ext cx="517811" cy="609241"/>
                </a:xfrm>
                <a:custGeom>
                  <a:avLst/>
                  <a:gdLst>
                    <a:gd name="connsiteX0" fmla="*/ 114309 w 517811"/>
                    <a:gd name="connsiteY0" fmla="*/ 367520 h 609241"/>
                    <a:gd name="connsiteX1" fmla="*/ 45362 w 517811"/>
                    <a:gd name="connsiteY1" fmla="*/ 463221 h 609241"/>
                    <a:gd name="connsiteX2" fmla="*/ 0 w 517811"/>
                    <a:gd name="connsiteY2" fmla="*/ 458189 h 609241"/>
                    <a:gd name="connsiteX3" fmla="*/ 0 w 517811"/>
                    <a:gd name="connsiteY3" fmla="*/ 597468 h 609241"/>
                    <a:gd name="connsiteX4" fmla="*/ 60483 w 517811"/>
                    <a:gd name="connsiteY4" fmla="*/ 609241 h 609241"/>
                    <a:gd name="connsiteX5" fmla="*/ 191624 w 517811"/>
                    <a:gd name="connsiteY5" fmla="*/ 515249 h 609241"/>
                    <a:gd name="connsiteX6" fmla="*/ 220248 w 517811"/>
                    <a:gd name="connsiteY6" fmla="*/ 369228 h 609241"/>
                    <a:gd name="connsiteX7" fmla="*/ 232041 w 517811"/>
                    <a:gd name="connsiteY7" fmla="*/ 127602 h 609241"/>
                    <a:gd name="connsiteX8" fmla="*/ 395135 w 517811"/>
                    <a:gd name="connsiteY8" fmla="*/ 127602 h 609241"/>
                    <a:gd name="connsiteX9" fmla="*/ 395135 w 517811"/>
                    <a:gd name="connsiteY9" fmla="*/ 600886 h 609241"/>
                    <a:gd name="connsiteX10" fmla="*/ 517812 w 517811"/>
                    <a:gd name="connsiteY10" fmla="*/ 600886 h 609241"/>
                    <a:gd name="connsiteX11" fmla="*/ 517812 w 517811"/>
                    <a:gd name="connsiteY11" fmla="*/ 0 h 609241"/>
                    <a:gd name="connsiteX12" fmla="*/ 129524 w 517811"/>
                    <a:gd name="connsiteY12" fmla="*/ 0 h 609241"/>
                    <a:gd name="connsiteX13" fmla="*/ 114309 w 517811"/>
                    <a:gd name="connsiteY13" fmla="*/ 367520 h 60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7811" h="609241">
                      <a:moveTo>
                        <a:pt x="114309" y="367520"/>
                      </a:moveTo>
                      <a:cubicBezTo>
                        <a:pt x="100900" y="434643"/>
                        <a:pt x="82355" y="463221"/>
                        <a:pt x="45362" y="463221"/>
                      </a:cubicBezTo>
                      <a:cubicBezTo>
                        <a:pt x="25201" y="463221"/>
                        <a:pt x="10080" y="461512"/>
                        <a:pt x="0" y="458189"/>
                      </a:cubicBezTo>
                      <a:lnTo>
                        <a:pt x="0" y="597468"/>
                      </a:lnTo>
                      <a:cubicBezTo>
                        <a:pt x="15121" y="604209"/>
                        <a:pt x="28625" y="609241"/>
                        <a:pt x="60483" y="609241"/>
                      </a:cubicBezTo>
                      <a:cubicBezTo>
                        <a:pt x="124389" y="609241"/>
                        <a:pt x="169751" y="572309"/>
                        <a:pt x="191624" y="515249"/>
                      </a:cubicBezTo>
                      <a:cubicBezTo>
                        <a:pt x="205032" y="480026"/>
                        <a:pt x="213496" y="431320"/>
                        <a:pt x="220248" y="369228"/>
                      </a:cubicBezTo>
                      <a:cubicBezTo>
                        <a:pt x="227001" y="307137"/>
                        <a:pt x="232041" y="224917"/>
                        <a:pt x="232041" y="127602"/>
                      </a:cubicBezTo>
                      <a:lnTo>
                        <a:pt x="395135" y="127602"/>
                      </a:lnTo>
                      <a:lnTo>
                        <a:pt x="395135" y="600886"/>
                      </a:lnTo>
                      <a:lnTo>
                        <a:pt x="517812" y="600886"/>
                      </a:lnTo>
                      <a:lnTo>
                        <a:pt x="517812" y="0"/>
                      </a:lnTo>
                      <a:lnTo>
                        <a:pt x="129524" y="0"/>
                      </a:lnTo>
                      <a:cubicBezTo>
                        <a:pt x="129524" y="181244"/>
                        <a:pt x="124484" y="300396"/>
                        <a:pt x="114309" y="3675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54A931D0-8830-5E4C-996B-74FDD01D7245}"/>
                    </a:ext>
                  </a:extLst>
                </p:cNvPr>
                <p:cNvSpPr/>
                <p:nvPr/>
              </p:nvSpPr>
              <p:spPr>
                <a:xfrm>
                  <a:off x="7829771" y="797794"/>
                  <a:ext cx="514483" cy="624336"/>
                </a:xfrm>
                <a:custGeom>
                  <a:avLst/>
                  <a:gdLst>
                    <a:gd name="connsiteX0" fmla="*/ 450482 w 514483"/>
                    <a:gd name="connsiteY0" fmla="*/ 451448 h 624336"/>
                    <a:gd name="connsiteX1" fmla="*/ 452194 w 514483"/>
                    <a:gd name="connsiteY1" fmla="*/ 213144 h 624336"/>
                    <a:gd name="connsiteX2" fmla="*/ 226905 w 514483"/>
                    <a:gd name="connsiteY2" fmla="*/ 0 h 624336"/>
                    <a:gd name="connsiteX3" fmla="*/ 0 w 514483"/>
                    <a:gd name="connsiteY3" fmla="*/ 201371 h 624336"/>
                    <a:gd name="connsiteX4" fmla="*/ 117637 w 514483"/>
                    <a:gd name="connsiteY4" fmla="*/ 201371 h 624336"/>
                    <a:gd name="connsiteX5" fmla="*/ 226905 w 514483"/>
                    <a:gd name="connsiteY5" fmla="*/ 127507 h 624336"/>
                    <a:gd name="connsiteX6" fmla="*/ 333701 w 514483"/>
                    <a:gd name="connsiteY6" fmla="*/ 207827 h 624336"/>
                    <a:gd name="connsiteX7" fmla="*/ 183255 w 514483"/>
                    <a:gd name="connsiteY7" fmla="*/ 268495 h 624336"/>
                    <a:gd name="connsiteX8" fmla="*/ 3424 w 514483"/>
                    <a:gd name="connsiteY8" fmla="*/ 456480 h 624336"/>
                    <a:gd name="connsiteX9" fmla="*/ 174886 w 514483"/>
                    <a:gd name="connsiteY9" fmla="*/ 624337 h 624336"/>
                    <a:gd name="connsiteX10" fmla="*/ 343686 w 514483"/>
                    <a:gd name="connsiteY10" fmla="*/ 514964 h 624336"/>
                    <a:gd name="connsiteX11" fmla="*/ 480818 w 514483"/>
                    <a:gd name="connsiteY11" fmla="*/ 619305 h 624336"/>
                    <a:gd name="connsiteX12" fmla="*/ 514483 w 514483"/>
                    <a:gd name="connsiteY12" fmla="*/ 619305 h 624336"/>
                    <a:gd name="connsiteX13" fmla="*/ 514483 w 514483"/>
                    <a:gd name="connsiteY13" fmla="*/ 503476 h 624336"/>
                    <a:gd name="connsiteX14" fmla="*/ 504403 w 514483"/>
                    <a:gd name="connsiteY14" fmla="*/ 503476 h 624336"/>
                    <a:gd name="connsiteX15" fmla="*/ 450482 w 514483"/>
                    <a:gd name="connsiteY15" fmla="*/ 451448 h 624336"/>
                    <a:gd name="connsiteX16" fmla="*/ 220153 w 514483"/>
                    <a:gd name="connsiteY16" fmla="*/ 498444 h 624336"/>
                    <a:gd name="connsiteX17" fmla="*/ 120965 w 514483"/>
                    <a:gd name="connsiteY17" fmla="*/ 431320 h 624336"/>
                    <a:gd name="connsiteX18" fmla="*/ 216825 w 514483"/>
                    <a:gd name="connsiteY18" fmla="*/ 340651 h 624336"/>
                    <a:gd name="connsiteX19" fmla="*/ 333986 w 514483"/>
                    <a:gd name="connsiteY19" fmla="*/ 292041 h 624336"/>
                    <a:gd name="connsiteX20" fmla="*/ 332750 w 514483"/>
                    <a:gd name="connsiteY20" fmla="*/ 454771 h 624336"/>
                    <a:gd name="connsiteX21" fmla="*/ 220153 w 514483"/>
                    <a:gd name="connsiteY21" fmla="*/ 498444 h 62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483" h="624336">
                      <a:moveTo>
                        <a:pt x="450482" y="451448"/>
                      </a:moveTo>
                      <a:lnTo>
                        <a:pt x="452194" y="213144"/>
                      </a:lnTo>
                      <a:cubicBezTo>
                        <a:pt x="453906" y="62092"/>
                        <a:pt x="361375" y="0"/>
                        <a:pt x="226905" y="0"/>
                      </a:cubicBezTo>
                      <a:cubicBezTo>
                        <a:pt x="115925" y="0"/>
                        <a:pt x="15121" y="60383"/>
                        <a:pt x="0" y="201371"/>
                      </a:cubicBezTo>
                      <a:lnTo>
                        <a:pt x="117637" y="201371"/>
                      </a:lnTo>
                      <a:cubicBezTo>
                        <a:pt x="124389" y="146020"/>
                        <a:pt x="168039" y="127507"/>
                        <a:pt x="226905" y="127507"/>
                      </a:cubicBezTo>
                      <a:cubicBezTo>
                        <a:pt x="287198" y="127507"/>
                        <a:pt x="327615" y="146020"/>
                        <a:pt x="333701" y="207827"/>
                      </a:cubicBezTo>
                      <a:lnTo>
                        <a:pt x="183255" y="268495"/>
                      </a:lnTo>
                      <a:cubicBezTo>
                        <a:pt x="80739" y="310460"/>
                        <a:pt x="3424" y="357456"/>
                        <a:pt x="3424" y="456480"/>
                      </a:cubicBezTo>
                      <a:cubicBezTo>
                        <a:pt x="3424" y="558827"/>
                        <a:pt x="60578" y="624337"/>
                        <a:pt x="174886" y="624337"/>
                      </a:cubicBezTo>
                      <a:cubicBezTo>
                        <a:pt x="253818" y="624337"/>
                        <a:pt x="303745" y="587310"/>
                        <a:pt x="343686" y="514964"/>
                      </a:cubicBezTo>
                      <a:cubicBezTo>
                        <a:pt x="349678" y="587310"/>
                        <a:pt x="397702" y="619305"/>
                        <a:pt x="480818" y="619305"/>
                      </a:cubicBezTo>
                      <a:lnTo>
                        <a:pt x="514483" y="619305"/>
                      </a:lnTo>
                      <a:lnTo>
                        <a:pt x="514483" y="503476"/>
                      </a:lnTo>
                      <a:lnTo>
                        <a:pt x="504403" y="503476"/>
                      </a:lnTo>
                      <a:cubicBezTo>
                        <a:pt x="465603" y="503476"/>
                        <a:pt x="450482" y="488380"/>
                        <a:pt x="450482" y="451448"/>
                      </a:cubicBezTo>
                      <a:close/>
                      <a:moveTo>
                        <a:pt x="220153" y="498444"/>
                      </a:moveTo>
                      <a:cubicBezTo>
                        <a:pt x="162999" y="498444"/>
                        <a:pt x="120965" y="483348"/>
                        <a:pt x="120965" y="431320"/>
                      </a:cubicBezTo>
                      <a:cubicBezTo>
                        <a:pt x="120965" y="386033"/>
                        <a:pt x="156247" y="365905"/>
                        <a:pt x="216825" y="340651"/>
                      </a:cubicBezTo>
                      <a:lnTo>
                        <a:pt x="333986" y="292041"/>
                      </a:lnTo>
                      <a:lnTo>
                        <a:pt x="332750" y="454771"/>
                      </a:lnTo>
                      <a:cubicBezTo>
                        <a:pt x="312589" y="480025"/>
                        <a:pt x="272267" y="498444"/>
                        <a:pt x="220153" y="4984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grpSp>
            <p:nvGrpSpPr>
              <p:cNvPr id="40" name="Graphic 6">
                <a:extLst>
                  <a:ext uri="{FF2B5EF4-FFF2-40B4-BE49-F238E27FC236}">
                    <a16:creationId xmlns:a16="http://schemas.microsoft.com/office/drawing/2014/main" id="{7A61FA79-F72B-4F4E-A10D-C617B2DED234}"/>
                  </a:ext>
                </a:extLst>
              </p:cNvPr>
              <p:cNvGrpSpPr/>
              <p:nvPr/>
            </p:nvGrpSpPr>
            <p:grpSpPr>
              <a:xfrm>
                <a:off x="4586236" y="536515"/>
                <a:ext cx="981996" cy="979755"/>
                <a:chOff x="4586236" y="536515"/>
                <a:chExt cx="981996" cy="979755"/>
              </a:xfrm>
            </p:grpSpPr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FC886925-AA83-8F44-A0C1-624A06CA377F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4C650D90-388B-F643-B4CD-72D0493B06CC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</p:grp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C8CF03B-9338-8C46-BF89-CBC16CE46C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5DC2653-7ADD-5C44-88BF-2B91926D352E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606264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123E15-76CA-CC41-9639-810635F8D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25" name="Graphic 5">
            <a:extLst>
              <a:ext uri="{FF2B5EF4-FFF2-40B4-BE49-F238E27FC236}">
                <a16:creationId xmlns:a16="http://schemas.microsoft.com/office/drawing/2014/main" id="{4FAB42B9-A3C1-D240-B4EB-28C63917E8EB}"/>
              </a:ext>
            </a:extLst>
          </p:cNvPr>
          <p:cNvGrpSpPr/>
          <p:nvPr userDrawn="1"/>
        </p:nvGrpSpPr>
        <p:grpSpPr>
          <a:xfrm>
            <a:off x="360363" y="284509"/>
            <a:ext cx="1284576" cy="304281"/>
            <a:chOff x="5641037" y="4323785"/>
            <a:chExt cx="5167971" cy="1224153"/>
          </a:xfrm>
          <a:solidFill>
            <a:srgbClr val="000000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F9C6147-9851-D14A-AB6D-55092F89BD53}"/>
                </a:ext>
              </a:extLst>
            </p:cNvPr>
            <p:cNvSpPr/>
            <p:nvPr/>
          </p:nvSpPr>
          <p:spPr>
            <a:xfrm>
              <a:off x="9322986" y="4398168"/>
              <a:ext cx="509425" cy="229980"/>
            </a:xfrm>
            <a:custGeom>
              <a:avLst/>
              <a:gdLst>
                <a:gd name="connsiteX0" fmla="*/ 255766 w 509425"/>
                <a:gd name="connsiteY0" fmla="*/ 229981 h 229980"/>
                <a:gd name="connsiteX1" fmla="*/ 509426 w 509425"/>
                <a:gd name="connsiteY1" fmla="*/ 0 h 229980"/>
                <a:gd name="connsiteX2" fmla="*/ 374500 w 509425"/>
                <a:gd name="connsiteY2" fmla="*/ 0 h 229980"/>
                <a:gd name="connsiteX3" fmla="*/ 255898 w 509425"/>
                <a:gd name="connsiteY3" fmla="*/ 83582 h 229980"/>
                <a:gd name="connsiteX4" fmla="*/ 134925 w 509425"/>
                <a:gd name="connsiteY4" fmla="*/ 0 h 229980"/>
                <a:gd name="connsiteX5" fmla="*/ 0 w 509425"/>
                <a:gd name="connsiteY5" fmla="*/ 0 h 229980"/>
                <a:gd name="connsiteX6" fmla="*/ 255766 w 509425"/>
                <a:gd name="connsiteY6" fmla="*/ 229981 h 229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425" h="229980">
                  <a:moveTo>
                    <a:pt x="255766" y="229981"/>
                  </a:moveTo>
                  <a:cubicBezTo>
                    <a:pt x="393061" y="229981"/>
                    <a:pt x="490734" y="157964"/>
                    <a:pt x="509426" y="0"/>
                  </a:cubicBezTo>
                  <a:lnTo>
                    <a:pt x="374500" y="0"/>
                  </a:lnTo>
                  <a:cubicBezTo>
                    <a:pt x="360547" y="55721"/>
                    <a:pt x="327902" y="83582"/>
                    <a:pt x="255898" y="83582"/>
                  </a:cubicBezTo>
                  <a:cubicBezTo>
                    <a:pt x="183762" y="83582"/>
                    <a:pt x="146509" y="55721"/>
                    <a:pt x="134925" y="0"/>
                  </a:cubicBezTo>
                  <a:lnTo>
                    <a:pt x="0" y="0"/>
                  </a:lnTo>
                  <a:cubicBezTo>
                    <a:pt x="18429" y="157964"/>
                    <a:pt x="118471" y="229981"/>
                    <a:pt x="255766" y="229981"/>
                  </a:cubicBez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12280EA-B164-1F41-82CE-64D06F83A25C}"/>
                </a:ext>
              </a:extLst>
            </p:cNvPr>
            <p:cNvSpPr/>
            <p:nvPr/>
          </p:nvSpPr>
          <p:spPr>
            <a:xfrm>
              <a:off x="6638695" y="4700165"/>
              <a:ext cx="688711" cy="831609"/>
            </a:xfrm>
            <a:custGeom>
              <a:avLst/>
              <a:gdLst>
                <a:gd name="connsiteX0" fmla="*/ 169808 w 688711"/>
                <a:gd name="connsiteY0" fmla="*/ 570483 h 831609"/>
                <a:gd name="connsiteX1" fmla="*/ 169808 w 688711"/>
                <a:gd name="connsiteY1" fmla="*/ 0 h 831609"/>
                <a:gd name="connsiteX2" fmla="*/ 0 w 688711"/>
                <a:gd name="connsiteY2" fmla="*/ 0 h 831609"/>
                <a:gd name="connsiteX3" fmla="*/ 0 w 688711"/>
                <a:gd name="connsiteY3" fmla="*/ 831610 h 831609"/>
                <a:gd name="connsiteX4" fmla="*/ 176917 w 688711"/>
                <a:gd name="connsiteY4" fmla="*/ 831610 h 831609"/>
                <a:gd name="connsiteX5" fmla="*/ 518903 w 688711"/>
                <a:gd name="connsiteY5" fmla="*/ 251533 h 831609"/>
                <a:gd name="connsiteX6" fmla="*/ 518903 w 688711"/>
                <a:gd name="connsiteY6" fmla="*/ 831610 h 831609"/>
                <a:gd name="connsiteX7" fmla="*/ 688712 w 688711"/>
                <a:gd name="connsiteY7" fmla="*/ 831610 h 831609"/>
                <a:gd name="connsiteX8" fmla="*/ 688712 w 688711"/>
                <a:gd name="connsiteY8" fmla="*/ 0 h 831609"/>
                <a:gd name="connsiteX9" fmla="*/ 511927 w 688711"/>
                <a:gd name="connsiteY9" fmla="*/ 0 h 83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711" h="831609">
                  <a:moveTo>
                    <a:pt x="169808" y="570483"/>
                  </a:moveTo>
                  <a:lnTo>
                    <a:pt x="169808" y="0"/>
                  </a:lnTo>
                  <a:lnTo>
                    <a:pt x="0" y="0"/>
                  </a:lnTo>
                  <a:lnTo>
                    <a:pt x="0" y="831610"/>
                  </a:lnTo>
                  <a:lnTo>
                    <a:pt x="176917" y="831610"/>
                  </a:lnTo>
                  <a:lnTo>
                    <a:pt x="518903" y="251533"/>
                  </a:lnTo>
                  <a:lnTo>
                    <a:pt x="518903" y="831610"/>
                  </a:lnTo>
                  <a:lnTo>
                    <a:pt x="688712" y="831610"/>
                  </a:lnTo>
                  <a:lnTo>
                    <a:pt x="688712" y="0"/>
                  </a:lnTo>
                  <a:lnTo>
                    <a:pt x="511927" y="0"/>
                  </a:ln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3E06BC7-3F3D-5D41-A14F-394DB6472CA5}"/>
                </a:ext>
              </a:extLst>
            </p:cNvPr>
            <p:cNvSpPr/>
            <p:nvPr/>
          </p:nvSpPr>
          <p:spPr>
            <a:xfrm>
              <a:off x="5641037" y="4323785"/>
              <a:ext cx="828376" cy="1224153"/>
            </a:xfrm>
            <a:custGeom>
              <a:avLst/>
              <a:gdLst>
                <a:gd name="connsiteX0" fmla="*/ 463090 w 828376"/>
                <a:gd name="connsiteY0" fmla="*/ 383345 h 1224153"/>
                <a:gd name="connsiteX1" fmla="*/ 154407 w 828376"/>
                <a:gd name="connsiteY1" fmla="*/ 562073 h 1224153"/>
                <a:gd name="connsiteX2" fmla="*/ 418861 w 828376"/>
                <a:gd name="connsiteY2" fmla="*/ 232346 h 1224153"/>
                <a:gd name="connsiteX3" fmla="*/ 758610 w 828376"/>
                <a:gd name="connsiteY3" fmla="*/ 185824 h 1224153"/>
                <a:gd name="connsiteX4" fmla="*/ 744657 w 828376"/>
                <a:gd name="connsiteY4" fmla="*/ 0 h 1224153"/>
                <a:gd name="connsiteX5" fmla="*/ 390955 w 828376"/>
                <a:gd name="connsiteY5" fmla="*/ 48756 h 1224153"/>
                <a:gd name="connsiteX6" fmla="*/ 0 w 828376"/>
                <a:gd name="connsiteY6" fmla="*/ 694541 h 1224153"/>
                <a:gd name="connsiteX7" fmla="*/ 418861 w 828376"/>
                <a:gd name="connsiteY7" fmla="*/ 1224154 h 1224153"/>
                <a:gd name="connsiteX8" fmla="*/ 828376 w 828376"/>
                <a:gd name="connsiteY8" fmla="*/ 780488 h 1224153"/>
                <a:gd name="connsiteX9" fmla="*/ 463090 w 828376"/>
                <a:gd name="connsiteY9" fmla="*/ 383345 h 1224153"/>
                <a:gd name="connsiteX10" fmla="*/ 418861 w 828376"/>
                <a:gd name="connsiteY10" fmla="*/ 1040695 h 1224153"/>
                <a:gd name="connsiteX11" fmla="*/ 174547 w 828376"/>
                <a:gd name="connsiteY11" fmla="*/ 761959 h 1224153"/>
                <a:gd name="connsiteX12" fmla="*/ 174547 w 828376"/>
                <a:gd name="connsiteY12" fmla="*/ 676012 h 1224153"/>
                <a:gd name="connsiteX13" fmla="*/ 418861 w 828376"/>
                <a:gd name="connsiteY13" fmla="*/ 559839 h 1224153"/>
                <a:gd name="connsiteX14" fmla="*/ 653829 w 828376"/>
                <a:gd name="connsiteY14" fmla="*/ 780488 h 1224153"/>
                <a:gd name="connsiteX15" fmla="*/ 418861 w 828376"/>
                <a:gd name="connsiteY15" fmla="*/ 1040695 h 1224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8376" h="1224153">
                  <a:moveTo>
                    <a:pt x="463090" y="383345"/>
                  </a:moveTo>
                  <a:cubicBezTo>
                    <a:pt x="328560" y="383345"/>
                    <a:pt x="213775" y="445900"/>
                    <a:pt x="154407" y="562073"/>
                  </a:cubicBezTo>
                  <a:cubicBezTo>
                    <a:pt x="162832" y="373620"/>
                    <a:pt x="200348" y="261521"/>
                    <a:pt x="418861" y="232346"/>
                  </a:cubicBezTo>
                  <a:lnTo>
                    <a:pt x="758610" y="185824"/>
                  </a:lnTo>
                  <a:lnTo>
                    <a:pt x="744657" y="0"/>
                  </a:lnTo>
                  <a:lnTo>
                    <a:pt x="390955" y="48756"/>
                  </a:lnTo>
                  <a:cubicBezTo>
                    <a:pt x="86089" y="90547"/>
                    <a:pt x="0" y="325258"/>
                    <a:pt x="0" y="694541"/>
                  </a:cubicBezTo>
                  <a:cubicBezTo>
                    <a:pt x="0" y="1017434"/>
                    <a:pt x="146641" y="1224154"/>
                    <a:pt x="418861" y="1224154"/>
                  </a:cubicBezTo>
                  <a:cubicBezTo>
                    <a:pt x="684105" y="1224154"/>
                    <a:pt x="828376" y="1019668"/>
                    <a:pt x="828376" y="780488"/>
                  </a:cubicBezTo>
                  <a:cubicBezTo>
                    <a:pt x="828376" y="541309"/>
                    <a:pt x="667914" y="383345"/>
                    <a:pt x="463090" y="383345"/>
                  </a:cubicBezTo>
                  <a:close/>
                  <a:moveTo>
                    <a:pt x="418861" y="1040695"/>
                  </a:moveTo>
                  <a:cubicBezTo>
                    <a:pt x="265244" y="1040695"/>
                    <a:pt x="174547" y="929253"/>
                    <a:pt x="174547" y="761959"/>
                  </a:cubicBezTo>
                  <a:lnTo>
                    <a:pt x="174547" y="676012"/>
                  </a:lnTo>
                  <a:cubicBezTo>
                    <a:pt x="207061" y="610960"/>
                    <a:pt x="293282" y="559839"/>
                    <a:pt x="418861" y="559839"/>
                  </a:cubicBezTo>
                  <a:cubicBezTo>
                    <a:pt x="551549" y="559839"/>
                    <a:pt x="653829" y="622525"/>
                    <a:pt x="653829" y="780488"/>
                  </a:cubicBezTo>
                  <a:cubicBezTo>
                    <a:pt x="653829" y="938452"/>
                    <a:pt x="572479" y="1040695"/>
                    <a:pt x="418861" y="1040695"/>
                  </a:cubicBez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A8B8248-F7BB-B946-8BE8-6151CD15F854}"/>
                </a:ext>
              </a:extLst>
            </p:cNvPr>
            <p:cNvSpPr/>
            <p:nvPr/>
          </p:nvSpPr>
          <p:spPr>
            <a:xfrm>
              <a:off x="10138857" y="4700165"/>
              <a:ext cx="670151" cy="831609"/>
            </a:xfrm>
            <a:custGeom>
              <a:avLst/>
              <a:gdLst>
                <a:gd name="connsiteX0" fmla="*/ 500211 w 670151"/>
                <a:gd name="connsiteY0" fmla="*/ 0 h 831609"/>
                <a:gd name="connsiteX1" fmla="*/ 500211 w 670151"/>
                <a:gd name="connsiteY1" fmla="*/ 311197 h 831609"/>
                <a:gd name="connsiteX2" fmla="*/ 169809 w 670151"/>
                <a:gd name="connsiteY2" fmla="*/ 311197 h 831609"/>
                <a:gd name="connsiteX3" fmla="*/ 169809 w 670151"/>
                <a:gd name="connsiteY3" fmla="*/ 0 h 831609"/>
                <a:gd name="connsiteX4" fmla="*/ 0 w 670151"/>
                <a:gd name="connsiteY4" fmla="*/ 0 h 831609"/>
                <a:gd name="connsiteX5" fmla="*/ 0 w 670151"/>
                <a:gd name="connsiteY5" fmla="*/ 831610 h 831609"/>
                <a:gd name="connsiteX6" fmla="*/ 169809 w 670151"/>
                <a:gd name="connsiteY6" fmla="*/ 831610 h 831609"/>
                <a:gd name="connsiteX7" fmla="*/ 169809 w 670151"/>
                <a:gd name="connsiteY7" fmla="*/ 483091 h 831609"/>
                <a:gd name="connsiteX8" fmla="*/ 500211 w 670151"/>
                <a:gd name="connsiteY8" fmla="*/ 483091 h 831609"/>
                <a:gd name="connsiteX9" fmla="*/ 500211 w 670151"/>
                <a:gd name="connsiteY9" fmla="*/ 831610 h 831609"/>
                <a:gd name="connsiteX10" fmla="*/ 670151 w 670151"/>
                <a:gd name="connsiteY10" fmla="*/ 831610 h 831609"/>
                <a:gd name="connsiteX11" fmla="*/ 670151 w 670151"/>
                <a:gd name="connsiteY11" fmla="*/ 0 h 83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0151" h="831609">
                  <a:moveTo>
                    <a:pt x="500211" y="0"/>
                  </a:moveTo>
                  <a:lnTo>
                    <a:pt x="500211" y="311197"/>
                  </a:lnTo>
                  <a:lnTo>
                    <a:pt x="169809" y="311197"/>
                  </a:lnTo>
                  <a:lnTo>
                    <a:pt x="169809" y="0"/>
                  </a:lnTo>
                  <a:lnTo>
                    <a:pt x="0" y="0"/>
                  </a:lnTo>
                  <a:lnTo>
                    <a:pt x="0" y="831610"/>
                  </a:lnTo>
                  <a:lnTo>
                    <a:pt x="169809" y="831610"/>
                  </a:lnTo>
                  <a:lnTo>
                    <a:pt x="169809" y="483091"/>
                  </a:lnTo>
                  <a:lnTo>
                    <a:pt x="500211" y="483091"/>
                  </a:lnTo>
                  <a:lnTo>
                    <a:pt x="500211" y="831610"/>
                  </a:lnTo>
                  <a:lnTo>
                    <a:pt x="670151" y="831610"/>
                  </a:lnTo>
                  <a:lnTo>
                    <a:pt x="670151" y="0"/>
                  </a:ln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9BC24A7-F9A5-AC46-BAF8-B0529BC5140B}"/>
                </a:ext>
              </a:extLst>
            </p:cNvPr>
            <p:cNvSpPr/>
            <p:nvPr/>
          </p:nvSpPr>
          <p:spPr>
            <a:xfrm>
              <a:off x="9236634" y="4700165"/>
              <a:ext cx="688712" cy="831609"/>
            </a:xfrm>
            <a:custGeom>
              <a:avLst/>
              <a:gdLst>
                <a:gd name="connsiteX0" fmla="*/ 169940 w 688712"/>
                <a:gd name="connsiteY0" fmla="*/ 570483 h 831609"/>
                <a:gd name="connsiteX1" fmla="*/ 169940 w 688712"/>
                <a:gd name="connsiteY1" fmla="*/ 0 h 831609"/>
                <a:gd name="connsiteX2" fmla="*/ 0 w 688712"/>
                <a:gd name="connsiteY2" fmla="*/ 0 h 831609"/>
                <a:gd name="connsiteX3" fmla="*/ 0 w 688712"/>
                <a:gd name="connsiteY3" fmla="*/ 831610 h 831609"/>
                <a:gd name="connsiteX4" fmla="*/ 176917 w 688712"/>
                <a:gd name="connsiteY4" fmla="*/ 831610 h 831609"/>
                <a:gd name="connsiteX5" fmla="*/ 518904 w 688712"/>
                <a:gd name="connsiteY5" fmla="*/ 251533 h 831609"/>
                <a:gd name="connsiteX6" fmla="*/ 518904 w 688712"/>
                <a:gd name="connsiteY6" fmla="*/ 831610 h 831609"/>
                <a:gd name="connsiteX7" fmla="*/ 688712 w 688712"/>
                <a:gd name="connsiteY7" fmla="*/ 831610 h 831609"/>
                <a:gd name="connsiteX8" fmla="*/ 688712 w 688712"/>
                <a:gd name="connsiteY8" fmla="*/ 0 h 831609"/>
                <a:gd name="connsiteX9" fmla="*/ 511927 w 688712"/>
                <a:gd name="connsiteY9" fmla="*/ 0 h 83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712" h="831609">
                  <a:moveTo>
                    <a:pt x="169940" y="570483"/>
                  </a:moveTo>
                  <a:lnTo>
                    <a:pt x="169940" y="0"/>
                  </a:lnTo>
                  <a:lnTo>
                    <a:pt x="0" y="0"/>
                  </a:lnTo>
                  <a:lnTo>
                    <a:pt x="0" y="831610"/>
                  </a:lnTo>
                  <a:lnTo>
                    <a:pt x="176917" y="831610"/>
                  </a:lnTo>
                  <a:lnTo>
                    <a:pt x="518904" y="251533"/>
                  </a:lnTo>
                  <a:lnTo>
                    <a:pt x="518904" y="831610"/>
                  </a:lnTo>
                  <a:lnTo>
                    <a:pt x="688712" y="831610"/>
                  </a:lnTo>
                  <a:lnTo>
                    <a:pt x="688712" y="0"/>
                  </a:lnTo>
                  <a:lnTo>
                    <a:pt x="511927" y="0"/>
                  </a:ln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32F15-01BB-5845-9101-212824ED236E}"/>
                </a:ext>
              </a:extLst>
            </p:cNvPr>
            <p:cNvSpPr/>
            <p:nvPr/>
          </p:nvSpPr>
          <p:spPr>
            <a:xfrm>
              <a:off x="7474706" y="4700165"/>
              <a:ext cx="716750" cy="843306"/>
            </a:xfrm>
            <a:custGeom>
              <a:avLst/>
              <a:gdLst>
                <a:gd name="connsiteX0" fmla="*/ 158225 w 716750"/>
                <a:gd name="connsiteY0" fmla="*/ 508717 h 843306"/>
                <a:gd name="connsiteX1" fmla="*/ 62790 w 716750"/>
                <a:gd name="connsiteY1" fmla="*/ 641186 h 843306"/>
                <a:gd name="connsiteX2" fmla="*/ 0 w 716750"/>
                <a:gd name="connsiteY2" fmla="*/ 634221 h 843306"/>
                <a:gd name="connsiteX3" fmla="*/ 0 w 716750"/>
                <a:gd name="connsiteY3" fmla="*/ 827010 h 843306"/>
                <a:gd name="connsiteX4" fmla="*/ 83720 w 716750"/>
                <a:gd name="connsiteY4" fmla="*/ 843306 h 843306"/>
                <a:gd name="connsiteX5" fmla="*/ 265244 w 716750"/>
                <a:gd name="connsiteY5" fmla="*/ 713203 h 843306"/>
                <a:gd name="connsiteX6" fmla="*/ 304866 w 716750"/>
                <a:gd name="connsiteY6" fmla="*/ 511083 h 843306"/>
                <a:gd name="connsiteX7" fmla="*/ 321189 w 716750"/>
                <a:gd name="connsiteY7" fmla="*/ 176625 h 843306"/>
                <a:gd name="connsiteX8" fmla="*/ 546942 w 716750"/>
                <a:gd name="connsiteY8" fmla="*/ 176625 h 843306"/>
                <a:gd name="connsiteX9" fmla="*/ 546942 w 716750"/>
                <a:gd name="connsiteY9" fmla="*/ 831741 h 843306"/>
                <a:gd name="connsiteX10" fmla="*/ 716750 w 716750"/>
                <a:gd name="connsiteY10" fmla="*/ 831741 h 843306"/>
                <a:gd name="connsiteX11" fmla="*/ 716750 w 716750"/>
                <a:gd name="connsiteY11" fmla="*/ 0 h 843306"/>
                <a:gd name="connsiteX12" fmla="*/ 179287 w 716750"/>
                <a:gd name="connsiteY12" fmla="*/ 0 h 843306"/>
                <a:gd name="connsiteX13" fmla="*/ 158225 w 716750"/>
                <a:gd name="connsiteY13" fmla="*/ 508717 h 8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6750" h="843306">
                  <a:moveTo>
                    <a:pt x="158225" y="508717"/>
                  </a:moveTo>
                  <a:cubicBezTo>
                    <a:pt x="139664" y="601629"/>
                    <a:pt x="113996" y="641186"/>
                    <a:pt x="62790" y="641186"/>
                  </a:cubicBezTo>
                  <a:cubicBezTo>
                    <a:pt x="34883" y="641186"/>
                    <a:pt x="13953" y="638820"/>
                    <a:pt x="0" y="634221"/>
                  </a:cubicBezTo>
                  <a:lnTo>
                    <a:pt x="0" y="827010"/>
                  </a:lnTo>
                  <a:cubicBezTo>
                    <a:pt x="20930" y="836341"/>
                    <a:pt x="39622" y="843306"/>
                    <a:pt x="83720" y="843306"/>
                  </a:cubicBezTo>
                  <a:cubicBezTo>
                    <a:pt x="172178" y="843306"/>
                    <a:pt x="234968" y="792184"/>
                    <a:pt x="265244" y="713203"/>
                  </a:cubicBezTo>
                  <a:cubicBezTo>
                    <a:pt x="283804" y="664447"/>
                    <a:pt x="295520" y="597030"/>
                    <a:pt x="304866" y="511083"/>
                  </a:cubicBezTo>
                  <a:cubicBezTo>
                    <a:pt x="314212" y="425136"/>
                    <a:pt x="321189" y="311328"/>
                    <a:pt x="321189" y="176625"/>
                  </a:cubicBezTo>
                  <a:lnTo>
                    <a:pt x="546942" y="176625"/>
                  </a:lnTo>
                  <a:lnTo>
                    <a:pt x="546942" y="831741"/>
                  </a:lnTo>
                  <a:lnTo>
                    <a:pt x="716750" y="831741"/>
                  </a:lnTo>
                  <a:lnTo>
                    <a:pt x="716750" y="0"/>
                  </a:lnTo>
                  <a:lnTo>
                    <a:pt x="179287" y="0"/>
                  </a:lnTo>
                  <a:cubicBezTo>
                    <a:pt x="179287" y="250876"/>
                    <a:pt x="172310" y="415805"/>
                    <a:pt x="158225" y="508717"/>
                  </a:cubicBez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5A6084F-E2F6-634E-AA4F-F6F9AC191650}"/>
                </a:ext>
              </a:extLst>
            </p:cNvPr>
            <p:cNvSpPr/>
            <p:nvPr/>
          </p:nvSpPr>
          <p:spPr>
            <a:xfrm>
              <a:off x="8369426" y="4681504"/>
              <a:ext cx="712142" cy="864201"/>
            </a:xfrm>
            <a:custGeom>
              <a:avLst/>
              <a:gdLst>
                <a:gd name="connsiteX0" fmla="*/ 623553 w 712142"/>
                <a:gd name="connsiteY0" fmla="*/ 624890 h 864201"/>
                <a:gd name="connsiteX1" fmla="*/ 625923 w 712142"/>
                <a:gd name="connsiteY1" fmla="*/ 295032 h 864201"/>
                <a:gd name="connsiteX2" fmla="*/ 314080 w 712142"/>
                <a:gd name="connsiteY2" fmla="*/ 0 h 864201"/>
                <a:gd name="connsiteX3" fmla="*/ 0 w 712142"/>
                <a:gd name="connsiteY3" fmla="*/ 278736 h 864201"/>
                <a:gd name="connsiteX4" fmla="*/ 162832 w 712142"/>
                <a:gd name="connsiteY4" fmla="*/ 278736 h 864201"/>
                <a:gd name="connsiteX5" fmla="*/ 314080 w 712142"/>
                <a:gd name="connsiteY5" fmla="*/ 176494 h 864201"/>
                <a:gd name="connsiteX6" fmla="*/ 461906 w 712142"/>
                <a:gd name="connsiteY6" fmla="*/ 287673 h 864201"/>
                <a:gd name="connsiteX7" fmla="*/ 253660 w 712142"/>
                <a:gd name="connsiteY7" fmla="*/ 371649 h 864201"/>
                <a:gd name="connsiteX8" fmla="*/ 4739 w 712142"/>
                <a:gd name="connsiteY8" fmla="*/ 631855 h 864201"/>
                <a:gd name="connsiteX9" fmla="*/ 242076 w 712142"/>
                <a:gd name="connsiteY9" fmla="*/ 864201 h 864201"/>
                <a:gd name="connsiteX10" fmla="*/ 475727 w 712142"/>
                <a:gd name="connsiteY10" fmla="*/ 712808 h 864201"/>
                <a:gd name="connsiteX11" fmla="*/ 665544 w 712142"/>
                <a:gd name="connsiteY11" fmla="*/ 857236 h 864201"/>
                <a:gd name="connsiteX12" fmla="*/ 712143 w 712142"/>
                <a:gd name="connsiteY12" fmla="*/ 857236 h 864201"/>
                <a:gd name="connsiteX13" fmla="*/ 712143 w 712142"/>
                <a:gd name="connsiteY13" fmla="*/ 696907 h 864201"/>
                <a:gd name="connsiteX14" fmla="*/ 698190 w 712142"/>
                <a:gd name="connsiteY14" fmla="*/ 696907 h 864201"/>
                <a:gd name="connsiteX15" fmla="*/ 623553 w 712142"/>
                <a:gd name="connsiteY15" fmla="*/ 624890 h 864201"/>
                <a:gd name="connsiteX16" fmla="*/ 304734 w 712142"/>
                <a:gd name="connsiteY16" fmla="*/ 689942 h 864201"/>
                <a:gd name="connsiteX17" fmla="*/ 167439 w 712142"/>
                <a:gd name="connsiteY17" fmla="*/ 597030 h 864201"/>
                <a:gd name="connsiteX18" fmla="*/ 300127 w 712142"/>
                <a:gd name="connsiteY18" fmla="*/ 471526 h 864201"/>
                <a:gd name="connsiteX19" fmla="*/ 462301 w 712142"/>
                <a:gd name="connsiteY19" fmla="*/ 404240 h 864201"/>
                <a:gd name="connsiteX20" fmla="*/ 460590 w 712142"/>
                <a:gd name="connsiteY20" fmla="*/ 629490 h 864201"/>
                <a:gd name="connsiteX21" fmla="*/ 304734 w 712142"/>
                <a:gd name="connsiteY21" fmla="*/ 689942 h 864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2142" h="864201">
                  <a:moveTo>
                    <a:pt x="623553" y="624890"/>
                  </a:moveTo>
                  <a:lnTo>
                    <a:pt x="625923" y="295032"/>
                  </a:lnTo>
                  <a:cubicBezTo>
                    <a:pt x="628292" y="85947"/>
                    <a:pt x="500211" y="0"/>
                    <a:pt x="314080" y="0"/>
                  </a:cubicBezTo>
                  <a:cubicBezTo>
                    <a:pt x="160463" y="0"/>
                    <a:pt x="20930" y="83581"/>
                    <a:pt x="0" y="278736"/>
                  </a:cubicBezTo>
                  <a:lnTo>
                    <a:pt x="162832" y="278736"/>
                  </a:lnTo>
                  <a:cubicBezTo>
                    <a:pt x="172178" y="202120"/>
                    <a:pt x="232598" y="176494"/>
                    <a:pt x="314080" y="176494"/>
                  </a:cubicBezTo>
                  <a:cubicBezTo>
                    <a:pt x="397537" y="176494"/>
                    <a:pt x="453481" y="202120"/>
                    <a:pt x="461906" y="287673"/>
                  </a:cubicBezTo>
                  <a:lnTo>
                    <a:pt x="253660" y="371649"/>
                  </a:lnTo>
                  <a:cubicBezTo>
                    <a:pt x="111758" y="429735"/>
                    <a:pt x="4739" y="494787"/>
                    <a:pt x="4739" y="631855"/>
                  </a:cubicBezTo>
                  <a:cubicBezTo>
                    <a:pt x="4739" y="773523"/>
                    <a:pt x="83852" y="864201"/>
                    <a:pt x="242076" y="864201"/>
                  </a:cubicBezTo>
                  <a:cubicBezTo>
                    <a:pt x="351333" y="864201"/>
                    <a:pt x="420441" y="812948"/>
                    <a:pt x="475727" y="712808"/>
                  </a:cubicBezTo>
                  <a:cubicBezTo>
                    <a:pt x="484021" y="812948"/>
                    <a:pt x="550496" y="857236"/>
                    <a:pt x="665544" y="857236"/>
                  </a:cubicBezTo>
                  <a:lnTo>
                    <a:pt x="712143" y="857236"/>
                  </a:lnTo>
                  <a:lnTo>
                    <a:pt x="712143" y="696907"/>
                  </a:lnTo>
                  <a:lnTo>
                    <a:pt x="698190" y="696907"/>
                  </a:lnTo>
                  <a:cubicBezTo>
                    <a:pt x="644483" y="696907"/>
                    <a:pt x="623553" y="676011"/>
                    <a:pt x="623553" y="624890"/>
                  </a:cubicBezTo>
                  <a:close/>
                  <a:moveTo>
                    <a:pt x="304734" y="689942"/>
                  </a:moveTo>
                  <a:cubicBezTo>
                    <a:pt x="225622" y="689942"/>
                    <a:pt x="167439" y="669046"/>
                    <a:pt x="167439" y="597030"/>
                  </a:cubicBezTo>
                  <a:cubicBezTo>
                    <a:pt x="167439" y="534343"/>
                    <a:pt x="216276" y="506483"/>
                    <a:pt x="300127" y="471526"/>
                  </a:cubicBezTo>
                  <a:lnTo>
                    <a:pt x="462301" y="404240"/>
                  </a:lnTo>
                  <a:lnTo>
                    <a:pt x="460590" y="629490"/>
                  </a:lnTo>
                  <a:cubicBezTo>
                    <a:pt x="432683" y="664447"/>
                    <a:pt x="376870" y="689942"/>
                    <a:pt x="304734" y="689942"/>
                  </a:cubicBezTo>
                  <a:close/>
                </a:path>
              </a:pathLst>
            </a:custGeom>
            <a:solidFill>
              <a:srgbClr val="000000"/>
            </a:solidFill>
            <a:ln w="13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/>
            </a:p>
          </p:txBody>
        </p:sp>
      </p:grpSp>
    </p:spTree>
    <p:extLst>
      <p:ext uri="{BB962C8B-B14F-4D97-AF65-F5344CB8AC3E}">
        <p14:creationId xmlns:p14="http://schemas.microsoft.com/office/powerpoint/2010/main" val="193124695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7B5B5D1-5A5B-0E47-80C9-E95951AA80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13FAD0D-122B-884C-87C3-B0E9D79F8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01914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4DC7D86-FCFC-4141-A2D4-6F38885FF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54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85466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21EF4B3-B624-3041-A342-C6957486A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1777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Пользовательский макет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6689B45-03D7-0944-B08F-36B744ABC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32968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Пользовательский маке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0D37E4-DFAA-054F-A7B9-389D7B76F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319344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Пользовательский маке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5D3902-8FE2-1741-AEAA-10CA70620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906405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3">
            <a:extLst>
              <a:ext uri="{FF2B5EF4-FFF2-40B4-BE49-F238E27FC236}">
                <a16:creationId xmlns:a16="http://schemas.microsoft.com/office/drawing/2014/main" id="{21B9F8A9-2801-9C4A-B8F5-A56654240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253001"/>
            <a:ext cx="558138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51858426-CF7C-8E4E-8DD7-F283587BF2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363" y="3256845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6CF61F74-0873-5348-BE36-D619E2C8D7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9275" y="1253001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О3</a:t>
            </a:r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AECB0370-EA8C-084A-8A41-77AEC86787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9721" y="3256846"/>
            <a:ext cx="3824288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359EDD0A-4DF3-BD44-8CAB-2C43736009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3134" y="1268995"/>
            <a:ext cx="3599079" cy="7579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1BCE453-7893-1543-9EEF-B8EBF7820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9721" y="1268994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9763252D-D805-CB49-8DC9-18CA013199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9275" y="3252283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6426CB11-88C5-3A42-A295-7120FA790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3134" y="3268277"/>
            <a:ext cx="3599079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020471C-EFA1-3041-9F7B-0B37C2ABF0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9721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US" dirty="0"/>
              <a:t>04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r>
              <a:rPr lang="en-US" dirty="0"/>
              <a:t>05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06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0172D42D-2C23-FF42-9948-3845673F2E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9721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07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08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10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12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14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59D5DC8-5BF3-ED40-A1DA-79608BFF3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6912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16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20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b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21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B5A4C9C8-9BD1-0348-9FE1-A6E0FC28ED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6912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23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27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29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30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086ED6-7054-AF4E-A4D8-88E8A451A4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8BA1543-7AA8-A048-97A8-2D260DFB595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0C5C0A6-6083-484F-834D-F7D996B984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BF057-7F29-E144-AA64-2FE0E06F0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5805091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0950" y="1220420"/>
            <a:ext cx="6119812" cy="1720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101" y="4148943"/>
            <a:ext cx="6119812" cy="1834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CCB861CA-4A82-8147-90EA-B3624AF4D3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1450" y="3251743"/>
            <a:ext cx="7199311" cy="5135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31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1692718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1400" y="1586294"/>
            <a:ext cx="5046665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2086497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6559FB5A-D0E5-D84A-9858-569B910037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87419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9F3D996-EBB5-6F49-93AF-D07FC01D46CB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87AB065-5FE1-4741-AB13-7648478CB02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45B33-FB1D-934F-ADA9-239FC78FDDC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36578-7223-414A-B61C-C1540924D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E3C97F8E-B38C-144E-8F6E-23CE03AFEB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54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1400" b="0" i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50967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9953A-3CE2-7044-8DC5-35FA4A666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1" name="Текст 24">
            <a:extLst>
              <a:ext uri="{FF2B5EF4-FFF2-40B4-BE49-F238E27FC236}">
                <a16:creationId xmlns:a16="http://schemas.microsoft.com/office/drawing/2014/main" id="{A9495DCD-9F8C-0E45-BE6B-658C281C70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52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087504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921625" y="0"/>
            <a:ext cx="360045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52" y="2066322"/>
            <a:ext cx="2119755" cy="3407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140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F4780-F2BE-1F4D-A230-65519C2DE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8932061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2881313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5109346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5392305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1037" y="228599"/>
            <a:ext cx="3960813" cy="995363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en-US" dirty="0"/>
              <a:t/>
            </a:r>
            <a:br>
              <a:rPr lang="en-US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4417792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809897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166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9A345701-2B5B-3743-A923-E4C13F051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19237" y="810133"/>
            <a:ext cx="2271236" cy="4922040"/>
          </a:xfrm>
          <a:custGeom>
            <a:avLst/>
            <a:gdLst>
              <a:gd name="connsiteX0" fmla="*/ 221786 w 2271236"/>
              <a:gd name="connsiteY0" fmla="*/ 0 h 4922040"/>
              <a:gd name="connsiteX1" fmla="*/ 502989 w 2271236"/>
              <a:gd name="connsiteY1" fmla="*/ 0 h 4922040"/>
              <a:gd name="connsiteX2" fmla="*/ 502989 w 2271236"/>
              <a:gd name="connsiteY2" fmla="*/ 58275 h 4922040"/>
              <a:gd name="connsiteX3" fmla="*/ 625404 w 2271236"/>
              <a:gd name="connsiteY3" fmla="*/ 180690 h 4922040"/>
              <a:gd name="connsiteX4" fmla="*/ 1634187 w 2271236"/>
              <a:gd name="connsiteY4" fmla="*/ 180690 h 4922040"/>
              <a:gd name="connsiteX5" fmla="*/ 1756602 w 2271236"/>
              <a:gd name="connsiteY5" fmla="*/ 58275 h 4922040"/>
              <a:gd name="connsiteX6" fmla="*/ 1756602 w 2271236"/>
              <a:gd name="connsiteY6" fmla="*/ 0 h 4922040"/>
              <a:gd name="connsiteX7" fmla="*/ 2049450 w 2271236"/>
              <a:gd name="connsiteY7" fmla="*/ 0 h 4922040"/>
              <a:gd name="connsiteX8" fmla="*/ 2271236 w 2271236"/>
              <a:gd name="connsiteY8" fmla="*/ 221786 h 4922040"/>
              <a:gd name="connsiteX9" fmla="*/ 2271236 w 2271236"/>
              <a:gd name="connsiteY9" fmla="*/ 4700254 h 4922040"/>
              <a:gd name="connsiteX10" fmla="*/ 2049450 w 2271236"/>
              <a:gd name="connsiteY10" fmla="*/ 4922040 h 4922040"/>
              <a:gd name="connsiteX11" fmla="*/ 221786 w 2271236"/>
              <a:gd name="connsiteY11" fmla="*/ 4922040 h 4922040"/>
              <a:gd name="connsiteX12" fmla="*/ 0 w 2271236"/>
              <a:gd name="connsiteY12" fmla="*/ 4700254 h 4922040"/>
              <a:gd name="connsiteX13" fmla="*/ 0 w 2271236"/>
              <a:gd name="connsiteY13" fmla="*/ 221786 h 4922040"/>
              <a:gd name="connsiteX14" fmla="*/ 221786 w 2271236"/>
              <a:gd name="connsiteY14" fmla="*/ 0 h 4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236" h="4922040">
                <a:moveTo>
                  <a:pt x="221786" y="0"/>
                </a:moveTo>
                <a:lnTo>
                  <a:pt x="502989" y="0"/>
                </a:lnTo>
                <a:lnTo>
                  <a:pt x="502989" y="58275"/>
                </a:lnTo>
                <a:cubicBezTo>
                  <a:pt x="502989" y="125883"/>
                  <a:pt x="557796" y="180690"/>
                  <a:pt x="625404" y="180690"/>
                </a:cubicBezTo>
                <a:lnTo>
                  <a:pt x="1634187" y="180690"/>
                </a:lnTo>
                <a:cubicBezTo>
                  <a:pt x="1701795" y="180690"/>
                  <a:pt x="1756602" y="125883"/>
                  <a:pt x="1756602" y="58275"/>
                </a:cubicBezTo>
                <a:lnTo>
                  <a:pt x="1756602" y="0"/>
                </a:lnTo>
                <a:lnTo>
                  <a:pt x="2049450" y="0"/>
                </a:lnTo>
                <a:cubicBezTo>
                  <a:pt x="2171939" y="0"/>
                  <a:pt x="2271236" y="99297"/>
                  <a:pt x="2271236" y="221786"/>
                </a:cubicBezTo>
                <a:lnTo>
                  <a:pt x="2271236" y="4700254"/>
                </a:lnTo>
                <a:cubicBezTo>
                  <a:pt x="2271236" y="4822743"/>
                  <a:pt x="2171939" y="4922040"/>
                  <a:pt x="2049450" y="4922040"/>
                </a:cubicBezTo>
                <a:lnTo>
                  <a:pt x="221786" y="4922040"/>
                </a:lnTo>
                <a:cubicBezTo>
                  <a:pt x="99297" y="4922040"/>
                  <a:pt x="0" y="4822743"/>
                  <a:pt x="0" y="4700254"/>
                </a:cubicBezTo>
                <a:lnTo>
                  <a:pt x="0" y="221786"/>
                </a:lnTo>
                <a:cubicBezTo>
                  <a:pt x="0" y="99297"/>
                  <a:pt x="99297" y="0"/>
                  <a:pt x="2217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8A4AAD4-DD7C-A649-8D8A-906F4FACAB6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FF3D0CD-EFE0-8A4F-BF95-2BC6EA550D0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CEFBA52-F0B3-E743-A7CA-5D7CD55BE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7E16-1B04-E341-A0CC-F09B54E7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2486109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809897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07086" y="939800"/>
            <a:ext cx="2298927" cy="4756150"/>
          </a:xfrm>
          <a:prstGeom prst="roundRect">
            <a:avLst>
              <a:gd name="adj" fmla="val 9470"/>
            </a:avLst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7146525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95922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8036D8-02B1-A646-B101-4277E98435B7}"/>
              </a:ext>
            </a:extLst>
          </p:cNvPr>
          <p:cNvSpPr/>
          <p:nvPr userDrawn="1"/>
        </p:nvSpPr>
        <p:spPr>
          <a:xfrm>
            <a:off x="5806440" y="1973580"/>
            <a:ext cx="4846320" cy="3634740"/>
          </a:xfrm>
          <a:prstGeom prst="roundRect">
            <a:avLst>
              <a:gd name="adj" fmla="val 19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6440" y="1973580"/>
            <a:ext cx="4846320" cy="3634740"/>
          </a:xfrm>
          <a:prstGeom prst="roundRect">
            <a:avLst>
              <a:gd name="adj" fmla="val 1923"/>
            </a:avLst>
          </a:prstGeo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0835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5027835" y="1891494"/>
            <a:ext cx="5410504" cy="3602884"/>
          </a:xfrm>
          <a:prstGeom prst="roundRect">
            <a:avLst>
              <a:gd name="adj" fmla="val 54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045C2F9-4523-9541-A2B8-07250EE83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2418" y="2011363"/>
            <a:ext cx="5226970" cy="3321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168490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4756580" y="1830417"/>
            <a:ext cx="6373144" cy="36028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5F263C2-8005-0145-A440-E8B0099A793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96731" y="1865725"/>
            <a:ext cx="6284925" cy="35294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2369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0088" y="44412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0874" y="44412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C27796F8-DA26-D646-B6CF-E20196C2CB6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95473" y="44412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2" y="38441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2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6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E6DC524C-60DA-5A44-815E-E4E1DFECF6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807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231BAEF8-9A0E-4C49-B637-C5BA3BB15024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1BB5DA1-4736-0A4C-AB84-F16B321C9BE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36B8C22-B57B-6E4B-82AF-19CD1F9D8AB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0E025-9080-034B-AEE0-151AF9DDA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0936056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5111" y="20663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5984" y="2066322"/>
            <a:ext cx="3229397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1175" y="14692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61263" y="14692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111" y="44412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75985" y="4441222"/>
            <a:ext cx="322939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3" y="38441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1175" y="38441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61263" y="38441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77A554A-7DBE-1B4A-AB54-75BF3333DD74}"/>
              </a:ext>
            </a:extLst>
          </p:cNvPr>
          <p:cNvSpPr>
            <a:spLocks noGrp="1"/>
          </p:cNvSpPr>
          <p:nvPr>
            <p:ph type="dt" sz="half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261ED17-9BCF-604C-9546-98A1A69EC6D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62546D-9E8C-8544-9568-F11173B05269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626813-7C90-8445-9BC8-09C3B45D63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6483439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3F6552D-2F5C-6945-9E8B-C8023EBBB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3F27ED09-E00C-42B4-812A-B88B87C95C8B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аблица 6">
            <a:extLst>
              <a:ext uri="{FF2B5EF4-FFF2-40B4-BE49-F238E27FC236}">
                <a16:creationId xmlns:a16="http://schemas.microsoft.com/office/drawing/2014/main" id="{710417F5-2911-3C4F-A98F-AEEE1C0F443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60363" y="1223963"/>
            <a:ext cx="10801350" cy="46227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9754979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3">
            <a:extLst>
              <a:ext uri="{FF2B5EF4-FFF2-40B4-BE49-F238E27FC236}">
                <a16:creationId xmlns:a16="http://schemas.microsoft.com/office/drawing/2014/main" id="{5754DFE5-36CE-CE4A-BCA3-F69C55F293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CFCE9A71-CA21-DF45-931F-DA6936474E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0E73677-8CAD-8349-8D30-B6F2DB0FB3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15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3DC0F2E-B252-8744-9538-A1C7B0849D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15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О5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6C521555-7583-8D40-9707-D875913E3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1106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О7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DBC1D448-B51C-9E43-8CA3-0751AA8B97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11105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О8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68637" y="1830334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4287" y="1830334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60065" y="181944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8887" y="123559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4701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45343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66B516A-7550-B742-8231-0A30F3D580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37" y="4283609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D54AAF5-A639-7F48-849E-6C4093CFC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287" y="4283609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40D1C8AE-2AE5-3B45-9FB5-7C88FCA2C0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60065" y="4272718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B7D77C2-FEAE-CD4A-9713-48B16974D9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8887" y="3675613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0B619C5A-03A1-2E41-A4D6-019B19CD12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4701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A5BCC699-3029-2B40-9793-43486290DA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343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2BFCFD7-A0E2-5645-A945-49608DE09A1E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C308710-C149-0C4B-93BC-ED84522E9C86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7951DB5-5119-7544-838F-43224C1B8CA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0CD5D-EE9F-9F49-BBF9-0C056F3A5C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9573144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8" y="2857398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8" y="1234319"/>
            <a:ext cx="537946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4655183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97E6374-DFEA-F64D-BB2E-FD5A9AFBE92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BB4F9FD-A8D5-554B-9BD2-870B3155874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5EFA7B2-4CFA-4D45-BCE1-B8ED940F59C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BC8FB-C31E-1A4D-A834-B99C91092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F76C491-0EAC-0949-A05E-EE7E72A772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79978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3C97F4F9-07CD-F541-B6FD-19F7120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61297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4D463F1-6970-8845-9700-5B32E27023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8EC2F212-7E05-2943-83D0-6EDA5D9789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59922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14787146-1A29-FC4C-9D9E-BE998C337D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7A59FE8C-F422-4C48-A15A-9B109BBA7F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5132C2A-B96D-5145-8107-3C668F2B19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6BD270EA-62BB-D743-9543-C74FAE0B7D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CB56C84-2284-E449-83DE-9634B09D86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2E4AB1C-CCE6-0C48-B5A5-6E402177A6E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B8AD288-0082-9C43-A0FE-C3388F7F932F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843E9F-D28D-EE44-9252-3427CA59DEDC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FA921-8BAD-7C49-B8AD-4C4200055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21754C9A-E5B1-FD41-B916-D04D32974B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9707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7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41979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367615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9A4CF9E0-CD45-D345-B15E-3B4CB0690F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59922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EA508B7-997B-044C-8A70-2DBB895F12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4252" y="4946159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BD380D2E-3573-E841-8E4B-016CC2162C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9183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665BE4BC-C96D-AE41-87A5-FBF32ABA4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77FC05A8-2007-1F45-9C8E-BB4048D0EB3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7808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27328BA-3901-9E40-9F0F-BC4992AABA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49823CB-1CAB-BE42-916E-ADE88ABD3B6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7AE7A4B-A68D-C646-A497-6C8139A2A7C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D2549F-E1FB-EC42-B3C5-19267BF6BCE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B21AA-563E-0344-972B-7C00B0D30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7970904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10801350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4352366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0281354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8642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228600"/>
            <a:ext cx="9361487" cy="4524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C6492-919E-874B-8364-8B6D6AD4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771525"/>
            <a:ext cx="9361487" cy="452438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ru-RU" dirty="0" err="1"/>
              <a:t>подзаголов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5167394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0F2CA6-2684-AD4E-8F62-353128D35D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DB0D9-ABA4-164D-9BC3-9918C57587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5D823F-429F-D94B-BFF8-58EA2559589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E8354-469E-7F40-B036-CE5618FA7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3281027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6242146D-3E27-AD41-9ED8-D26F377D1F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FF3D7E83-0CA2-754B-8F35-1B947B02C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34077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E856C4-65CA-0140-9469-E8BD6EAF0A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448D4E6-5159-3244-98C5-2FD6AAEF4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5E72E8-52DC-7447-B8B2-CD5FF8F47CD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3E50869-6093-884B-B7D9-5B09CA333E8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4B02C61-FCEC-6B42-A0CD-888A1756405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94DB5-E87E-4442-A8B6-5841274D5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8244291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3">
            <a:extLst>
              <a:ext uri="{FF2B5EF4-FFF2-40B4-BE49-F238E27FC236}">
                <a16:creationId xmlns:a16="http://schemas.microsoft.com/office/drawing/2014/main" id="{21B9F8A9-2801-9C4A-B8F5-A56654240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253001"/>
            <a:ext cx="558138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51858426-CF7C-8E4E-8DD7-F283587BF2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363" y="3256845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6CF61F74-0873-5348-BE36-D619E2C8D7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9275" y="1253001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О3</a:t>
            </a:r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AECB0370-EA8C-084A-8A41-77AEC86787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9721" y="3256846"/>
            <a:ext cx="3824288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359EDD0A-4DF3-BD44-8CAB-2C43736009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3134" y="1268995"/>
            <a:ext cx="3599079" cy="7579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1BCE453-7893-1543-9EEF-B8EBF7820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9721" y="1268994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9763252D-D805-CB49-8DC9-18CA013199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9275" y="3252283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6426CB11-88C5-3A42-A295-7120FA790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3134" y="3268277"/>
            <a:ext cx="3599079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020471C-EFA1-3041-9F7B-0B37C2ABF0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9721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US" dirty="0"/>
              <a:t>04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r>
              <a:rPr lang="en-US" dirty="0"/>
              <a:t>05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06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0172D42D-2C23-FF42-9948-3845673F2E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9721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07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08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10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12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14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59D5DC8-5BF3-ED40-A1DA-79608BFF3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6912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16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20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b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21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B5A4C9C8-9BD1-0348-9FE1-A6E0FC28ED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6912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23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27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29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30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086ED6-7054-AF4E-A4D8-88E8A451A4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8BA1543-7AA8-A048-97A8-2D260DFB595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0C5C0A6-6083-484F-834D-F7D996B984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BF057-7F29-E144-AA64-2FE0E06F0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40844170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0950" y="1220420"/>
            <a:ext cx="6119812" cy="1720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101" y="4148943"/>
            <a:ext cx="6119812" cy="1834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CCB861CA-4A82-8147-90EA-B3624AF4D3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1450" y="3251743"/>
            <a:ext cx="7199311" cy="5135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31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1061751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1400" y="1586294"/>
            <a:ext cx="5046665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1784364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6559FB5A-D0E5-D84A-9858-569B910037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590576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9F3D996-EBB5-6F49-93AF-D07FC01D46CB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87AB065-5FE1-4741-AB13-7648478CB02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45B33-FB1D-934F-ADA9-239FC78FDDC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36578-7223-414A-B61C-C1540924D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E3C97F8E-B38C-144E-8F6E-23CE03AFEB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54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1400" b="0" i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9705435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9953A-3CE2-7044-8DC5-35FA4A666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1" name="Текст 24">
            <a:extLst>
              <a:ext uri="{FF2B5EF4-FFF2-40B4-BE49-F238E27FC236}">
                <a16:creationId xmlns:a16="http://schemas.microsoft.com/office/drawing/2014/main" id="{A9495DCD-9F8C-0E45-BE6B-658C281C70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52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127571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921625" y="0"/>
            <a:ext cx="360045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52" y="2066322"/>
            <a:ext cx="2119755" cy="3407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140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F4780-F2BE-1F4D-A230-65519C2DE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83254903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2881313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54632637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5392305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1037" y="228599"/>
            <a:ext cx="3960813" cy="995363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en-US" dirty="0"/>
              <a:t/>
            </a:r>
            <a:br>
              <a:rPr lang="en-US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0502069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809897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166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9A345701-2B5B-3743-A923-E4C13F051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19237" y="810133"/>
            <a:ext cx="2271236" cy="4922040"/>
          </a:xfrm>
          <a:custGeom>
            <a:avLst/>
            <a:gdLst>
              <a:gd name="connsiteX0" fmla="*/ 221786 w 2271236"/>
              <a:gd name="connsiteY0" fmla="*/ 0 h 4922040"/>
              <a:gd name="connsiteX1" fmla="*/ 502989 w 2271236"/>
              <a:gd name="connsiteY1" fmla="*/ 0 h 4922040"/>
              <a:gd name="connsiteX2" fmla="*/ 502989 w 2271236"/>
              <a:gd name="connsiteY2" fmla="*/ 58275 h 4922040"/>
              <a:gd name="connsiteX3" fmla="*/ 625404 w 2271236"/>
              <a:gd name="connsiteY3" fmla="*/ 180690 h 4922040"/>
              <a:gd name="connsiteX4" fmla="*/ 1634187 w 2271236"/>
              <a:gd name="connsiteY4" fmla="*/ 180690 h 4922040"/>
              <a:gd name="connsiteX5" fmla="*/ 1756602 w 2271236"/>
              <a:gd name="connsiteY5" fmla="*/ 58275 h 4922040"/>
              <a:gd name="connsiteX6" fmla="*/ 1756602 w 2271236"/>
              <a:gd name="connsiteY6" fmla="*/ 0 h 4922040"/>
              <a:gd name="connsiteX7" fmla="*/ 2049450 w 2271236"/>
              <a:gd name="connsiteY7" fmla="*/ 0 h 4922040"/>
              <a:gd name="connsiteX8" fmla="*/ 2271236 w 2271236"/>
              <a:gd name="connsiteY8" fmla="*/ 221786 h 4922040"/>
              <a:gd name="connsiteX9" fmla="*/ 2271236 w 2271236"/>
              <a:gd name="connsiteY9" fmla="*/ 4700254 h 4922040"/>
              <a:gd name="connsiteX10" fmla="*/ 2049450 w 2271236"/>
              <a:gd name="connsiteY10" fmla="*/ 4922040 h 4922040"/>
              <a:gd name="connsiteX11" fmla="*/ 221786 w 2271236"/>
              <a:gd name="connsiteY11" fmla="*/ 4922040 h 4922040"/>
              <a:gd name="connsiteX12" fmla="*/ 0 w 2271236"/>
              <a:gd name="connsiteY12" fmla="*/ 4700254 h 4922040"/>
              <a:gd name="connsiteX13" fmla="*/ 0 w 2271236"/>
              <a:gd name="connsiteY13" fmla="*/ 221786 h 4922040"/>
              <a:gd name="connsiteX14" fmla="*/ 221786 w 2271236"/>
              <a:gd name="connsiteY14" fmla="*/ 0 h 4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236" h="4922040">
                <a:moveTo>
                  <a:pt x="221786" y="0"/>
                </a:moveTo>
                <a:lnTo>
                  <a:pt x="502989" y="0"/>
                </a:lnTo>
                <a:lnTo>
                  <a:pt x="502989" y="58275"/>
                </a:lnTo>
                <a:cubicBezTo>
                  <a:pt x="502989" y="125883"/>
                  <a:pt x="557796" y="180690"/>
                  <a:pt x="625404" y="180690"/>
                </a:cubicBezTo>
                <a:lnTo>
                  <a:pt x="1634187" y="180690"/>
                </a:lnTo>
                <a:cubicBezTo>
                  <a:pt x="1701795" y="180690"/>
                  <a:pt x="1756602" y="125883"/>
                  <a:pt x="1756602" y="58275"/>
                </a:cubicBezTo>
                <a:lnTo>
                  <a:pt x="1756602" y="0"/>
                </a:lnTo>
                <a:lnTo>
                  <a:pt x="2049450" y="0"/>
                </a:lnTo>
                <a:cubicBezTo>
                  <a:pt x="2171939" y="0"/>
                  <a:pt x="2271236" y="99297"/>
                  <a:pt x="2271236" y="221786"/>
                </a:cubicBezTo>
                <a:lnTo>
                  <a:pt x="2271236" y="4700254"/>
                </a:lnTo>
                <a:cubicBezTo>
                  <a:pt x="2271236" y="4822743"/>
                  <a:pt x="2171939" y="4922040"/>
                  <a:pt x="2049450" y="4922040"/>
                </a:cubicBezTo>
                <a:lnTo>
                  <a:pt x="221786" y="4922040"/>
                </a:lnTo>
                <a:cubicBezTo>
                  <a:pt x="99297" y="4922040"/>
                  <a:pt x="0" y="4822743"/>
                  <a:pt x="0" y="4700254"/>
                </a:cubicBezTo>
                <a:lnTo>
                  <a:pt x="0" y="221786"/>
                </a:lnTo>
                <a:cubicBezTo>
                  <a:pt x="0" y="99297"/>
                  <a:pt x="99297" y="0"/>
                  <a:pt x="2217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8A4AAD4-DD7C-A649-8D8A-906F4FACAB6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FF3D0CD-EFE0-8A4F-BF95-2BC6EA550D0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CEFBA52-F0B3-E743-A7CA-5D7CD55BE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7E16-1B04-E341-A0CC-F09B54E7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8659426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809897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07086" y="939800"/>
            <a:ext cx="2298927" cy="4756150"/>
          </a:xfrm>
          <a:prstGeom prst="roundRect">
            <a:avLst>
              <a:gd name="adj" fmla="val 9470"/>
            </a:avLst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82124628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95922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8036D8-02B1-A646-B101-4277E98435B7}"/>
              </a:ext>
            </a:extLst>
          </p:cNvPr>
          <p:cNvSpPr/>
          <p:nvPr userDrawn="1"/>
        </p:nvSpPr>
        <p:spPr>
          <a:xfrm>
            <a:off x="5806440" y="1973580"/>
            <a:ext cx="4846320" cy="3634740"/>
          </a:xfrm>
          <a:prstGeom prst="roundRect">
            <a:avLst>
              <a:gd name="adj" fmla="val 19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6440" y="1973580"/>
            <a:ext cx="4846320" cy="3634740"/>
          </a:xfrm>
          <a:prstGeom prst="roundRect">
            <a:avLst>
              <a:gd name="adj" fmla="val 1923"/>
            </a:avLst>
          </a:prstGeo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197426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5027835" y="1891494"/>
            <a:ext cx="5410504" cy="3602884"/>
          </a:xfrm>
          <a:prstGeom prst="roundRect">
            <a:avLst>
              <a:gd name="adj" fmla="val 54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045C2F9-4523-9541-A2B8-07250EE83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2418" y="2011363"/>
            <a:ext cx="5226970" cy="3321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818703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4756580" y="1830417"/>
            <a:ext cx="6373144" cy="36028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5F263C2-8005-0145-A440-E8B0099A793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96731" y="1865725"/>
            <a:ext cx="6284925" cy="35294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88644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0088" y="44412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0874" y="44412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C27796F8-DA26-D646-B6CF-E20196C2CB6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95473" y="44412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2" y="38441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2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6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E6DC524C-60DA-5A44-815E-E4E1DFECF6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807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231BAEF8-9A0E-4C49-B637-C5BA3BB15024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1BB5DA1-4736-0A4C-AB84-F16B321C9BE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36B8C22-B57B-6E4B-82AF-19CD1F9D8AB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0E025-9080-034B-AEE0-151AF9DDA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4956014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5111" y="20663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5984" y="2066322"/>
            <a:ext cx="3229397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1175" y="14692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61263" y="14692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111" y="44412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75985" y="4441222"/>
            <a:ext cx="322939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3" y="38441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1175" y="38441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61263" y="38441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77A554A-7DBE-1B4A-AB54-75BF3333DD74}"/>
              </a:ext>
            </a:extLst>
          </p:cNvPr>
          <p:cNvSpPr>
            <a:spLocks noGrp="1"/>
          </p:cNvSpPr>
          <p:nvPr>
            <p:ph type="dt" sz="half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261ED17-9BCF-604C-9546-98A1A69EC6D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62546D-9E8C-8544-9568-F11173B05269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626813-7C90-8445-9BC8-09C3B45D63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19696021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3F6552D-2F5C-6945-9E8B-C8023EBBB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3F27ED09-E00C-42B4-812A-B88B87C95C8B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аблица 6">
            <a:extLst>
              <a:ext uri="{FF2B5EF4-FFF2-40B4-BE49-F238E27FC236}">
                <a16:creationId xmlns:a16="http://schemas.microsoft.com/office/drawing/2014/main" id="{710417F5-2911-3C4F-A98F-AEEE1C0F443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60363" y="1223963"/>
            <a:ext cx="10801350" cy="46227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312331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3">
            <a:extLst>
              <a:ext uri="{FF2B5EF4-FFF2-40B4-BE49-F238E27FC236}">
                <a16:creationId xmlns:a16="http://schemas.microsoft.com/office/drawing/2014/main" id="{5754DFE5-36CE-CE4A-BCA3-F69C55F293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CFCE9A71-CA21-DF45-931F-DA6936474E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0E73677-8CAD-8349-8D30-B6F2DB0FB3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15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3DC0F2E-B252-8744-9538-A1C7B0849D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15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О5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6C521555-7583-8D40-9707-D875913E3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1106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О7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DBC1D448-B51C-9E43-8CA3-0751AA8B97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11105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О8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68637" y="1830334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4287" y="1830334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60065" y="181944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8887" y="123559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4701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45343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66B516A-7550-B742-8231-0A30F3D580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37" y="4283609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D54AAF5-A639-7F48-849E-6C4093CFC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287" y="4283609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40D1C8AE-2AE5-3B45-9FB5-7C88FCA2C0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60065" y="4272718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B7D77C2-FEAE-CD4A-9713-48B16974D9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8887" y="3675613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0B619C5A-03A1-2E41-A4D6-019B19CD12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4701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A5BCC699-3029-2B40-9793-43486290DA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343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2BFCFD7-A0E2-5645-A945-49608DE09A1E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C308710-C149-0C4B-93BC-ED84522E9C86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7951DB5-5119-7544-838F-43224C1B8CA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0CD5D-EE9F-9F49-BBF9-0C056F3A5C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44172277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8" y="2857398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8" y="1234319"/>
            <a:ext cx="537946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4655183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97E6374-DFEA-F64D-BB2E-FD5A9AFBE92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BB4F9FD-A8D5-554B-9BD2-870B3155874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5EFA7B2-4CFA-4D45-BCE1-B8ED940F59C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BC8FB-C31E-1A4D-A834-B99C91092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F76C491-0EAC-0949-A05E-EE7E72A772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47319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3C97F4F9-07CD-F541-B6FD-19F7120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61297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4D463F1-6970-8845-9700-5B32E27023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8EC2F212-7E05-2943-83D0-6EDA5D9789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59922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14787146-1A29-FC4C-9D9E-BE998C337D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7A59FE8C-F422-4C48-A15A-9B109BBA7F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5132C2A-B96D-5145-8107-3C668F2B19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6BD270EA-62BB-D743-9543-C74FAE0B7D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CB56C84-2284-E449-83DE-9634B09D86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2E4AB1C-CCE6-0C48-B5A5-6E402177A6E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B8AD288-0082-9C43-A0FE-C3388F7F932F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843E9F-D28D-EE44-9252-3427CA59DEDC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FA921-8BAD-7C49-B8AD-4C4200055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21754C9A-E5B1-FD41-B916-D04D32974B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4942025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7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41979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367615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9A4CF9E0-CD45-D345-B15E-3B4CB0690F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59922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EA508B7-997B-044C-8A70-2DBB895F12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4252" y="4946159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BD380D2E-3573-E841-8E4B-016CC2162C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9183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665BE4BC-C96D-AE41-87A5-FBF32ABA4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77FC05A8-2007-1F45-9C8E-BB4048D0EB3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7808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27328BA-3901-9E40-9F0F-BC4992AABA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49823CB-1CAB-BE42-916E-ADE88ABD3B6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7AE7A4B-A68D-C646-A497-6C8139A2A7C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D2549F-E1FB-EC42-B3C5-19267BF6BCE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B21AA-563E-0344-972B-7C00B0D30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96610797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10801350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83168948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74150552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9631408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228600"/>
            <a:ext cx="9361487" cy="4524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C6492-919E-874B-8364-8B6D6AD4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771525"/>
            <a:ext cx="9361487" cy="452438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ru-RU" dirty="0" err="1"/>
              <a:t>подзаголов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8773442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0F2CA6-2684-AD4E-8F62-353128D35D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DB0D9-ABA4-164D-9BC3-9918C57587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5D823F-429F-D94B-BFF8-58EA2559589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E8354-469E-7F40-B036-CE5618FA7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39345461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6242146D-3E27-AD41-9ED8-D26F377D1F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FF3D7E83-0CA2-754B-8F35-1B947B02C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34077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E856C4-65CA-0140-9469-E8BD6EAF0A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448D4E6-5159-3244-98C5-2FD6AAEF4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5E72E8-52DC-7447-B8B2-CD5FF8F47CD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3E50869-6093-884B-B7D9-5B09CA333E8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4B02C61-FCEC-6B42-A0CD-888A1756405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94DB5-E87E-4442-A8B6-5841274D5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31150523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123E15-76CA-CC41-9639-810635F8D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1"/>
            <a:ext cx="7200900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j-lt"/>
              </a:defRPr>
            </a:lvl1pPr>
          </a:lstStyle>
          <a:p>
            <a:r>
              <a:rPr lang="ru-RU"/>
              <a:t>Вставка рисунка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AD80DD0-C59F-034E-8870-B23647A257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958" y="114728"/>
            <a:ext cx="2054225" cy="67276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4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399"/>
              </a:lnSpc>
              <a:defRPr sz="5399"/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6"/>
            <a:ext cx="1844676" cy="69707"/>
          </a:xfrm>
          <a:prstGeom prst="rect">
            <a:avLst/>
          </a:prstGeom>
        </p:spPr>
        <p:txBody>
          <a:bodyPr anchor="t"/>
          <a:lstStyle>
            <a:lvl1pPr>
              <a:defRPr b="0" i="0">
                <a:latin typeface="+mj-lt"/>
              </a:defRPr>
            </a:lvl1pPr>
          </a:lstStyle>
          <a:p>
            <a:fld id="{C2DA743E-3A57-7E41-9B25-528A302C9F7C}" type="datetimeFigureOut">
              <a:rPr lang="ru-RU" smtClean="0"/>
              <a:pPr/>
              <a:t>19.05.2022</a:t>
            </a:fld>
            <a:endParaRPr lang="ru-RU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4" y="5023676"/>
            <a:ext cx="5761037" cy="5072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800">
                <a:latin typeface="+mj-lt"/>
              </a:defRPr>
            </a:lvl1pPr>
            <a:lvl2pPr marL="457108" indent="0">
              <a:buFontTx/>
              <a:buNone/>
              <a:defRPr sz="1800">
                <a:latin typeface="Beeline Sans V0.3 Regular" pitchFamily="2" charset="0"/>
              </a:defRPr>
            </a:lvl2pPr>
            <a:lvl3pPr marL="914216" indent="0">
              <a:buFontTx/>
              <a:buNone/>
              <a:defRPr sz="1800">
                <a:latin typeface="Beeline Sans V0.3 Regular" pitchFamily="2" charset="0"/>
              </a:defRPr>
            </a:lvl3pPr>
            <a:lvl4pPr marL="1371324" indent="0">
              <a:buFontTx/>
              <a:buNone/>
              <a:defRPr sz="1800">
                <a:latin typeface="Beeline Sans V0.3 Regular" pitchFamily="2" charset="0"/>
              </a:defRPr>
            </a:lvl4pPr>
            <a:lvl5pPr marL="1828432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4" y="4075596"/>
            <a:ext cx="5761037" cy="10408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>
                <a:latin typeface="+mj-lt"/>
              </a:defRPr>
            </a:lvl1pPr>
            <a:lvl2pPr marL="457108" indent="0">
              <a:buFontTx/>
              <a:buNone/>
              <a:defRPr>
                <a:latin typeface="Beeline Sans V0.3 Regular" pitchFamily="2" charset="0"/>
              </a:defRPr>
            </a:lvl2pPr>
            <a:lvl3pPr marL="914216" indent="0">
              <a:buFontTx/>
              <a:buNone/>
              <a:defRPr>
                <a:latin typeface="Beeline Sans V0.3 Regular" pitchFamily="2" charset="0"/>
              </a:defRPr>
            </a:lvl3pPr>
            <a:lvl4pPr marL="1371324" indent="0">
              <a:buFontTx/>
              <a:buNone/>
              <a:defRPr>
                <a:latin typeface="Beeline Sans V0.3 Regular" pitchFamily="2" charset="0"/>
              </a:defRPr>
            </a:lvl4pPr>
            <a:lvl5pPr marL="1828432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4" y="5756964"/>
            <a:ext cx="5761037" cy="3167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latin typeface="+mj-lt"/>
              </a:defRPr>
            </a:lvl1pPr>
            <a:lvl2pPr marL="457108" indent="0">
              <a:buFontTx/>
              <a:buNone/>
              <a:defRPr sz="1800">
                <a:latin typeface="Beeline Sans V0.3 Regular" pitchFamily="2" charset="0"/>
              </a:defRPr>
            </a:lvl2pPr>
            <a:lvl3pPr marL="914216" indent="0">
              <a:buFontTx/>
              <a:buNone/>
              <a:defRPr sz="1800">
                <a:latin typeface="Beeline Sans V0.3 Regular" pitchFamily="2" charset="0"/>
              </a:defRPr>
            </a:lvl3pPr>
            <a:lvl4pPr marL="1371324" indent="0">
              <a:buFontTx/>
              <a:buNone/>
              <a:defRPr sz="1800">
                <a:latin typeface="Beeline Sans V0.3 Regular" pitchFamily="2" charset="0"/>
              </a:defRPr>
            </a:lvl4pPr>
            <a:lvl5pPr marL="1828432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086395282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3">
            <a:extLst>
              <a:ext uri="{FF2B5EF4-FFF2-40B4-BE49-F238E27FC236}">
                <a16:creationId xmlns:a16="http://schemas.microsoft.com/office/drawing/2014/main" id="{21B9F8A9-2801-9C4A-B8F5-A56654240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253002"/>
            <a:ext cx="558138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699" b="1" i="0">
                <a:solidFill>
                  <a:srgbClr val="E5E5E5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51858426-CF7C-8E4E-8DD7-F283587BF2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364" y="3256846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699" b="1" i="0">
                <a:solidFill>
                  <a:srgbClr val="E5E5E5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6CF61F74-0873-5348-BE36-D619E2C8D7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9276" y="1253002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699" b="1" i="0">
                <a:solidFill>
                  <a:srgbClr val="E5E5E5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О3</a:t>
            </a:r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AECB0370-EA8C-084A-8A41-77AEC86787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9721" y="3256846"/>
            <a:ext cx="3824288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359EDD0A-4DF3-BD44-8CAB-2C43736009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3135" y="1268995"/>
            <a:ext cx="3599079" cy="7579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1BCE453-7893-1543-9EEF-B8EBF7820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9721" y="1268995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9763252D-D805-CB49-8DC9-18CA013199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9276" y="3252284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699" b="1" i="0">
                <a:solidFill>
                  <a:srgbClr val="E5E5E5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6426CB11-88C5-3A42-A295-7120FA790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3135" y="3268277"/>
            <a:ext cx="3599079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020471C-EFA1-3041-9F7B-0B37C2ABF0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9721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US" dirty="0"/>
              <a:t>04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r>
              <a:rPr lang="en-US" dirty="0"/>
              <a:t>05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en-US" dirty="0"/>
              <a:t>06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0172D42D-2C23-FF42-9948-3845673F2E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9721" y="3820734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en-US" dirty="0"/>
              <a:t>07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en-US" dirty="0"/>
              <a:t>08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en-US" dirty="0"/>
              <a:t>10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12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14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59D5DC8-5BF3-ED40-A1DA-79608BFF3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6913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16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20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b="0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21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B5A4C9C8-9BD1-0348-9FE1-A6E0FC28ED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6913" y="3820734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23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26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27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29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11" algn="l"/>
              </a:tabLst>
              <a:defRPr/>
            </a:pPr>
            <a:r>
              <a:rPr lang="ru-RU" dirty="0"/>
              <a:t>30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086ED6-7054-AF4E-A4D8-88E8A451A4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8BA1543-7AA8-A048-97A8-2D260DFB595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0C5C0A6-6083-484F-834D-F7D996B984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BF057-7F29-E144-AA64-2FE0E06F0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78410957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0951" y="1220420"/>
            <a:ext cx="6119812" cy="1720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101" y="4148943"/>
            <a:ext cx="6119812" cy="1834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CCB861CA-4A82-8147-90EA-B3624AF4D3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1451" y="3251744"/>
            <a:ext cx="7199311" cy="5135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21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099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31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12998166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1400" y="1586294"/>
            <a:ext cx="5046665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71564935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6559FB5A-D0E5-D84A-9858-569B910037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1"/>
            <a:ext cx="5761038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62553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5" y="2066323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3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2157061" cy="50168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9F3D996-EBB5-6F49-93AF-D07FC01D46CB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87AB065-5FE1-4741-AB13-7648478CB02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45B33-FB1D-934F-ADA9-239FC78FDDC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36578-7223-414A-B61C-C1540924D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E3C97F8E-B38C-144E-8F6E-23CE03AFEB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5489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1399" b="0" i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2184025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1"/>
            <a:ext cx="5761038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9953A-3CE2-7044-8DC5-35FA4A666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1" name="Текст 24">
            <a:extLst>
              <a:ext uri="{FF2B5EF4-FFF2-40B4-BE49-F238E27FC236}">
                <a16:creationId xmlns:a16="http://schemas.microsoft.com/office/drawing/2014/main" id="{A9495DCD-9F8C-0E45-BE6B-658C281C70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53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3231689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921625" y="1"/>
            <a:ext cx="360045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53" y="2066323"/>
            <a:ext cx="2119755" cy="3407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1399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2157061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5" y="2066323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F4780-F2BE-1F4D-A230-65519C2DE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4409766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" y="1"/>
            <a:ext cx="2881313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5" y="2066323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3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94910276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" y="1"/>
            <a:ext cx="5392305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5" y="2066323"/>
            <a:ext cx="2140752" cy="34077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3" y="1469217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3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3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1038" y="228600"/>
            <a:ext cx="3960813" cy="995363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en-US" dirty="0"/>
              <a:t/>
            </a:r>
            <a:br>
              <a:rPr lang="en-US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9033550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1" y="809897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399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9" y="1220420"/>
            <a:ext cx="5400675" cy="28166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21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099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9A345701-2B5B-3743-A923-E4C13F051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19237" y="810133"/>
            <a:ext cx="2271236" cy="4922040"/>
          </a:xfrm>
          <a:custGeom>
            <a:avLst/>
            <a:gdLst>
              <a:gd name="connsiteX0" fmla="*/ 221786 w 2271236"/>
              <a:gd name="connsiteY0" fmla="*/ 0 h 4922040"/>
              <a:gd name="connsiteX1" fmla="*/ 502989 w 2271236"/>
              <a:gd name="connsiteY1" fmla="*/ 0 h 4922040"/>
              <a:gd name="connsiteX2" fmla="*/ 502989 w 2271236"/>
              <a:gd name="connsiteY2" fmla="*/ 58275 h 4922040"/>
              <a:gd name="connsiteX3" fmla="*/ 625404 w 2271236"/>
              <a:gd name="connsiteY3" fmla="*/ 180690 h 4922040"/>
              <a:gd name="connsiteX4" fmla="*/ 1634187 w 2271236"/>
              <a:gd name="connsiteY4" fmla="*/ 180690 h 4922040"/>
              <a:gd name="connsiteX5" fmla="*/ 1756602 w 2271236"/>
              <a:gd name="connsiteY5" fmla="*/ 58275 h 4922040"/>
              <a:gd name="connsiteX6" fmla="*/ 1756602 w 2271236"/>
              <a:gd name="connsiteY6" fmla="*/ 0 h 4922040"/>
              <a:gd name="connsiteX7" fmla="*/ 2049450 w 2271236"/>
              <a:gd name="connsiteY7" fmla="*/ 0 h 4922040"/>
              <a:gd name="connsiteX8" fmla="*/ 2271236 w 2271236"/>
              <a:gd name="connsiteY8" fmla="*/ 221786 h 4922040"/>
              <a:gd name="connsiteX9" fmla="*/ 2271236 w 2271236"/>
              <a:gd name="connsiteY9" fmla="*/ 4700254 h 4922040"/>
              <a:gd name="connsiteX10" fmla="*/ 2049450 w 2271236"/>
              <a:gd name="connsiteY10" fmla="*/ 4922040 h 4922040"/>
              <a:gd name="connsiteX11" fmla="*/ 221786 w 2271236"/>
              <a:gd name="connsiteY11" fmla="*/ 4922040 h 4922040"/>
              <a:gd name="connsiteX12" fmla="*/ 0 w 2271236"/>
              <a:gd name="connsiteY12" fmla="*/ 4700254 h 4922040"/>
              <a:gd name="connsiteX13" fmla="*/ 0 w 2271236"/>
              <a:gd name="connsiteY13" fmla="*/ 221786 h 4922040"/>
              <a:gd name="connsiteX14" fmla="*/ 221786 w 2271236"/>
              <a:gd name="connsiteY14" fmla="*/ 0 h 4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236" h="4922040">
                <a:moveTo>
                  <a:pt x="221786" y="0"/>
                </a:moveTo>
                <a:lnTo>
                  <a:pt x="502989" y="0"/>
                </a:lnTo>
                <a:lnTo>
                  <a:pt x="502989" y="58275"/>
                </a:lnTo>
                <a:cubicBezTo>
                  <a:pt x="502989" y="125883"/>
                  <a:pt x="557796" y="180690"/>
                  <a:pt x="625404" y="180690"/>
                </a:cubicBezTo>
                <a:lnTo>
                  <a:pt x="1634187" y="180690"/>
                </a:lnTo>
                <a:cubicBezTo>
                  <a:pt x="1701795" y="180690"/>
                  <a:pt x="1756602" y="125883"/>
                  <a:pt x="1756602" y="58275"/>
                </a:cubicBezTo>
                <a:lnTo>
                  <a:pt x="1756602" y="0"/>
                </a:lnTo>
                <a:lnTo>
                  <a:pt x="2049450" y="0"/>
                </a:lnTo>
                <a:cubicBezTo>
                  <a:pt x="2171939" y="0"/>
                  <a:pt x="2271236" y="99297"/>
                  <a:pt x="2271236" y="221786"/>
                </a:cubicBezTo>
                <a:lnTo>
                  <a:pt x="2271236" y="4700254"/>
                </a:lnTo>
                <a:cubicBezTo>
                  <a:pt x="2271236" y="4822743"/>
                  <a:pt x="2171939" y="4922040"/>
                  <a:pt x="2049450" y="4922040"/>
                </a:cubicBezTo>
                <a:lnTo>
                  <a:pt x="221786" y="4922040"/>
                </a:lnTo>
                <a:cubicBezTo>
                  <a:pt x="99297" y="4922040"/>
                  <a:pt x="0" y="4822743"/>
                  <a:pt x="0" y="4700254"/>
                </a:cubicBezTo>
                <a:lnTo>
                  <a:pt x="0" y="221786"/>
                </a:lnTo>
                <a:cubicBezTo>
                  <a:pt x="0" y="99297"/>
                  <a:pt x="99297" y="0"/>
                  <a:pt x="2217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399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8A4AAD4-DD7C-A649-8D8A-906F4FACAB6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FF3D0CD-EFE0-8A4F-BF95-2BC6EA550D0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CEFBA52-F0B3-E743-A7CA-5D7CD55BE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7E16-1B04-E341-A0CC-F09B54E7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9802614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1" y="809897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399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9" y="1220421"/>
            <a:ext cx="540067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21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099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07087" y="939800"/>
            <a:ext cx="2298927" cy="4756150"/>
          </a:xfrm>
          <a:prstGeom prst="roundRect">
            <a:avLst>
              <a:gd name="adj" fmla="val 9470"/>
            </a:avLst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14986371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9" y="1220421"/>
            <a:ext cx="395922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21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099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8036D8-02B1-A646-B101-4277E98435B7}"/>
              </a:ext>
            </a:extLst>
          </p:cNvPr>
          <p:cNvSpPr/>
          <p:nvPr userDrawn="1"/>
        </p:nvSpPr>
        <p:spPr>
          <a:xfrm>
            <a:off x="5806440" y="1973581"/>
            <a:ext cx="4846320" cy="3634740"/>
          </a:xfrm>
          <a:prstGeom prst="roundRect">
            <a:avLst>
              <a:gd name="adj" fmla="val 19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399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6440" y="1973581"/>
            <a:ext cx="4846320" cy="3634740"/>
          </a:xfrm>
          <a:prstGeom prst="roundRect">
            <a:avLst>
              <a:gd name="adj" fmla="val 1923"/>
            </a:avLst>
          </a:prstGeo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162823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5027835" y="1891494"/>
            <a:ext cx="5410504" cy="3602884"/>
          </a:xfrm>
          <a:prstGeom prst="roundRect">
            <a:avLst>
              <a:gd name="adj" fmla="val 54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399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9" y="1220421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7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21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099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045C2F9-4523-9541-A2B8-07250EE83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2418" y="2011363"/>
            <a:ext cx="5226970" cy="3321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20315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4756580" y="1830417"/>
            <a:ext cx="6373144" cy="36028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399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9" y="1220421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7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21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099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5F263C2-8005-0145-A440-E8B0099A793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96731" y="1865725"/>
            <a:ext cx="6284925" cy="35294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483567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3" y="20663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5" y="206632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3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0088" y="44412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3" y="44412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0875" y="444122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C27796F8-DA26-D646-B6CF-E20196C2CB6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95473" y="4441223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3" y="38441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26153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66153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E6DC524C-60DA-5A44-815E-E4E1DFECF6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80753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231BAEF8-9A0E-4C49-B637-C5BA3BB15024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1BB5DA1-4736-0A4C-AB84-F16B321C9BE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36B8C22-B57B-6E4B-82AF-19CD1F9D8AB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0E025-9080-034B-AEE0-151AF9DDA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06772584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5112" y="2066322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5985" y="2066323"/>
            <a:ext cx="3229397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4" y="14692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1176" y="14692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61264" y="14692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112" y="4441222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75985" y="4441223"/>
            <a:ext cx="322939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4" y="38441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1176" y="38441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61264" y="38441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77A554A-7DBE-1B4A-AB54-75BF3333DD74}"/>
              </a:ext>
            </a:extLst>
          </p:cNvPr>
          <p:cNvSpPr>
            <a:spLocks noGrp="1"/>
          </p:cNvSpPr>
          <p:nvPr>
            <p:ph type="dt" sz="half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261ED17-9BCF-604C-9546-98A1A69EC6D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62546D-9E8C-8544-9568-F11173B05269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626813-7C90-8445-9BC8-09C3B45D63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4061285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3F6552D-2F5C-6945-9E8B-C8023EBBB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3F27ED09-E00C-42B4-812A-B88B87C95C8B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аблица 6">
            <a:extLst>
              <a:ext uri="{FF2B5EF4-FFF2-40B4-BE49-F238E27FC236}">
                <a16:creationId xmlns:a16="http://schemas.microsoft.com/office/drawing/2014/main" id="{710417F5-2911-3C4F-A98F-AEEE1C0F443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60363" y="1223963"/>
            <a:ext cx="10801350" cy="46227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73906503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3">
            <a:extLst>
              <a:ext uri="{FF2B5EF4-FFF2-40B4-BE49-F238E27FC236}">
                <a16:creationId xmlns:a16="http://schemas.microsoft.com/office/drawing/2014/main" id="{5754DFE5-36CE-CE4A-BCA3-F69C55F293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328355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699" b="1" i="0">
                <a:solidFill>
                  <a:schemeClr val="tx1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CFCE9A71-CA21-DF45-931F-DA6936474E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3768378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699" b="1" i="0">
                <a:solidFill>
                  <a:schemeClr val="tx1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0E73677-8CAD-8349-8D30-B6F2DB0FB3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1563" y="1328355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699" b="1" i="0">
                <a:solidFill>
                  <a:schemeClr val="tx1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3DC0F2E-B252-8744-9538-A1C7B0849D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1563" y="3768378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699" b="1" i="0">
                <a:solidFill>
                  <a:schemeClr val="tx1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О5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6C521555-7583-8D40-9707-D875913E3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1106" y="1328355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699" b="1" i="0">
                <a:solidFill>
                  <a:schemeClr val="tx1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О7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DBC1D448-B51C-9E43-8CA3-0751AA8B97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11106" y="3768378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699" b="1" i="0">
                <a:solidFill>
                  <a:schemeClr val="tx1"/>
                </a:solidFill>
                <a:latin typeface="+mn-lt"/>
              </a:defRPr>
            </a:lvl1pPr>
            <a:lvl2pPr marL="457108" indent="0">
              <a:buFontTx/>
              <a:buNone/>
              <a:defRPr sz="1999" b="1" i="0">
                <a:latin typeface="Beeline Sans V0.3 Black" pitchFamily="2" charset="0"/>
              </a:defRPr>
            </a:lvl2pPr>
            <a:lvl3pPr marL="914216" indent="0">
              <a:buFontTx/>
              <a:buNone/>
              <a:defRPr sz="1999" b="1" i="0">
                <a:latin typeface="Beeline Sans V0.3 Black" pitchFamily="2" charset="0"/>
              </a:defRPr>
            </a:lvl3pPr>
            <a:lvl4pPr marL="1371324" indent="0">
              <a:buFontTx/>
              <a:buNone/>
              <a:defRPr sz="1999" b="1" i="0">
                <a:latin typeface="Beeline Sans V0.3 Black" pitchFamily="2" charset="0"/>
              </a:defRPr>
            </a:lvl4pPr>
            <a:lvl5pPr marL="1828432" indent="0">
              <a:buFontTx/>
              <a:buNone/>
              <a:defRPr sz="1999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О8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68637" y="1830335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4288" y="1830334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60065" y="1819444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8887" y="1235591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4702" y="1235591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45344" y="1235591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66B516A-7550-B742-8231-0A30F3D580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37" y="4283609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D54AAF5-A639-7F48-849E-6C4093CFC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288" y="4283610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40D1C8AE-2AE5-3B45-9FB5-7C88FCA2C0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60065" y="4272718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B7D77C2-FEAE-CD4A-9713-48B16974D9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8887" y="3675614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0B619C5A-03A1-2E41-A4D6-019B19CD12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4702" y="3675614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A5BCC699-3029-2B40-9793-43486290DA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344" y="3675614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2BFCFD7-A0E2-5645-A945-49608DE09A1E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C308710-C149-0C4B-93BC-ED84522E9C86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7951DB5-5119-7544-838F-43224C1B8CA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0CD5D-EE9F-9F49-BBF9-0C056F3A5C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32968816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9" y="2857398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9" y="1234320"/>
            <a:ext cx="537946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3" y="4655184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7" y="2703502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3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97E6374-DFEA-F64D-BB2E-FD5A9AFBE92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BB4F9FD-A8D5-554B-9BD2-870B3155874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5EFA7B2-4CFA-4D45-BCE1-B8ED940F59C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BC8FB-C31E-1A4D-A834-B99C91092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F76C491-0EAC-0949-A05E-EE7E72A772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108841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3518936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3C97F4F9-07CD-F541-B6FD-19F7120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61297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4D463F1-6970-8845-9700-5B32E27023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8EC2F212-7E05-2943-83D0-6EDA5D9789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59922" y="4655184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14787146-1A29-FC4C-9D9E-BE998C337D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7A59FE8C-F422-4C48-A15A-9B109BBA7F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5132C2A-B96D-5145-8107-3C668F2B19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4655184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6BD270EA-62BB-D743-9543-C74FAE0B7D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7" y="2703502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CB56C84-2284-E449-83DE-9634B09D86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3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2E4AB1C-CCE6-0C48-B5A5-6E402177A6E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B8AD288-0082-9C43-A0FE-C3388F7F932F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843E9F-D28D-EE44-9252-3427CA59DEDC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FA921-8BAD-7C49-B8AD-4C4200055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21754C9A-E5B1-FD41-B916-D04D32974B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108841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5048110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7" y="2514672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108841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7" y="241979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3" y="367615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9A4CF9E0-CD45-D345-B15E-3B4CB0690F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59922" y="5043253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EA508B7-997B-044C-8A70-2DBB895F12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4253" y="4946159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BD380D2E-3573-E841-8E4B-016CC2162C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9183" y="2514672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665BE4BC-C96D-AE41-87A5-FBF32ABA4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77FC05A8-2007-1F45-9C8E-BB4048D0EB3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7808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27328BA-3901-9E40-9F0F-BC4992AABA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5043253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49823CB-1CAB-BE42-916E-ADE88ABD3B6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7AE7A4B-A68D-C646-A497-6C8139A2A7C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D2549F-E1FB-EC42-B3C5-19267BF6BCE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B21AA-563E-0344-972B-7C00B0D30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75395653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4"/>
            <a:ext cx="10801350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099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66691828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54218310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4"/>
            <a:ext cx="10801350" cy="45751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493656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4" y="228601"/>
            <a:ext cx="9361487" cy="4524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4"/>
            <a:ext cx="10801350" cy="45751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C6492-919E-874B-8364-8B6D6AD4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4" y="771526"/>
            <a:ext cx="9361487" cy="452438"/>
          </a:xfrm>
        </p:spPr>
        <p:txBody>
          <a:bodyPr>
            <a:noAutofit/>
          </a:bodyPr>
          <a:lstStyle>
            <a:lvl1pPr>
              <a:defRPr sz="1999"/>
            </a:lvl1pPr>
          </a:lstStyle>
          <a:p>
            <a:pPr lvl="0"/>
            <a:r>
              <a:rPr lang="ru-RU" dirty="0" err="1"/>
              <a:t>подзаголов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11794693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4" y="1223964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099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2" y="1225388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099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0F2CA6-2684-AD4E-8F62-353128D35D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DB0D9-ABA4-164D-9BC3-9918C57587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5D823F-429F-D94B-BFF8-58EA2559589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E8354-469E-7F40-B036-CE5618FA7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93967478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2" y="1225388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099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6242146D-3E27-AD41-9ED8-D26F377D1F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smtClean="0">
                <a:effectLst/>
                <a:latin typeface="+mn-lt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FF3D7E83-0CA2-754B-8F35-1B947B02C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3" y="2066323"/>
            <a:ext cx="2119755" cy="34077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399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E856C4-65CA-0140-9469-E8BD6EAF0A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448D4E6-5159-3244-98C5-2FD6AAEF4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3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108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216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324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432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5E72E8-52DC-7447-B8B2-CD5FF8F47CD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3E50869-6093-884B-B7D9-5B09CA333E8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4B02C61-FCEC-6B42-A0CD-888A1756405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94DB5-E87E-4442-A8B6-5841274D5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43791376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CCCE2266-9822-464F-A30A-62496F64E94B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27339622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/>
          <a:srcRect t="17228" r="37939" b="19783"/>
          <a:stretch/>
        </p:blipFill>
        <p:spPr>
          <a:xfrm>
            <a:off x="5120943" y="0"/>
            <a:ext cx="6403824" cy="64801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AD80DD0-C59F-034E-8870-B23647A257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959" y="114729"/>
            <a:ext cx="2054225" cy="67276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5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398"/>
              </a:lnSpc>
              <a:defRPr sz="5398"/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7"/>
            <a:ext cx="1844676" cy="69707"/>
          </a:xfrm>
          <a:prstGeom prst="rect">
            <a:avLst/>
          </a:prstGeom>
        </p:spPr>
        <p:txBody>
          <a:bodyPr anchor="t"/>
          <a:lstStyle>
            <a:lvl1pPr>
              <a:defRPr b="0" i="0">
                <a:latin typeface="+mj-lt"/>
              </a:defRPr>
            </a:lvl1pPr>
          </a:lstStyle>
          <a:p>
            <a:fld id="{C2DA743E-3A57-7E41-9B25-528A302C9F7C}" type="datetimeFigureOut">
              <a:rPr lang="ru-RU" smtClean="0"/>
              <a:pPr/>
              <a:t>19.05.2022</a:t>
            </a:fld>
            <a:endParaRPr lang="ru-RU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5" y="5023676"/>
            <a:ext cx="5761037" cy="5072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800">
                <a:latin typeface="+mj-lt"/>
              </a:defRPr>
            </a:lvl1pPr>
            <a:lvl2pPr marL="457016" indent="0">
              <a:buFontTx/>
              <a:buNone/>
              <a:defRPr sz="1800">
                <a:latin typeface="Beeline Sans V0.3 Regular" pitchFamily="2" charset="0"/>
              </a:defRPr>
            </a:lvl2pPr>
            <a:lvl3pPr marL="914032" indent="0">
              <a:buFontTx/>
              <a:buNone/>
              <a:defRPr sz="1800">
                <a:latin typeface="Beeline Sans V0.3 Regular" pitchFamily="2" charset="0"/>
              </a:defRPr>
            </a:lvl3pPr>
            <a:lvl4pPr marL="1371048" indent="0">
              <a:buFontTx/>
              <a:buNone/>
              <a:defRPr sz="1800">
                <a:latin typeface="Beeline Sans V0.3 Regular" pitchFamily="2" charset="0"/>
              </a:defRPr>
            </a:lvl4pPr>
            <a:lvl5pPr marL="1828064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5" y="4075596"/>
            <a:ext cx="5761037" cy="10408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>
                <a:latin typeface="+mj-lt"/>
              </a:defRPr>
            </a:lvl1pPr>
            <a:lvl2pPr marL="457016" indent="0">
              <a:buFontTx/>
              <a:buNone/>
              <a:defRPr>
                <a:latin typeface="Beeline Sans V0.3 Regular" pitchFamily="2" charset="0"/>
              </a:defRPr>
            </a:lvl2pPr>
            <a:lvl3pPr marL="914032" indent="0">
              <a:buFontTx/>
              <a:buNone/>
              <a:defRPr>
                <a:latin typeface="Beeline Sans V0.3 Regular" pitchFamily="2" charset="0"/>
              </a:defRPr>
            </a:lvl3pPr>
            <a:lvl4pPr marL="1371048" indent="0">
              <a:buFontTx/>
              <a:buNone/>
              <a:defRPr>
                <a:latin typeface="Beeline Sans V0.3 Regular" pitchFamily="2" charset="0"/>
              </a:defRPr>
            </a:lvl4pPr>
            <a:lvl5pPr marL="1828064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5" y="5756964"/>
            <a:ext cx="5761037" cy="3167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latin typeface="+mj-lt"/>
              </a:defRPr>
            </a:lvl1pPr>
            <a:lvl2pPr marL="457016" indent="0">
              <a:buFontTx/>
              <a:buNone/>
              <a:defRPr sz="1800">
                <a:latin typeface="Beeline Sans V0.3 Regular" pitchFamily="2" charset="0"/>
              </a:defRPr>
            </a:lvl2pPr>
            <a:lvl3pPr marL="914032" indent="0">
              <a:buFontTx/>
              <a:buNone/>
              <a:defRPr sz="1800">
                <a:latin typeface="Beeline Sans V0.3 Regular" pitchFamily="2" charset="0"/>
              </a:defRPr>
            </a:lvl3pPr>
            <a:lvl4pPr marL="1371048" indent="0">
              <a:buFontTx/>
              <a:buNone/>
              <a:defRPr sz="1800">
                <a:latin typeface="Beeline Sans V0.3 Regular" pitchFamily="2" charset="0"/>
              </a:defRPr>
            </a:lvl4pPr>
            <a:lvl5pPr marL="1828064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797067905"/>
      </p:ext>
    </p:extLst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CCCE2266-9822-464F-A30A-62496F64E94B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228599"/>
            <a:ext cx="10369550" cy="995363"/>
          </a:xfrm>
          <a:prstGeom prst="rect">
            <a:avLst/>
          </a:prstGeom>
        </p:spPr>
        <p:txBody>
          <a:bodyPr vert="horz" wrap="none" lIns="0" tIns="0" rIns="0" bIns="108000" rtlCol="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30912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vmlDrawing" Target="../drawings/vmlDrawing2.v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oleObject" Target="../embeddings/oleObject2.bin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ags" Target="../tags/tag4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tags" Target="../tags/tag3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33" Type="http://schemas.openxmlformats.org/officeDocument/2006/relationships/oleObject" Target="../embeddings/oleObject3.bin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tags" Target="../tags/tag6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tags" Target="../tags/tag5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vmlDrawing" Target="../drawings/vmlDrawing3.vml"/><Relationship Id="rId8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86.xml"/><Relationship Id="rId34" Type="http://schemas.openxmlformats.org/officeDocument/2006/relationships/tags" Target="../tags/tag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tags" Target="../tags/tag7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94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vmlDrawing" Target="../drawings/vmlDrawing4.v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31" Type="http://schemas.openxmlformats.org/officeDocument/2006/relationships/theme" Target="../theme/theme4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35" Type="http://schemas.openxmlformats.org/officeDocument/2006/relationships/oleObject" Target="../embeddings/oleObject4.bin"/><Relationship Id="rId8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522102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" name="Слайд think-cell" r:id="rId14" imgW="360" imgH="360" progId="TCLayout.ActiveDocument.1">
                  <p:embed/>
                </p:oleObj>
              </mc:Choice>
              <mc:Fallback>
                <p:oleObj name="Слайд think-cell" r:id="rId14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8599"/>
            <a:ext cx="10369550" cy="995363"/>
          </a:xfrm>
          <a:prstGeom prst="rect">
            <a:avLst/>
          </a:prstGeom>
        </p:spPr>
        <p:txBody>
          <a:bodyPr vert="horz" wrap="non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</p:spTree>
    <p:extLst>
      <p:ext uri="{BB962C8B-B14F-4D97-AF65-F5344CB8AC3E}">
        <p14:creationId xmlns:p14="http://schemas.microsoft.com/office/powerpoint/2010/main" val="38292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2" r:id="rId2"/>
    <p:sldLayoutId id="2147483691" r:id="rId3"/>
    <p:sldLayoutId id="2147483855" r:id="rId4"/>
    <p:sldLayoutId id="2147483739" r:id="rId5"/>
    <p:sldLayoutId id="2147483847" r:id="rId6"/>
    <p:sldLayoutId id="2147483848" r:id="rId7"/>
    <p:sldLayoutId id="2147483852" r:id="rId8"/>
    <p:sldLayoutId id="2147483853" r:id="rId9"/>
    <p:sldLayoutId id="2147483854" r:id="rId10"/>
  </p:sldLayoutIdLst>
  <p:transition>
    <p:fade/>
  </p:transition>
  <p:hf hdr="0" dt="0"/>
  <p:txStyles>
    <p:titleStyle>
      <a:lvl1pPr algn="l" defTabSz="914400" rtl="0" eaLnBrk="1" latinLnBrk="0" hangingPunct="1">
        <a:lnSpc>
          <a:spcPts val="33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4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722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/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3668548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" name="Слайд think-cell" r:id="rId32" imgW="360" imgH="360" progId="TCLayout.ActiveDocument.1">
                  <p:embed/>
                </p:oleObj>
              </mc:Choice>
              <mc:Fallback>
                <p:oleObj name="Слайд think-cell" r:id="rId32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100" b="0" i="0" baseline="0" dirty="0" err="1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8599"/>
            <a:ext cx="9361487" cy="995363"/>
          </a:xfrm>
          <a:prstGeom prst="rect">
            <a:avLst/>
          </a:prstGeom>
        </p:spPr>
        <p:txBody>
          <a:bodyPr vert="horz" wrap="squar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www.link.com. 7pt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D37E1-4A2E-F34E-9597-9E5CF181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987" y="1266549"/>
            <a:ext cx="10784725" cy="41116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ru-RU" dirty="0"/>
              <a:t>текст слайда. </a:t>
            </a:r>
            <a:r>
              <a:rPr lang="en-US" dirty="0"/>
              <a:t>beeline sans. 14 </a:t>
            </a:r>
            <a:r>
              <a:rPr lang="en-US" dirty="0" err="1"/>
              <a:t>pt</a:t>
            </a:r>
            <a:endParaRPr lang="en-RU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ECCF3A-24DB-DB41-A647-1628FF18FA65}"/>
              </a:ext>
            </a:extLst>
          </p:cNvPr>
          <p:cNvGrpSpPr/>
          <p:nvPr userDrawn="1"/>
        </p:nvGrpSpPr>
        <p:grpSpPr>
          <a:xfrm>
            <a:off x="9930121" y="262119"/>
            <a:ext cx="1238520" cy="319009"/>
            <a:chOff x="285404" y="226734"/>
            <a:chExt cx="1790694" cy="461234"/>
          </a:xfrm>
        </p:grpSpPr>
        <p:grpSp>
          <p:nvGrpSpPr>
            <p:cNvPr id="30" name="Graphic 6">
              <a:extLst>
                <a:ext uri="{FF2B5EF4-FFF2-40B4-BE49-F238E27FC236}">
                  <a16:creationId xmlns:a16="http://schemas.microsoft.com/office/drawing/2014/main" id="{3556D2A5-5AD1-194A-B325-FC714E4A945E}"/>
                </a:ext>
              </a:extLst>
            </p:cNvPr>
            <p:cNvGrpSpPr/>
            <p:nvPr/>
          </p:nvGrpSpPr>
          <p:grpSpPr>
            <a:xfrm>
              <a:off x="347551" y="287518"/>
              <a:ext cx="1728547" cy="338305"/>
              <a:chOff x="4586236" y="536515"/>
              <a:chExt cx="5005996" cy="979755"/>
            </a:xfrm>
          </p:grpSpPr>
          <p:grpSp>
            <p:nvGrpSpPr>
              <p:cNvPr id="33" name="Graphic 6">
                <a:extLst>
                  <a:ext uri="{FF2B5EF4-FFF2-40B4-BE49-F238E27FC236}">
                    <a16:creationId xmlns:a16="http://schemas.microsoft.com/office/drawing/2014/main" id="{69FAC5AF-505B-3D4D-BCE5-A78C2FB08233}"/>
                  </a:ext>
                </a:extLst>
              </p:cNvPr>
              <p:cNvGrpSpPr/>
              <p:nvPr/>
            </p:nvGrpSpPr>
            <p:grpSpPr>
              <a:xfrm>
                <a:off x="5858663" y="539363"/>
                <a:ext cx="3733569" cy="884382"/>
                <a:chOff x="5858663" y="539363"/>
                <a:chExt cx="3733569" cy="884382"/>
              </a:xfrm>
              <a:solidFill>
                <a:srgbClr val="000000"/>
              </a:solidFill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3919EBFC-16BA-5041-8534-83B5DACB8D41}"/>
                    </a:ext>
                  </a:extLst>
                </p:cNvPr>
                <p:cNvSpPr/>
                <p:nvPr/>
              </p:nvSpPr>
              <p:spPr>
                <a:xfrm>
                  <a:off x="8518665" y="593100"/>
                  <a:ext cx="368031" cy="166148"/>
                </a:xfrm>
                <a:custGeom>
                  <a:avLst/>
                  <a:gdLst>
                    <a:gd name="connsiteX0" fmla="*/ 184777 w 368031"/>
                    <a:gd name="connsiteY0" fmla="*/ 166148 h 166148"/>
                    <a:gd name="connsiteX1" fmla="*/ 368032 w 368031"/>
                    <a:gd name="connsiteY1" fmla="*/ 0 h 166148"/>
                    <a:gd name="connsiteX2" fmla="*/ 270556 w 368031"/>
                    <a:gd name="connsiteY2" fmla="*/ 0 h 166148"/>
                    <a:gd name="connsiteX3" fmla="*/ 184872 w 368031"/>
                    <a:gd name="connsiteY3" fmla="*/ 60383 h 166148"/>
                    <a:gd name="connsiteX4" fmla="*/ 97476 w 368031"/>
                    <a:gd name="connsiteY4" fmla="*/ 0 h 166148"/>
                    <a:gd name="connsiteX5" fmla="*/ 0 w 368031"/>
                    <a:gd name="connsiteY5" fmla="*/ 0 h 166148"/>
                    <a:gd name="connsiteX6" fmla="*/ 184777 w 368031"/>
                    <a:gd name="connsiteY6" fmla="*/ 166148 h 16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8031" h="166148">
                      <a:moveTo>
                        <a:pt x="184777" y="166148"/>
                      </a:moveTo>
                      <a:cubicBezTo>
                        <a:pt x="283964" y="166148"/>
                        <a:pt x="354527" y="114120"/>
                        <a:pt x="368032" y="0"/>
                      </a:cubicBezTo>
                      <a:lnTo>
                        <a:pt x="270556" y="0"/>
                      </a:lnTo>
                      <a:cubicBezTo>
                        <a:pt x="260475" y="40255"/>
                        <a:pt x="236891" y="60383"/>
                        <a:pt x="184872" y="60383"/>
                      </a:cubicBezTo>
                      <a:cubicBezTo>
                        <a:pt x="132758" y="60383"/>
                        <a:pt x="105845" y="40255"/>
                        <a:pt x="97476" y="0"/>
                      </a:cubicBezTo>
                      <a:lnTo>
                        <a:pt x="0" y="0"/>
                      </a:lnTo>
                      <a:cubicBezTo>
                        <a:pt x="13314" y="114120"/>
                        <a:pt x="85589" y="166148"/>
                        <a:pt x="184777" y="1661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C784E81-7AA0-574B-A2D7-C71F9739C84D}"/>
                    </a:ext>
                  </a:extLst>
                </p:cNvPr>
                <p:cNvSpPr/>
                <p:nvPr/>
              </p:nvSpPr>
              <p:spPr>
                <a:xfrm>
                  <a:off x="6579415" y="811276"/>
                  <a:ext cx="497555" cy="600791"/>
                </a:xfrm>
                <a:custGeom>
                  <a:avLst/>
                  <a:gdLst>
                    <a:gd name="connsiteX0" fmla="*/ 122677 w 497555"/>
                    <a:gd name="connsiteY0" fmla="*/ 412142 h 600791"/>
                    <a:gd name="connsiteX1" fmla="*/ 122677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8 w 497555"/>
                    <a:gd name="connsiteY5" fmla="*/ 181719 h 600791"/>
                    <a:gd name="connsiteX6" fmla="*/ 374878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677" y="412142"/>
                      </a:move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8" y="181719"/>
                      </a:lnTo>
                      <a:lnTo>
                        <a:pt x="374878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D7E838F9-8739-5D41-A200-CAA7E718BB03}"/>
                    </a:ext>
                  </a:extLst>
                </p:cNvPr>
                <p:cNvSpPr/>
                <p:nvPr/>
              </p:nvSpPr>
              <p:spPr>
                <a:xfrm>
                  <a:off x="5858663" y="539363"/>
                  <a:ext cx="598455" cy="884382"/>
                </a:xfrm>
                <a:custGeom>
                  <a:avLst/>
                  <a:gdLst>
                    <a:gd name="connsiteX0" fmla="*/ 334557 w 598455"/>
                    <a:gd name="connsiteY0" fmla="*/ 276945 h 884382"/>
                    <a:gd name="connsiteX1" fmla="*/ 111551 w 598455"/>
                    <a:gd name="connsiteY1" fmla="*/ 406066 h 884382"/>
                    <a:gd name="connsiteX2" fmla="*/ 302604 w 598455"/>
                    <a:gd name="connsiteY2" fmla="*/ 167857 h 884382"/>
                    <a:gd name="connsiteX3" fmla="*/ 548053 w 598455"/>
                    <a:gd name="connsiteY3" fmla="*/ 134248 h 884382"/>
                    <a:gd name="connsiteX4" fmla="*/ 537973 w 598455"/>
                    <a:gd name="connsiteY4" fmla="*/ 0 h 884382"/>
                    <a:gd name="connsiteX5" fmla="*/ 282443 w 598455"/>
                    <a:gd name="connsiteY5" fmla="*/ 35223 h 884382"/>
                    <a:gd name="connsiteX6" fmla="*/ 0 w 598455"/>
                    <a:gd name="connsiteY6" fmla="*/ 501767 h 884382"/>
                    <a:gd name="connsiteX7" fmla="*/ 302604 w 598455"/>
                    <a:gd name="connsiteY7" fmla="*/ 884382 h 884382"/>
                    <a:gd name="connsiteX8" fmla="*/ 598455 w 598455"/>
                    <a:gd name="connsiteY8" fmla="*/ 563859 h 884382"/>
                    <a:gd name="connsiteX9" fmla="*/ 334557 w 598455"/>
                    <a:gd name="connsiteY9" fmla="*/ 276945 h 884382"/>
                    <a:gd name="connsiteX10" fmla="*/ 302604 w 598455"/>
                    <a:gd name="connsiteY10" fmla="*/ 751844 h 884382"/>
                    <a:gd name="connsiteX11" fmla="*/ 126101 w 598455"/>
                    <a:gd name="connsiteY11" fmla="*/ 550472 h 884382"/>
                    <a:gd name="connsiteX12" fmla="*/ 126101 w 598455"/>
                    <a:gd name="connsiteY12" fmla="*/ 488380 h 884382"/>
                    <a:gd name="connsiteX13" fmla="*/ 302604 w 598455"/>
                    <a:gd name="connsiteY13" fmla="*/ 404452 h 884382"/>
                    <a:gd name="connsiteX14" fmla="*/ 472355 w 598455"/>
                    <a:gd name="connsiteY14" fmla="*/ 563859 h 884382"/>
                    <a:gd name="connsiteX15" fmla="*/ 302604 w 598455"/>
                    <a:gd name="connsiteY15" fmla="*/ 751844 h 88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8455" h="884382">
                      <a:moveTo>
                        <a:pt x="334557" y="276945"/>
                      </a:moveTo>
                      <a:cubicBezTo>
                        <a:pt x="237366" y="276945"/>
                        <a:pt x="154440" y="322137"/>
                        <a:pt x="111551" y="406066"/>
                      </a:cubicBezTo>
                      <a:cubicBezTo>
                        <a:pt x="117637" y="269919"/>
                        <a:pt x="144740" y="188934"/>
                        <a:pt x="302604" y="167857"/>
                      </a:cubicBezTo>
                      <a:lnTo>
                        <a:pt x="548053" y="134248"/>
                      </a:lnTo>
                      <a:lnTo>
                        <a:pt x="537973" y="0"/>
                      </a:lnTo>
                      <a:lnTo>
                        <a:pt x="282443" y="35223"/>
                      </a:lnTo>
                      <a:cubicBezTo>
                        <a:pt x="62194" y="65415"/>
                        <a:pt x="0" y="234981"/>
                        <a:pt x="0" y="501767"/>
                      </a:cubicBezTo>
                      <a:cubicBezTo>
                        <a:pt x="0" y="735039"/>
                        <a:pt x="105940" y="884382"/>
                        <a:pt x="302604" y="884382"/>
                      </a:cubicBezTo>
                      <a:cubicBezTo>
                        <a:pt x="494227" y="884382"/>
                        <a:pt x="598455" y="736653"/>
                        <a:pt x="598455" y="563859"/>
                      </a:cubicBezTo>
                      <a:cubicBezTo>
                        <a:pt x="598455" y="391065"/>
                        <a:pt x="482530" y="276945"/>
                        <a:pt x="334557" y="276945"/>
                      </a:cubicBezTo>
                      <a:close/>
                      <a:moveTo>
                        <a:pt x="302604" y="751844"/>
                      </a:moveTo>
                      <a:cubicBezTo>
                        <a:pt x="191624" y="751844"/>
                        <a:pt x="126101" y="671333"/>
                        <a:pt x="126101" y="550472"/>
                      </a:cubicBezTo>
                      <a:lnTo>
                        <a:pt x="126101" y="488380"/>
                      </a:lnTo>
                      <a:cubicBezTo>
                        <a:pt x="149590" y="441384"/>
                        <a:pt x="211880" y="404452"/>
                        <a:pt x="302604" y="404452"/>
                      </a:cubicBezTo>
                      <a:cubicBezTo>
                        <a:pt x="398463" y="404452"/>
                        <a:pt x="472355" y="449739"/>
                        <a:pt x="472355" y="563859"/>
                      </a:cubicBezTo>
                      <a:cubicBezTo>
                        <a:pt x="472355" y="677979"/>
                        <a:pt x="413584" y="751844"/>
                        <a:pt x="302604" y="7518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E53CBC9A-97CC-484B-A29C-FEFBBFE2A563}"/>
                    </a:ext>
                  </a:extLst>
                </p:cNvPr>
                <p:cNvSpPr/>
                <p:nvPr/>
              </p:nvSpPr>
              <p:spPr>
                <a:xfrm>
                  <a:off x="9108086" y="811276"/>
                  <a:ext cx="484146" cy="600791"/>
                </a:xfrm>
                <a:custGeom>
                  <a:avLst/>
                  <a:gdLst>
                    <a:gd name="connsiteX0" fmla="*/ 361375 w 484146"/>
                    <a:gd name="connsiteY0" fmla="*/ 0 h 600791"/>
                    <a:gd name="connsiteX1" fmla="*/ 361375 w 484146"/>
                    <a:gd name="connsiteY1" fmla="*/ 224822 h 600791"/>
                    <a:gd name="connsiteX2" fmla="*/ 122677 w 484146"/>
                    <a:gd name="connsiteY2" fmla="*/ 224822 h 600791"/>
                    <a:gd name="connsiteX3" fmla="*/ 122677 w 484146"/>
                    <a:gd name="connsiteY3" fmla="*/ 0 h 600791"/>
                    <a:gd name="connsiteX4" fmla="*/ 0 w 484146"/>
                    <a:gd name="connsiteY4" fmla="*/ 0 h 600791"/>
                    <a:gd name="connsiteX5" fmla="*/ 0 w 484146"/>
                    <a:gd name="connsiteY5" fmla="*/ 600791 h 600791"/>
                    <a:gd name="connsiteX6" fmla="*/ 122677 w 484146"/>
                    <a:gd name="connsiteY6" fmla="*/ 600791 h 600791"/>
                    <a:gd name="connsiteX7" fmla="*/ 122677 w 484146"/>
                    <a:gd name="connsiteY7" fmla="*/ 349006 h 600791"/>
                    <a:gd name="connsiteX8" fmla="*/ 361375 w 484146"/>
                    <a:gd name="connsiteY8" fmla="*/ 349006 h 600791"/>
                    <a:gd name="connsiteX9" fmla="*/ 361375 w 484146"/>
                    <a:gd name="connsiteY9" fmla="*/ 600791 h 600791"/>
                    <a:gd name="connsiteX10" fmla="*/ 484147 w 484146"/>
                    <a:gd name="connsiteY10" fmla="*/ 600791 h 600791"/>
                    <a:gd name="connsiteX11" fmla="*/ 484147 w 484146"/>
                    <a:gd name="connsiteY11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46" h="600791">
                      <a:moveTo>
                        <a:pt x="361375" y="0"/>
                      </a:moveTo>
                      <a:lnTo>
                        <a:pt x="361375" y="224822"/>
                      </a:lnTo>
                      <a:lnTo>
                        <a:pt x="122677" y="224822"/>
                      </a:ln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2677" y="600791"/>
                      </a:lnTo>
                      <a:lnTo>
                        <a:pt x="122677" y="349006"/>
                      </a:lnTo>
                      <a:lnTo>
                        <a:pt x="361375" y="349006"/>
                      </a:lnTo>
                      <a:lnTo>
                        <a:pt x="361375" y="600791"/>
                      </a:lnTo>
                      <a:lnTo>
                        <a:pt x="484147" y="600791"/>
                      </a:lnTo>
                      <a:lnTo>
                        <a:pt x="4841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0CC967B7-099C-BB4C-BB0E-7494E007451F}"/>
                    </a:ext>
                  </a:extLst>
                </p:cNvPr>
                <p:cNvSpPr/>
                <p:nvPr/>
              </p:nvSpPr>
              <p:spPr>
                <a:xfrm>
                  <a:off x="8456280" y="811276"/>
                  <a:ext cx="497555" cy="600791"/>
                </a:xfrm>
                <a:custGeom>
                  <a:avLst/>
                  <a:gdLst>
                    <a:gd name="connsiteX0" fmla="*/ 122772 w 497555"/>
                    <a:gd name="connsiteY0" fmla="*/ 412142 h 600791"/>
                    <a:gd name="connsiteX1" fmla="*/ 122772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9 w 497555"/>
                    <a:gd name="connsiteY5" fmla="*/ 181719 h 600791"/>
                    <a:gd name="connsiteX6" fmla="*/ 374879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772" y="412142"/>
                      </a:moveTo>
                      <a:lnTo>
                        <a:pt x="122772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9" y="181719"/>
                      </a:lnTo>
                      <a:lnTo>
                        <a:pt x="374879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D5F5AFEF-4C6F-604D-A099-F744A04331FC}"/>
                    </a:ext>
                  </a:extLst>
                </p:cNvPr>
                <p:cNvSpPr/>
                <p:nvPr/>
              </p:nvSpPr>
              <p:spPr>
                <a:xfrm>
                  <a:off x="7183386" y="811276"/>
                  <a:ext cx="517811" cy="609241"/>
                </a:xfrm>
                <a:custGeom>
                  <a:avLst/>
                  <a:gdLst>
                    <a:gd name="connsiteX0" fmla="*/ 114309 w 517811"/>
                    <a:gd name="connsiteY0" fmla="*/ 367520 h 609241"/>
                    <a:gd name="connsiteX1" fmla="*/ 45362 w 517811"/>
                    <a:gd name="connsiteY1" fmla="*/ 463221 h 609241"/>
                    <a:gd name="connsiteX2" fmla="*/ 0 w 517811"/>
                    <a:gd name="connsiteY2" fmla="*/ 458189 h 609241"/>
                    <a:gd name="connsiteX3" fmla="*/ 0 w 517811"/>
                    <a:gd name="connsiteY3" fmla="*/ 597468 h 609241"/>
                    <a:gd name="connsiteX4" fmla="*/ 60483 w 517811"/>
                    <a:gd name="connsiteY4" fmla="*/ 609241 h 609241"/>
                    <a:gd name="connsiteX5" fmla="*/ 191624 w 517811"/>
                    <a:gd name="connsiteY5" fmla="*/ 515249 h 609241"/>
                    <a:gd name="connsiteX6" fmla="*/ 220248 w 517811"/>
                    <a:gd name="connsiteY6" fmla="*/ 369228 h 609241"/>
                    <a:gd name="connsiteX7" fmla="*/ 232041 w 517811"/>
                    <a:gd name="connsiteY7" fmla="*/ 127602 h 609241"/>
                    <a:gd name="connsiteX8" fmla="*/ 395135 w 517811"/>
                    <a:gd name="connsiteY8" fmla="*/ 127602 h 609241"/>
                    <a:gd name="connsiteX9" fmla="*/ 395135 w 517811"/>
                    <a:gd name="connsiteY9" fmla="*/ 600886 h 609241"/>
                    <a:gd name="connsiteX10" fmla="*/ 517812 w 517811"/>
                    <a:gd name="connsiteY10" fmla="*/ 600886 h 609241"/>
                    <a:gd name="connsiteX11" fmla="*/ 517812 w 517811"/>
                    <a:gd name="connsiteY11" fmla="*/ 0 h 609241"/>
                    <a:gd name="connsiteX12" fmla="*/ 129524 w 517811"/>
                    <a:gd name="connsiteY12" fmla="*/ 0 h 609241"/>
                    <a:gd name="connsiteX13" fmla="*/ 114309 w 517811"/>
                    <a:gd name="connsiteY13" fmla="*/ 367520 h 60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7811" h="609241">
                      <a:moveTo>
                        <a:pt x="114309" y="367520"/>
                      </a:moveTo>
                      <a:cubicBezTo>
                        <a:pt x="100900" y="434643"/>
                        <a:pt x="82355" y="463221"/>
                        <a:pt x="45362" y="463221"/>
                      </a:cubicBezTo>
                      <a:cubicBezTo>
                        <a:pt x="25201" y="463221"/>
                        <a:pt x="10080" y="461512"/>
                        <a:pt x="0" y="458189"/>
                      </a:cubicBezTo>
                      <a:lnTo>
                        <a:pt x="0" y="597468"/>
                      </a:lnTo>
                      <a:cubicBezTo>
                        <a:pt x="15121" y="604209"/>
                        <a:pt x="28625" y="609241"/>
                        <a:pt x="60483" y="609241"/>
                      </a:cubicBezTo>
                      <a:cubicBezTo>
                        <a:pt x="124389" y="609241"/>
                        <a:pt x="169751" y="572309"/>
                        <a:pt x="191624" y="515249"/>
                      </a:cubicBezTo>
                      <a:cubicBezTo>
                        <a:pt x="205032" y="480026"/>
                        <a:pt x="213496" y="431320"/>
                        <a:pt x="220248" y="369228"/>
                      </a:cubicBezTo>
                      <a:cubicBezTo>
                        <a:pt x="227001" y="307137"/>
                        <a:pt x="232041" y="224917"/>
                        <a:pt x="232041" y="127602"/>
                      </a:cubicBezTo>
                      <a:lnTo>
                        <a:pt x="395135" y="127602"/>
                      </a:lnTo>
                      <a:lnTo>
                        <a:pt x="395135" y="600886"/>
                      </a:lnTo>
                      <a:lnTo>
                        <a:pt x="517812" y="600886"/>
                      </a:lnTo>
                      <a:lnTo>
                        <a:pt x="517812" y="0"/>
                      </a:lnTo>
                      <a:lnTo>
                        <a:pt x="129524" y="0"/>
                      </a:lnTo>
                      <a:cubicBezTo>
                        <a:pt x="129524" y="181244"/>
                        <a:pt x="124484" y="300396"/>
                        <a:pt x="114309" y="3675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D2EACB4E-3819-5642-9EB8-7F790082F021}"/>
                    </a:ext>
                  </a:extLst>
                </p:cNvPr>
                <p:cNvSpPr/>
                <p:nvPr/>
              </p:nvSpPr>
              <p:spPr>
                <a:xfrm>
                  <a:off x="7829771" y="797794"/>
                  <a:ext cx="514483" cy="624336"/>
                </a:xfrm>
                <a:custGeom>
                  <a:avLst/>
                  <a:gdLst>
                    <a:gd name="connsiteX0" fmla="*/ 450482 w 514483"/>
                    <a:gd name="connsiteY0" fmla="*/ 451448 h 624336"/>
                    <a:gd name="connsiteX1" fmla="*/ 452194 w 514483"/>
                    <a:gd name="connsiteY1" fmla="*/ 213144 h 624336"/>
                    <a:gd name="connsiteX2" fmla="*/ 226905 w 514483"/>
                    <a:gd name="connsiteY2" fmla="*/ 0 h 624336"/>
                    <a:gd name="connsiteX3" fmla="*/ 0 w 514483"/>
                    <a:gd name="connsiteY3" fmla="*/ 201371 h 624336"/>
                    <a:gd name="connsiteX4" fmla="*/ 117637 w 514483"/>
                    <a:gd name="connsiteY4" fmla="*/ 201371 h 624336"/>
                    <a:gd name="connsiteX5" fmla="*/ 226905 w 514483"/>
                    <a:gd name="connsiteY5" fmla="*/ 127507 h 624336"/>
                    <a:gd name="connsiteX6" fmla="*/ 333701 w 514483"/>
                    <a:gd name="connsiteY6" fmla="*/ 207827 h 624336"/>
                    <a:gd name="connsiteX7" fmla="*/ 183255 w 514483"/>
                    <a:gd name="connsiteY7" fmla="*/ 268495 h 624336"/>
                    <a:gd name="connsiteX8" fmla="*/ 3424 w 514483"/>
                    <a:gd name="connsiteY8" fmla="*/ 456480 h 624336"/>
                    <a:gd name="connsiteX9" fmla="*/ 174886 w 514483"/>
                    <a:gd name="connsiteY9" fmla="*/ 624337 h 624336"/>
                    <a:gd name="connsiteX10" fmla="*/ 343686 w 514483"/>
                    <a:gd name="connsiteY10" fmla="*/ 514964 h 624336"/>
                    <a:gd name="connsiteX11" fmla="*/ 480818 w 514483"/>
                    <a:gd name="connsiteY11" fmla="*/ 619305 h 624336"/>
                    <a:gd name="connsiteX12" fmla="*/ 514483 w 514483"/>
                    <a:gd name="connsiteY12" fmla="*/ 619305 h 624336"/>
                    <a:gd name="connsiteX13" fmla="*/ 514483 w 514483"/>
                    <a:gd name="connsiteY13" fmla="*/ 503476 h 624336"/>
                    <a:gd name="connsiteX14" fmla="*/ 504403 w 514483"/>
                    <a:gd name="connsiteY14" fmla="*/ 503476 h 624336"/>
                    <a:gd name="connsiteX15" fmla="*/ 450482 w 514483"/>
                    <a:gd name="connsiteY15" fmla="*/ 451448 h 624336"/>
                    <a:gd name="connsiteX16" fmla="*/ 220153 w 514483"/>
                    <a:gd name="connsiteY16" fmla="*/ 498444 h 624336"/>
                    <a:gd name="connsiteX17" fmla="*/ 120965 w 514483"/>
                    <a:gd name="connsiteY17" fmla="*/ 431320 h 624336"/>
                    <a:gd name="connsiteX18" fmla="*/ 216825 w 514483"/>
                    <a:gd name="connsiteY18" fmla="*/ 340651 h 624336"/>
                    <a:gd name="connsiteX19" fmla="*/ 333986 w 514483"/>
                    <a:gd name="connsiteY19" fmla="*/ 292041 h 624336"/>
                    <a:gd name="connsiteX20" fmla="*/ 332750 w 514483"/>
                    <a:gd name="connsiteY20" fmla="*/ 454771 h 624336"/>
                    <a:gd name="connsiteX21" fmla="*/ 220153 w 514483"/>
                    <a:gd name="connsiteY21" fmla="*/ 498444 h 62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483" h="624336">
                      <a:moveTo>
                        <a:pt x="450482" y="451448"/>
                      </a:moveTo>
                      <a:lnTo>
                        <a:pt x="452194" y="213144"/>
                      </a:lnTo>
                      <a:cubicBezTo>
                        <a:pt x="453906" y="62092"/>
                        <a:pt x="361375" y="0"/>
                        <a:pt x="226905" y="0"/>
                      </a:cubicBezTo>
                      <a:cubicBezTo>
                        <a:pt x="115925" y="0"/>
                        <a:pt x="15121" y="60383"/>
                        <a:pt x="0" y="201371"/>
                      </a:cubicBezTo>
                      <a:lnTo>
                        <a:pt x="117637" y="201371"/>
                      </a:lnTo>
                      <a:cubicBezTo>
                        <a:pt x="124389" y="146020"/>
                        <a:pt x="168039" y="127507"/>
                        <a:pt x="226905" y="127507"/>
                      </a:cubicBezTo>
                      <a:cubicBezTo>
                        <a:pt x="287198" y="127507"/>
                        <a:pt x="327615" y="146020"/>
                        <a:pt x="333701" y="207827"/>
                      </a:cubicBezTo>
                      <a:lnTo>
                        <a:pt x="183255" y="268495"/>
                      </a:lnTo>
                      <a:cubicBezTo>
                        <a:pt x="80739" y="310460"/>
                        <a:pt x="3424" y="357456"/>
                        <a:pt x="3424" y="456480"/>
                      </a:cubicBezTo>
                      <a:cubicBezTo>
                        <a:pt x="3424" y="558827"/>
                        <a:pt x="60578" y="624337"/>
                        <a:pt x="174886" y="624337"/>
                      </a:cubicBezTo>
                      <a:cubicBezTo>
                        <a:pt x="253818" y="624337"/>
                        <a:pt x="303745" y="587310"/>
                        <a:pt x="343686" y="514964"/>
                      </a:cubicBezTo>
                      <a:cubicBezTo>
                        <a:pt x="349678" y="587310"/>
                        <a:pt x="397702" y="619305"/>
                        <a:pt x="480818" y="619305"/>
                      </a:cubicBezTo>
                      <a:lnTo>
                        <a:pt x="514483" y="619305"/>
                      </a:lnTo>
                      <a:lnTo>
                        <a:pt x="514483" y="503476"/>
                      </a:lnTo>
                      <a:lnTo>
                        <a:pt x="504403" y="503476"/>
                      </a:lnTo>
                      <a:cubicBezTo>
                        <a:pt x="465603" y="503476"/>
                        <a:pt x="450482" y="488380"/>
                        <a:pt x="450482" y="451448"/>
                      </a:cubicBezTo>
                      <a:close/>
                      <a:moveTo>
                        <a:pt x="220153" y="498444"/>
                      </a:moveTo>
                      <a:cubicBezTo>
                        <a:pt x="162999" y="498444"/>
                        <a:pt x="120965" y="483348"/>
                        <a:pt x="120965" y="431320"/>
                      </a:cubicBezTo>
                      <a:cubicBezTo>
                        <a:pt x="120965" y="386033"/>
                        <a:pt x="156247" y="365905"/>
                        <a:pt x="216825" y="340651"/>
                      </a:cubicBezTo>
                      <a:lnTo>
                        <a:pt x="333986" y="292041"/>
                      </a:lnTo>
                      <a:lnTo>
                        <a:pt x="332750" y="454771"/>
                      </a:lnTo>
                      <a:cubicBezTo>
                        <a:pt x="312589" y="480025"/>
                        <a:pt x="272267" y="498444"/>
                        <a:pt x="220153" y="4984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grpSp>
            <p:nvGrpSpPr>
              <p:cNvPr id="34" name="Graphic 6">
                <a:extLst>
                  <a:ext uri="{FF2B5EF4-FFF2-40B4-BE49-F238E27FC236}">
                    <a16:creationId xmlns:a16="http://schemas.microsoft.com/office/drawing/2014/main" id="{3E1D00C3-E3B4-C148-BD52-C7D614E54876}"/>
                  </a:ext>
                </a:extLst>
              </p:cNvPr>
              <p:cNvGrpSpPr/>
              <p:nvPr/>
            </p:nvGrpSpPr>
            <p:grpSpPr>
              <a:xfrm>
                <a:off x="4586236" y="536515"/>
                <a:ext cx="981996" cy="979755"/>
                <a:chOff x="4586236" y="536515"/>
                <a:chExt cx="981996" cy="979755"/>
              </a:xfrm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9973A50C-EE76-3C4D-B1C8-2EB689D447DB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6B4B9FF1-1125-6849-9DA2-AD0432DB9D5D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BFC6014-BF9F-3D4B-B478-61C7BEC79C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BD9BBE-600E-6948-A442-948354DEAE7E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48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26" r:id="rId2"/>
    <p:sldLayoutId id="2147483827" r:id="rId3"/>
    <p:sldLayoutId id="2147483846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74" r:id="rId12"/>
    <p:sldLayoutId id="2147483835" r:id="rId13"/>
    <p:sldLayoutId id="2147483872" r:id="rId14"/>
    <p:sldLayoutId id="2147483836" r:id="rId15"/>
    <p:sldLayoutId id="2147483837" r:id="rId16"/>
    <p:sldLayoutId id="2147483838" r:id="rId17"/>
    <p:sldLayoutId id="2147483839" r:id="rId18"/>
    <p:sldLayoutId id="2147483840" r:id="rId19"/>
    <p:sldLayoutId id="2147483841" r:id="rId20"/>
    <p:sldLayoutId id="2147483842" r:id="rId21"/>
    <p:sldLayoutId id="2147483843" r:id="rId22"/>
    <p:sldLayoutId id="2147483875" r:id="rId23"/>
    <p:sldLayoutId id="2147483876" r:id="rId24"/>
    <p:sldLayoutId id="2147483877" r:id="rId25"/>
    <p:sldLayoutId id="2147483844" r:id="rId26"/>
    <p:sldLayoutId id="2147483845" r:id="rId27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64" userDrawn="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722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/>
          <p:cNvGraphicFramePr>
            <a:graphicFrameLocks noChangeAspect="1"/>
          </p:cNvGraphicFramePr>
          <p:nvPr userDrawn="1">
            <p:custDataLst>
              <p:tags r:id="rId3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1" name="Слайд think-cell" r:id="rId33" imgW="360" imgH="360" progId="TCLayout.ActiveDocument.1">
                  <p:embed/>
                </p:oleObj>
              </mc:Choice>
              <mc:Fallback>
                <p:oleObj name="Слайд think-cell" r:id="rId33" imgW="360" imgH="36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 userDrawn="1">
            <p:custDataLst>
              <p:tags r:id="rId3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100" b="0" i="0" baseline="0" dirty="0" err="1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8599"/>
            <a:ext cx="9361487" cy="995363"/>
          </a:xfrm>
          <a:prstGeom prst="rect">
            <a:avLst/>
          </a:prstGeom>
        </p:spPr>
        <p:txBody>
          <a:bodyPr vert="horz" wrap="squar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www.link.com. 7pt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D37E1-4A2E-F34E-9597-9E5CF181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987" y="1266549"/>
            <a:ext cx="10784725" cy="41116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ru-RU" dirty="0"/>
              <a:t>текст слайда. </a:t>
            </a:r>
            <a:r>
              <a:rPr lang="en-US" dirty="0"/>
              <a:t>beeline sans. 14 </a:t>
            </a:r>
            <a:r>
              <a:rPr lang="en-US" dirty="0" err="1"/>
              <a:t>pt</a:t>
            </a:r>
            <a:endParaRPr lang="en-RU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ECCF3A-24DB-DB41-A647-1628FF18FA65}"/>
              </a:ext>
            </a:extLst>
          </p:cNvPr>
          <p:cNvGrpSpPr/>
          <p:nvPr userDrawn="1"/>
        </p:nvGrpSpPr>
        <p:grpSpPr>
          <a:xfrm>
            <a:off x="9930121" y="262119"/>
            <a:ext cx="1238520" cy="319009"/>
            <a:chOff x="285404" y="226734"/>
            <a:chExt cx="1790694" cy="461234"/>
          </a:xfrm>
        </p:grpSpPr>
        <p:grpSp>
          <p:nvGrpSpPr>
            <p:cNvPr id="30" name="Graphic 6">
              <a:extLst>
                <a:ext uri="{FF2B5EF4-FFF2-40B4-BE49-F238E27FC236}">
                  <a16:creationId xmlns:a16="http://schemas.microsoft.com/office/drawing/2014/main" id="{3556D2A5-5AD1-194A-B325-FC714E4A945E}"/>
                </a:ext>
              </a:extLst>
            </p:cNvPr>
            <p:cNvGrpSpPr/>
            <p:nvPr/>
          </p:nvGrpSpPr>
          <p:grpSpPr>
            <a:xfrm>
              <a:off x="347551" y="287518"/>
              <a:ext cx="1728547" cy="338305"/>
              <a:chOff x="4586236" y="536515"/>
              <a:chExt cx="5005996" cy="979755"/>
            </a:xfrm>
          </p:grpSpPr>
          <p:grpSp>
            <p:nvGrpSpPr>
              <p:cNvPr id="33" name="Graphic 6">
                <a:extLst>
                  <a:ext uri="{FF2B5EF4-FFF2-40B4-BE49-F238E27FC236}">
                    <a16:creationId xmlns:a16="http://schemas.microsoft.com/office/drawing/2014/main" id="{69FAC5AF-505B-3D4D-BCE5-A78C2FB08233}"/>
                  </a:ext>
                </a:extLst>
              </p:cNvPr>
              <p:cNvGrpSpPr/>
              <p:nvPr/>
            </p:nvGrpSpPr>
            <p:grpSpPr>
              <a:xfrm>
                <a:off x="5858663" y="539363"/>
                <a:ext cx="3733569" cy="884382"/>
                <a:chOff x="5858663" y="539363"/>
                <a:chExt cx="3733569" cy="884382"/>
              </a:xfrm>
              <a:solidFill>
                <a:srgbClr val="000000"/>
              </a:solidFill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3919EBFC-16BA-5041-8534-83B5DACB8D41}"/>
                    </a:ext>
                  </a:extLst>
                </p:cNvPr>
                <p:cNvSpPr/>
                <p:nvPr/>
              </p:nvSpPr>
              <p:spPr>
                <a:xfrm>
                  <a:off x="8518665" y="593100"/>
                  <a:ext cx="368031" cy="166148"/>
                </a:xfrm>
                <a:custGeom>
                  <a:avLst/>
                  <a:gdLst>
                    <a:gd name="connsiteX0" fmla="*/ 184777 w 368031"/>
                    <a:gd name="connsiteY0" fmla="*/ 166148 h 166148"/>
                    <a:gd name="connsiteX1" fmla="*/ 368032 w 368031"/>
                    <a:gd name="connsiteY1" fmla="*/ 0 h 166148"/>
                    <a:gd name="connsiteX2" fmla="*/ 270556 w 368031"/>
                    <a:gd name="connsiteY2" fmla="*/ 0 h 166148"/>
                    <a:gd name="connsiteX3" fmla="*/ 184872 w 368031"/>
                    <a:gd name="connsiteY3" fmla="*/ 60383 h 166148"/>
                    <a:gd name="connsiteX4" fmla="*/ 97476 w 368031"/>
                    <a:gd name="connsiteY4" fmla="*/ 0 h 166148"/>
                    <a:gd name="connsiteX5" fmla="*/ 0 w 368031"/>
                    <a:gd name="connsiteY5" fmla="*/ 0 h 166148"/>
                    <a:gd name="connsiteX6" fmla="*/ 184777 w 368031"/>
                    <a:gd name="connsiteY6" fmla="*/ 166148 h 16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8031" h="166148">
                      <a:moveTo>
                        <a:pt x="184777" y="166148"/>
                      </a:moveTo>
                      <a:cubicBezTo>
                        <a:pt x="283964" y="166148"/>
                        <a:pt x="354527" y="114120"/>
                        <a:pt x="368032" y="0"/>
                      </a:cubicBezTo>
                      <a:lnTo>
                        <a:pt x="270556" y="0"/>
                      </a:lnTo>
                      <a:cubicBezTo>
                        <a:pt x="260475" y="40255"/>
                        <a:pt x="236891" y="60383"/>
                        <a:pt x="184872" y="60383"/>
                      </a:cubicBezTo>
                      <a:cubicBezTo>
                        <a:pt x="132758" y="60383"/>
                        <a:pt x="105845" y="40255"/>
                        <a:pt x="97476" y="0"/>
                      </a:cubicBezTo>
                      <a:lnTo>
                        <a:pt x="0" y="0"/>
                      </a:lnTo>
                      <a:cubicBezTo>
                        <a:pt x="13314" y="114120"/>
                        <a:pt x="85589" y="166148"/>
                        <a:pt x="184777" y="1661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C784E81-7AA0-574B-A2D7-C71F9739C84D}"/>
                    </a:ext>
                  </a:extLst>
                </p:cNvPr>
                <p:cNvSpPr/>
                <p:nvPr/>
              </p:nvSpPr>
              <p:spPr>
                <a:xfrm>
                  <a:off x="6579415" y="811276"/>
                  <a:ext cx="497555" cy="600791"/>
                </a:xfrm>
                <a:custGeom>
                  <a:avLst/>
                  <a:gdLst>
                    <a:gd name="connsiteX0" fmla="*/ 122677 w 497555"/>
                    <a:gd name="connsiteY0" fmla="*/ 412142 h 600791"/>
                    <a:gd name="connsiteX1" fmla="*/ 122677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8 w 497555"/>
                    <a:gd name="connsiteY5" fmla="*/ 181719 h 600791"/>
                    <a:gd name="connsiteX6" fmla="*/ 374878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677" y="412142"/>
                      </a:move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8" y="181719"/>
                      </a:lnTo>
                      <a:lnTo>
                        <a:pt x="374878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D7E838F9-8739-5D41-A200-CAA7E718BB03}"/>
                    </a:ext>
                  </a:extLst>
                </p:cNvPr>
                <p:cNvSpPr/>
                <p:nvPr/>
              </p:nvSpPr>
              <p:spPr>
                <a:xfrm>
                  <a:off x="5858663" y="539363"/>
                  <a:ext cx="598455" cy="884382"/>
                </a:xfrm>
                <a:custGeom>
                  <a:avLst/>
                  <a:gdLst>
                    <a:gd name="connsiteX0" fmla="*/ 334557 w 598455"/>
                    <a:gd name="connsiteY0" fmla="*/ 276945 h 884382"/>
                    <a:gd name="connsiteX1" fmla="*/ 111551 w 598455"/>
                    <a:gd name="connsiteY1" fmla="*/ 406066 h 884382"/>
                    <a:gd name="connsiteX2" fmla="*/ 302604 w 598455"/>
                    <a:gd name="connsiteY2" fmla="*/ 167857 h 884382"/>
                    <a:gd name="connsiteX3" fmla="*/ 548053 w 598455"/>
                    <a:gd name="connsiteY3" fmla="*/ 134248 h 884382"/>
                    <a:gd name="connsiteX4" fmla="*/ 537973 w 598455"/>
                    <a:gd name="connsiteY4" fmla="*/ 0 h 884382"/>
                    <a:gd name="connsiteX5" fmla="*/ 282443 w 598455"/>
                    <a:gd name="connsiteY5" fmla="*/ 35223 h 884382"/>
                    <a:gd name="connsiteX6" fmla="*/ 0 w 598455"/>
                    <a:gd name="connsiteY6" fmla="*/ 501767 h 884382"/>
                    <a:gd name="connsiteX7" fmla="*/ 302604 w 598455"/>
                    <a:gd name="connsiteY7" fmla="*/ 884382 h 884382"/>
                    <a:gd name="connsiteX8" fmla="*/ 598455 w 598455"/>
                    <a:gd name="connsiteY8" fmla="*/ 563859 h 884382"/>
                    <a:gd name="connsiteX9" fmla="*/ 334557 w 598455"/>
                    <a:gd name="connsiteY9" fmla="*/ 276945 h 884382"/>
                    <a:gd name="connsiteX10" fmla="*/ 302604 w 598455"/>
                    <a:gd name="connsiteY10" fmla="*/ 751844 h 884382"/>
                    <a:gd name="connsiteX11" fmla="*/ 126101 w 598455"/>
                    <a:gd name="connsiteY11" fmla="*/ 550472 h 884382"/>
                    <a:gd name="connsiteX12" fmla="*/ 126101 w 598455"/>
                    <a:gd name="connsiteY12" fmla="*/ 488380 h 884382"/>
                    <a:gd name="connsiteX13" fmla="*/ 302604 w 598455"/>
                    <a:gd name="connsiteY13" fmla="*/ 404452 h 884382"/>
                    <a:gd name="connsiteX14" fmla="*/ 472355 w 598455"/>
                    <a:gd name="connsiteY14" fmla="*/ 563859 h 884382"/>
                    <a:gd name="connsiteX15" fmla="*/ 302604 w 598455"/>
                    <a:gd name="connsiteY15" fmla="*/ 751844 h 88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8455" h="884382">
                      <a:moveTo>
                        <a:pt x="334557" y="276945"/>
                      </a:moveTo>
                      <a:cubicBezTo>
                        <a:pt x="237366" y="276945"/>
                        <a:pt x="154440" y="322137"/>
                        <a:pt x="111551" y="406066"/>
                      </a:cubicBezTo>
                      <a:cubicBezTo>
                        <a:pt x="117637" y="269919"/>
                        <a:pt x="144740" y="188934"/>
                        <a:pt x="302604" y="167857"/>
                      </a:cubicBezTo>
                      <a:lnTo>
                        <a:pt x="548053" y="134248"/>
                      </a:lnTo>
                      <a:lnTo>
                        <a:pt x="537973" y="0"/>
                      </a:lnTo>
                      <a:lnTo>
                        <a:pt x="282443" y="35223"/>
                      </a:lnTo>
                      <a:cubicBezTo>
                        <a:pt x="62194" y="65415"/>
                        <a:pt x="0" y="234981"/>
                        <a:pt x="0" y="501767"/>
                      </a:cubicBezTo>
                      <a:cubicBezTo>
                        <a:pt x="0" y="735039"/>
                        <a:pt x="105940" y="884382"/>
                        <a:pt x="302604" y="884382"/>
                      </a:cubicBezTo>
                      <a:cubicBezTo>
                        <a:pt x="494227" y="884382"/>
                        <a:pt x="598455" y="736653"/>
                        <a:pt x="598455" y="563859"/>
                      </a:cubicBezTo>
                      <a:cubicBezTo>
                        <a:pt x="598455" y="391065"/>
                        <a:pt x="482530" y="276945"/>
                        <a:pt x="334557" y="276945"/>
                      </a:cubicBezTo>
                      <a:close/>
                      <a:moveTo>
                        <a:pt x="302604" y="751844"/>
                      </a:moveTo>
                      <a:cubicBezTo>
                        <a:pt x="191624" y="751844"/>
                        <a:pt x="126101" y="671333"/>
                        <a:pt x="126101" y="550472"/>
                      </a:cubicBezTo>
                      <a:lnTo>
                        <a:pt x="126101" y="488380"/>
                      </a:lnTo>
                      <a:cubicBezTo>
                        <a:pt x="149590" y="441384"/>
                        <a:pt x="211880" y="404452"/>
                        <a:pt x="302604" y="404452"/>
                      </a:cubicBezTo>
                      <a:cubicBezTo>
                        <a:pt x="398463" y="404452"/>
                        <a:pt x="472355" y="449739"/>
                        <a:pt x="472355" y="563859"/>
                      </a:cubicBezTo>
                      <a:cubicBezTo>
                        <a:pt x="472355" y="677979"/>
                        <a:pt x="413584" y="751844"/>
                        <a:pt x="302604" y="7518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E53CBC9A-97CC-484B-A29C-FEFBBFE2A563}"/>
                    </a:ext>
                  </a:extLst>
                </p:cNvPr>
                <p:cNvSpPr/>
                <p:nvPr/>
              </p:nvSpPr>
              <p:spPr>
                <a:xfrm>
                  <a:off x="9108086" y="811276"/>
                  <a:ext cx="484146" cy="600791"/>
                </a:xfrm>
                <a:custGeom>
                  <a:avLst/>
                  <a:gdLst>
                    <a:gd name="connsiteX0" fmla="*/ 361375 w 484146"/>
                    <a:gd name="connsiteY0" fmla="*/ 0 h 600791"/>
                    <a:gd name="connsiteX1" fmla="*/ 361375 w 484146"/>
                    <a:gd name="connsiteY1" fmla="*/ 224822 h 600791"/>
                    <a:gd name="connsiteX2" fmla="*/ 122677 w 484146"/>
                    <a:gd name="connsiteY2" fmla="*/ 224822 h 600791"/>
                    <a:gd name="connsiteX3" fmla="*/ 122677 w 484146"/>
                    <a:gd name="connsiteY3" fmla="*/ 0 h 600791"/>
                    <a:gd name="connsiteX4" fmla="*/ 0 w 484146"/>
                    <a:gd name="connsiteY4" fmla="*/ 0 h 600791"/>
                    <a:gd name="connsiteX5" fmla="*/ 0 w 484146"/>
                    <a:gd name="connsiteY5" fmla="*/ 600791 h 600791"/>
                    <a:gd name="connsiteX6" fmla="*/ 122677 w 484146"/>
                    <a:gd name="connsiteY6" fmla="*/ 600791 h 600791"/>
                    <a:gd name="connsiteX7" fmla="*/ 122677 w 484146"/>
                    <a:gd name="connsiteY7" fmla="*/ 349006 h 600791"/>
                    <a:gd name="connsiteX8" fmla="*/ 361375 w 484146"/>
                    <a:gd name="connsiteY8" fmla="*/ 349006 h 600791"/>
                    <a:gd name="connsiteX9" fmla="*/ 361375 w 484146"/>
                    <a:gd name="connsiteY9" fmla="*/ 600791 h 600791"/>
                    <a:gd name="connsiteX10" fmla="*/ 484147 w 484146"/>
                    <a:gd name="connsiteY10" fmla="*/ 600791 h 600791"/>
                    <a:gd name="connsiteX11" fmla="*/ 484147 w 484146"/>
                    <a:gd name="connsiteY11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46" h="600791">
                      <a:moveTo>
                        <a:pt x="361375" y="0"/>
                      </a:moveTo>
                      <a:lnTo>
                        <a:pt x="361375" y="224822"/>
                      </a:lnTo>
                      <a:lnTo>
                        <a:pt x="122677" y="224822"/>
                      </a:ln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2677" y="600791"/>
                      </a:lnTo>
                      <a:lnTo>
                        <a:pt x="122677" y="349006"/>
                      </a:lnTo>
                      <a:lnTo>
                        <a:pt x="361375" y="349006"/>
                      </a:lnTo>
                      <a:lnTo>
                        <a:pt x="361375" y="600791"/>
                      </a:lnTo>
                      <a:lnTo>
                        <a:pt x="484147" y="600791"/>
                      </a:lnTo>
                      <a:lnTo>
                        <a:pt x="4841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0CC967B7-099C-BB4C-BB0E-7494E007451F}"/>
                    </a:ext>
                  </a:extLst>
                </p:cNvPr>
                <p:cNvSpPr/>
                <p:nvPr/>
              </p:nvSpPr>
              <p:spPr>
                <a:xfrm>
                  <a:off x="8456280" y="811276"/>
                  <a:ext cx="497555" cy="600791"/>
                </a:xfrm>
                <a:custGeom>
                  <a:avLst/>
                  <a:gdLst>
                    <a:gd name="connsiteX0" fmla="*/ 122772 w 497555"/>
                    <a:gd name="connsiteY0" fmla="*/ 412142 h 600791"/>
                    <a:gd name="connsiteX1" fmla="*/ 122772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9 w 497555"/>
                    <a:gd name="connsiteY5" fmla="*/ 181719 h 600791"/>
                    <a:gd name="connsiteX6" fmla="*/ 374879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772" y="412142"/>
                      </a:moveTo>
                      <a:lnTo>
                        <a:pt x="122772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9" y="181719"/>
                      </a:lnTo>
                      <a:lnTo>
                        <a:pt x="374879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D5F5AFEF-4C6F-604D-A099-F744A04331FC}"/>
                    </a:ext>
                  </a:extLst>
                </p:cNvPr>
                <p:cNvSpPr/>
                <p:nvPr/>
              </p:nvSpPr>
              <p:spPr>
                <a:xfrm>
                  <a:off x="7183386" y="811276"/>
                  <a:ext cx="517811" cy="609241"/>
                </a:xfrm>
                <a:custGeom>
                  <a:avLst/>
                  <a:gdLst>
                    <a:gd name="connsiteX0" fmla="*/ 114309 w 517811"/>
                    <a:gd name="connsiteY0" fmla="*/ 367520 h 609241"/>
                    <a:gd name="connsiteX1" fmla="*/ 45362 w 517811"/>
                    <a:gd name="connsiteY1" fmla="*/ 463221 h 609241"/>
                    <a:gd name="connsiteX2" fmla="*/ 0 w 517811"/>
                    <a:gd name="connsiteY2" fmla="*/ 458189 h 609241"/>
                    <a:gd name="connsiteX3" fmla="*/ 0 w 517811"/>
                    <a:gd name="connsiteY3" fmla="*/ 597468 h 609241"/>
                    <a:gd name="connsiteX4" fmla="*/ 60483 w 517811"/>
                    <a:gd name="connsiteY4" fmla="*/ 609241 h 609241"/>
                    <a:gd name="connsiteX5" fmla="*/ 191624 w 517811"/>
                    <a:gd name="connsiteY5" fmla="*/ 515249 h 609241"/>
                    <a:gd name="connsiteX6" fmla="*/ 220248 w 517811"/>
                    <a:gd name="connsiteY6" fmla="*/ 369228 h 609241"/>
                    <a:gd name="connsiteX7" fmla="*/ 232041 w 517811"/>
                    <a:gd name="connsiteY7" fmla="*/ 127602 h 609241"/>
                    <a:gd name="connsiteX8" fmla="*/ 395135 w 517811"/>
                    <a:gd name="connsiteY8" fmla="*/ 127602 h 609241"/>
                    <a:gd name="connsiteX9" fmla="*/ 395135 w 517811"/>
                    <a:gd name="connsiteY9" fmla="*/ 600886 h 609241"/>
                    <a:gd name="connsiteX10" fmla="*/ 517812 w 517811"/>
                    <a:gd name="connsiteY10" fmla="*/ 600886 h 609241"/>
                    <a:gd name="connsiteX11" fmla="*/ 517812 w 517811"/>
                    <a:gd name="connsiteY11" fmla="*/ 0 h 609241"/>
                    <a:gd name="connsiteX12" fmla="*/ 129524 w 517811"/>
                    <a:gd name="connsiteY12" fmla="*/ 0 h 609241"/>
                    <a:gd name="connsiteX13" fmla="*/ 114309 w 517811"/>
                    <a:gd name="connsiteY13" fmla="*/ 367520 h 60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7811" h="609241">
                      <a:moveTo>
                        <a:pt x="114309" y="367520"/>
                      </a:moveTo>
                      <a:cubicBezTo>
                        <a:pt x="100900" y="434643"/>
                        <a:pt x="82355" y="463221"/>
                        <a:pt x="45362" y="463221"/>
                      </a:cubicBezTo>
                      <a:cubicBezTo>
                        <a:pt x="25201" y="463221"/>
                        <a:pt x="10080" y="461512"/>
                        <a:pt x="0" y="458189"/>
                      </a:cubicBezTo>
                      <a:lnTo>
                        <a:pt x="0" y="597468"/>
                      </a:lnTo>
                      <a:cubicBezTo>
                        <a:pt x="15121" y="604209"/>
                        <a:pt x="28625" y="609241"/>
                        <a:pt x="60483" y="609241"/>
                      </a:cubicBezTo>
                      <a:cubicBezTo>
                        <a:pt x="124389" y="609241"/>
                        <a:pt x="169751" y="572309"/>
                        <a:pt x="191624" y="515249"/>
                      </a:cubicBezTo>
                      <a:cubicBezTo>
                        <a:pt x="205032" y="480026"/>
                        <a:pt x="213496" y="431320"/>
                        <a:pt x="220248" y="369228"/>
                      </a:cubicBezTo>
                      <a:cubicBezTo>
                        <a:pt x="227001" y="307137"/>
                        <a:pt x="232041" y="224917"/>
                        <a:pt x="232041" y="127602"/>
                      </a:cubicBezTo>
                      <a:lnTo>
                        <a:pt x="395135" y="127602"/>
                      </a:lnTo>
                      <a:lnTo>
                        <a:pt x="395135" y="600886"/>
                      </a:lnTo>
                      <a:lnTo>
                        <a:pt x="517812" y="600886"/>
                      </a:lnTo>
                      <a:lnTo>
                        <a:pt x="517812" y="0"/>
                      </a:lnTo>
                      <a:lnTo>
                        <a:pt x="129524" y="0"/>
                      </a:lnTo>
                      <a:cubicBezTo>
                        <a:pt x="129524" y="181244"/>
                        <a:pt x="124484" y="300396"/>
                        <a:pt x="114309" y="3675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D2EACB4E-3819-5642-9EB8-7F790082F021}"/>
                    </a:ext>
                  </a:extLst>
                </p:cNvPr>
                <p:cNvSpPr/>
                <p:nvPr/>
              </p:nvSpPr>
              <p:spPr>
                <a:xfrm>
                  <a:off x="7829771" y="797794"/>
                  <a:ext cx="514483" cy="624336"/>
                </a:xfrm>
                <a:custGeom>
                  <a:avLst/>
                  <a:gdLst>
                    <a:gd name="connsiteX0" fmla="*/ 450482 w 514483"/>
                    <a:gd name="connsiteY0" fmla="*/ 451448 h 624336"/>
                    <a:gd name="connsiteX1" fmla="*/ 452194 w 514483"/>
                    <a:gd name="connsiteY1" fmla="*/ 213144 h 624336"/>
                    <a:gd name="connsiteX2" fmla="*/ 226905 w 514483"/>
                    <a:gd name="connsiteY2" fmla="*/ 0 h 624336"/>
                    <a:gd name="connsiteX3" fmla="*/ 0 w 514483"/>
                    <a:gd name="connsiteY3" fmla="*/ 201371 h 624336"/>
                    <a:gd name="connsiteX4" fmla="*/ 117637 w 514483"/>
                    <a:gd name="connsiteY4" fmla="*/ 201371 h 624336"/>
                    <a:gd name="connsiteX5" fmla="*/ 226905 w 514483"/>
                    <a:gd name="connsiteY5" fmla="*/ 127507 h 624336"/>
                    <a:gd name="connsiteX6" fmla="*/ 333701 w 514483"/>
                    <a:gd name="connsiteY6" fmla="*/ 207827 h 624336"/>
                    <a:gd name="connsiteX7" fmla="*/ 183255 w 514483"/>
                    <a:gd name="connsiteY7" fmla="*/ 268495 h 624336"/>
                    <a:gd name="connsiteX8" fmla="*/ 3424 w 514483"/>
                    <a:gd name="connsiteY8" fmla="*/ 456480 h 624336"/>
                    <a:gd name="connsiteX9" fmla="*/ 174886 w 514483"/>
                    <a:gd name="connsiteY9" fmla="*/ 624337 h 624336"/>
                    <a:gd name="connsiteX10" fmla="*/ 343686 w 514483"/>
                    <a:gd name="connsiteY10" fmla="*/ 514964 h 624336"/>
                    <a:gd name="connsiteX11" fmla="*/ 480818 w 514483"/>
                    <a:gd name="connsiteY11" fmla="*/ 619305 h 624336"/>
                    <a:gd name="connsiteX12" fmla="*/ 514483 w 514483"/>
                    <a:gd name="connsiteY12" fmla="*/ 619305 h 624336"/>
                    <a:gd name="connsiteX13" fmla="*/ 514483 w 514483"/>
                    <a:gd name="connsiteY13" fmla="*/ 503476 h 624336"/>
                    <a:gd name="connsiteX14" fmla="*/ 504403 w 514483"/>
                    <a:gd name="connsiteY14" fmla="*/ 503476 h 624336"/>
                    <a:gd name="connsiteX15" fmla="*/ 450482 w 514483"/>
                    <a:gd name="connsiteY15" fmla="*/ 451448 h 624336"/>
                    <a:gd name="connsiteX16" fmla="*/ 220153 w 514483"/>
                    <a:gd name="connsiteY16" fmla="*/ 498444 h 624336"/>
                    <a:gd name="connsiteX17" fmla="*/ 120965 w 514483"/>
                    <a:gd name="connsiteY17" fmla="*/ 431320 h 624336"/>
                    <a:gd name="connsiteX18" fmla="*/ 216825 w 514483"/>
                    <a:gd name="connsiteY18" fmla="*/ 340651 h 624336"/>
                    <a:gd name="connsiteX19" fmla="*/ 333986 w 514483"/>
                    <a:gd name="connsiteY19" fmla="*/ 292041 h 624336"/>
                    <a:gd name="connsiteX20" fmla="*/ 332750 w 514483"/>
                    <a:gd name="connsiteY20" fmla="*/ 454771 h 624336"/>
                    <a:gd name="connsiteX21" fmla="*/ 220153 w 514483"/>
                    <a:gd name="connsiteY21" fmla="*/ 498444 h 62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483" h="624336">
                      <a:moveTo>
                        <a:pt x="450482" y="451448"/>
                      </a:moveTo>
                      <a:lnTo>
                        <a:pt x="452194" y="213144"/>
                      </a:lnTo>
                      <a:cubicBezTo>
                        <a:pt x="453906" y="62092"/>
                        <a:pt x="361375" y="0"/>
                        <a:pt x="226905" y="0"/>
                      </a:cubicBezTo>
                      <a:cubicBezTo>
                        <a:pt x="115925" y="0"/>
                        <a:pt x="15121" y="60383"/>
                        <a:pt x="0" y="201371"/>
                      </a:cubicBezTo>
                      <a:lnTo>
                        <a:pt x="117637" y="201371"/>
                      </a:lnTo>
                      <a:cubicBezTo>
                        <a:pt x="124389" y="146020"/>
                        <a:pt x="168039" y="127507"/>
                        <a:pt x="226905" y="127507"/>
                      </a:cubicBezTo>
                      <a:cubicBezTo>
                        <a:pt x="287198" y="127507"/>
                        <a:pt x="327615" y="146020"/>
                        <a:pt x="333701" y="207827"/>
                      </a:cubicBezTo>
                      <a:lnTo>
                        <a:pt x="183255" y="268495"/>
                      </a:lnTo>
                      <a:cubicBezTo>
                        <a:pt x="80739" y="310460"/>
                        <a:pt x="3424" y="357456"/>
                        <a:pt x="3424" y="456480"/>
                      </a:cubicBezTo>
                      <a:cubicBezTo>
                        <a:pt x="3424" y="558827"/>
                        <a:pt x="60578" y="624337"/>
                        <a:pt x="174886" y="624337"/>
                      </a:cubicBezTo>
                      <a:cubicBezTo>
                        <a:pt x="253818" y="624337"/>
                        <a:pt x="303745" y="587310"/>
                        <a:pt x="343686" y="514964"/>
                      </a:cubicBezTo>
                      <a:cubicBezTo>
                        <a:pt x="349678" y="587310"/>
                        <a:pt x="397702" y="619305"/>
                        <a:pt x="480818" y="619305"/>
                      </a:cubicBezTo>
                      <a:lnTo>
                        <a:pt x="514483" y="619305"/>
                      </a:lnTo>
                      <a:lnTo>
                        <a:pt x="514483" y="503476"/>
                      </a:lnTo>
                      <a:lnTo>
                        <a:pt x="504403" y="503476"/>
                      </a:lnTo>
                      <a:cubicBezTo>
                        <a:pt x="465603" y="503476"/>
                        <a:pt x="450482" y="488380"/>
                        <a:pt x="450482" y="451448"/>
                      </a:cubicBezTo>
                      <a:close/>
                      <a:moveTo>
                        <a:pt x="220153" y="498444"/>
                      </a:moveTo>
                      <a:cubicBezTo>
                        <a:pt x="162999" y="498444"/>
                        <a:pt x="120965" y="483348"/>
                        <a:pt x="120965" y="431320"/>
                      </a:cubicBezTo>
                      <a:cubicBezTo>
                        <a:pt x="120965" y="386033"/>
                        <a:pt x="156247" y="365905"/>
                        <a:pt x="216825" y="340651"/>
                      </a:cubicBezTo>
                      <a:lnTo>
                        <a:pt x="333986" y="292041"/>
                      </a:lnTo>
                      <a:lnTo>
                        <a:pt x="332750" y="454771"/>
                      </a:lnTo>
                      <a:cubicBezTo>
                        <a:pt x="312589" y="480025"/>
                        <a:pt x="272267" y="498444"/>
                        <a:pt x="220153" y="4984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grpSp>
            <p:nvGrpSpPr>
              <p:cNvPr id="34" name="Graphic 6">
                <a:extLst>
                  <a:ext uri="{FF2B5EF4-FFF2-40B4-BE49-F238E27FC236}">
                    <a16:creationId xmlns:a16="http://schemas.microsoft.com/office/drawing/2014/main" id="{3E1D00C3-E3B4-C148-BD52-C7D614E54876}"/>
                  </a:ext>
                </a:extLst>
              </p:cNvPr>
              <p:cNvGrpSpPr/>
              <p:nvPr/>
            </p:nvGrpSpPr>
            <p:grpSpPr>
              <a:xfrm>
                <a:off x="4586236" y="536515"/>
                <a:ext cx="981996" cy="979755"/>
                <a:chOff x="4586236" y="536515"/>
                <a:chExt cx="981996" cy="979755"/>
              </a:xfrm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9973A50C-EE76-3C4D-B1C8-2EB689D447DB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6B4B9FF1-1125-6849-9DA2-AD0432DB9D5D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BFC6014-BF9F-3D4B-B478-61C7BEC79C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BD9BBE-600E-6948-A442-948354DEAE7E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77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  <p:sldLayoutId id="2147483899" r:id="rId18"/>
    <p:sldLayoutId id="2147483900" r:id="rId19"/>
    <p:sldLayoutId id="2147483901" r:id="rId20"/>
    <p:sldLayoutId id="2147483902" r:id="rId21"/>
    <p:sldLayoutId id="2147483903" r:id="rId22"/>
    <p:sldLayoutId id="2147483904" r:id="rId23"/>
    <p:sldLayoutId id="2147483905" r:id="rId24"/>
    <p:sldLayoutId id="2147483906" r:id="rId25"/>
    <p:sldLayoutId id="2147483907" r:id="rId26"/>
    <p:sldLayoutId id="2147483908" r:id="rId27"/>
    <p:sldLayoutId id="2147483910" r:id="rId28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>
          <p15:clr>
            <a:srgbClr val="C35EA4"/>
          </p15:clr>
        </p15:guide>
        <p15:guide id="6" pos="136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64">
          <p15:clr>
            <a:srgbClr val="FDE53C"/>
          </p15:clr>
        </p15:guide>
        <p15:guide id="37" pos="454">
          <p15:clr>
            <a:srgbClr val="5ACBF0"/>
          </p15:clr>
        </p15:guide>
        <p15:guide id="38" pos="681">
          <p15:clr>
            <a:srgbClr val="5ACBF0"/>
          </p15:clr>
        </p15:guide>
        <p15:guide id="39" pos="907">
          <p15:clr>
            <a:srgbClr val="5ACBF0"/>
          </p15:clr>
        </p15:guide>
        <p15:guide id="40" pos="1134">
          <p15:clr>
            <a:srgbClr val="5ACBF0"/>
          </p15:clr>
        </p15:guide>
        <p15:guide id="41" pos="1588">
          <p15:clr>
            <a:srgbClr val="5ACBF0"/>
          </p15:clr>
        </p15:guide>
        <p15:guide id="42" pos="1815">
          <p15:clr>
            <a:srgbClr val="5ACBF0"/>
          </p15:clr>
        </p15:guide>
        <p15:guide id="43" pos="2041">
          <p15:clr>
            <a:srgbClr val="5ACBF0"/>
          </p15:clr>
        </p15:guide>
        <p15:guide id="44" pos="2268">
          <p15:clr>
            <a:srgbClr val="5ACBF0"/>
          </p15:clr>
        </p15:guide>
        <p15:guide id="46" pos="2949">
          <p15:clr>
            <a:srgbClr val="5ACBF0"/>
          </p15:clr>
        </p15:guide>
        <p15:guide id="48" pos="2495">
          <p15:clr>
            <a:srgbClr val="5ACBF0"/>
          </p15:clr>
        </p15:guide>
        <p15:guide id="49" pos="2722">
          <p15:clr>
            <a:srgbClr val="5ACBF0"/>
          </p15:clr>
        </p15:guide>
        <p15:guide id="50" pos="3629">
          <p15:clr>
            <a:srgbClr val="5ACBF0"/>
          </p15:clr>
        </p15:guide>
        <p15:guide id="51" pos="3402">
          <p15:clr>
            <a:srgbClr val="5ACBF0"/>
          </p15:clr>
        </p15:guide>
        <p15:guide id="52" pos="3175">
          <p15:clr>
            <a:srgbClr val="5ACBF0"/>
          </p15:clr>
        </p15:guide>
        <p15:guide id="53" pos="3856">
          <p15:clr>
            <a:srgbClr val="5ACBF0"/>
          </p15:clr>
        </p15:guide>
        <p15:guide id="54" pos="4083">
          <p15:clr>
            <a:srgbClr val="5ACBF0"/>
          </p15:clr>
        </p15:guide>
        <p15:guide id="55" pos="4309">
          <p15:clr>
            <a:srgbClr val="5ACBF0"/>
          </p15:clr>
        </p15:guide>
        <p15:guide id="56" pos="4536">
          <p15:clr>
            <a:srgbClr val="5ACBF0"/>
          </p15:clr>
        </p15:guide>
        <p15:guide id="57" pos="4763">
          <p15:clr>
            <a:srgbClr val="5ACBF0"/>
          </p15:clr>
        </p15:guide>
        <p15:guide id="58" pos="4990">
          <p15:clr>
            <a:srgbClr val="5ACBF0"/>
          </p15:clr>
        </p15:guide>
        <p15:guide id="59" pos="5217">
          <p15:clr>
            <a:srgbClr val="5ACBF0"/>
          </p15:clr>
        </p15:guide>
        <p15:guide id="60" pos="5443">
          <p15:clr>
            <a:srgbClr val="5ACBF0"/>
          </p15:clr>
        </p15:guide>
        <p15:guide id="61" pos="5670">
          <p15:clr>
            <a:srgbClr val="5ACBF0"/>
          </p15:clr>
        </p15:guide>
        <p15:guide id="62" pos="7031">
          <p15:clr>
            <a:srgbClr val="C35EA4"/>
          </p15:clr>
        </p15:guide>
        <p15:guide id="63" pos="5897">
          <p15:clr>
            <a:srgbClr val="5ACBF0"/>
          </p15:clr>
        </p15:guide>
        <p15:guide id="64" pos="6124">
          <p15:clr>
            <a:srgbClr val="5ACBF0"/>
          </p15:clr>
        </p15:guide>
        <p15:guide id="65" pos="6351">
          <p15:clr>
            <a:srgbClr val="5ACBF0"/>
          </p15:clr>
        </p15:guide>
        <p15:guide id="66" pos="6577">
          <p15:clr>
            <a:srgbClr val="5ACBF0"/>
          </p15:clr>
        </p15:guide>
        <p15:guide id="67" pos="6804">
          <p15:clr>
            <a:srgbClr val="5ACBF0"/>
          </p15:clr>
        </p15:guide>
        <p15:guide id="69" orient="horz" pos="612">
          <p15:clr>
            <a:srgbClr val="5ACBF0"/>
          </p15:clr>
        </p15:guide>
        <p15:guide id="70" orient="horz" pos="159">
          <p15:clr>
            <a:srgbClr val="FDE53C"/>
          </p15:clr>
        </p15:guide>
        <p15:guide id="71" orient="horz" pos="77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/>
          <p:cNvGraphicFramePr>
            <a:graphicFrameLocks noChangeAspect="1"/>
          </p:cNvGraphicFramePr>
          <p:nvPr userDrawn="1">
            <p:custDataLst>
              <p:tags r:id="rId3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3" name="Слайд think-cell" r:id="rId35" imgW="360" imgH="360" progId="TCLayout.ActiveDocument.1">
                  <p:embed/>
                </p:oleObj>
              </mc:Choice>
              <mc:Fallback>
                <p:oleObj name="Слайд think-cell" r:id="rId35" imgW="360" imgH="36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 userDrawn="1">
            <p:custDataLst>
              <p:tags r:id="rId3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099" b="0" i="0" baseline="0" dirty="0" err="1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1" y="6658674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19.05.2022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8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9361487" cy="995363"/>
          </a:xfrm>
          <a:prstGeom prst="rect">
            <a:avLst/>
          </a:prstGeom>
        </p:spPr>
        <p:txBody>
          <a:bodyPr vert="horz" wrap="squar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9" y="6001876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www.link.com. 7pt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D37E1-4A2E-F34E-9597-9E5CF181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988" y="1266549"/>
            <a:ext cx="10784725" cy="41116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ru-RU" dirty="0"/>
              <a:t>текст слайда. </a:t>
            </a:r>
            <a:r>
              <a:rPr lang="en-US" dirty="0"/>
              <a:t>beeline sans. 14 </a:t>
            </a:r>
            <a:r>
              <a:rPr lang="en-US" dirty="0" err="1"/>
              <a:t>pt</a:t>
            </a:r>
            <a:endParaRPr lang="en-RU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ECCF3A-24DB-DB41-A647-1628FF18FA65}"/>
              </a:ext>
            </a:extLst>
          </p:cNvPr>
          <p:cNvGrpSpPr/>
          <p:nvPr userDrawn="1"/>
        </p:nvGrpSpPr>
        <p:grpSpPr>
          <a:xfrm>
            <a:off x="9930121" y="262120"/>
            <a:ext cx="1238520" cy="319009"/>
            <a:chOff x="285404" y="226734"/>
            <a:chExt cx="1790694" cy="461234"/>
          </a:xfrm>
        </p:grpSpPr>
        <p:grpSp>
          <p:nvGrpSpPr>
            <p:cNvPr id="30" name="Graphic 6">
              <a:extLst>
                <a:ext uri="{FF2B5EF4-FFF2-40B4-BE49-F238E27FC236}">
                  <a16:creationId xmlns:a16="http://schemas.microsoft.com/office/drawing/2014/main" id="{3556D2A5-5AD1-194A-B325-FC714E4A945E}"/>
                </a:ext>
              </a:extLst>
            </p:cNvPr>
            <p:cNvGrpSpPr/>
            <p:nvPr/>
          </p:nvGrpSpPr>
          <p:grpSpPr>
            <a:xfrm>
              <a:off x="347551" y="287518"/>
              <a:ext cx="1728547" cy="338305"/>
              <a:chOff x="4586236" y="536515"/>
              <a:chExt cx="5005996" cy="979755"/>
            </a:xfrm>
          </p:grpSpPr>
          <p:grpSp>
            <p:nvGrpSpPr>
              <p:cNvPr id="33" name="Graphic 6">
                <a:extLst>
                  <a:ext uri="{FF2B5EF4-FFF2-40B4-BE49-F238E27FC236}">
                    <a16:creationId xmlns:a16="http://schemas.microsoft.com/office/drawing/2014/main" id="{69FAC5AF-505B-3D4D-BCE5-A78C2FB08233}"/>
                  </a:ext>
                </a:extLst>
              </p:cNvPr>
              <p:cNvGrpSpPr/>
              <p:nvPr/>
            </p:nvGrpSpPr>
            <p:grpSpPr>
              <a:xfrm>
                <a:off x="5858663" y="539363"/>
                <a:ext cx="3733569" cy="884382"/>
                <a:chOff x="5858663" y="539363"/>
                <a:chExt cx="3733569" cy="884382"/>
              </a:xfrm>
              <a:solidFill>
                <a:srgbClr val="000000"/>
              </a:solidFill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3919EBFC-16BA-5041-8534-83B5DACB8D41}"/>
                    </a:ext>
                  </a:extLst>
                </p:cNvPr>
                <p:cNvSpPr/>
                <p:nvPr/>
              </p:nvSpPr>
              <p:spPr>
                <a:xfrm>
                  <a:off x="8518665" y="593100"/>
                  <a:ext cx="368031" cy="166148"/>
                </a:xfrm>
                <a:custGeom>
                  <a:avLst/>
                  <a:gdLst>
                    <a:gd name="connsiteX0" fmla="*/ 184777 w 368031"/>
                    <a:gd name="connsiteY0" fmla="*/ 166148 h 166148"/>
                    <a:gd name="connsiteX1" fmla="*/ 368032 w 368031"/>
                    <a:gd name="connsiteY1" fmla="*/ 0 h 166148"/>
                    <a:gd name="connsiteX2" fmla="*/ 270556 w 368031"/>
                    <a:gd name="connsiteY2" fmla="*/ 0 h 166148"/>
                    <a:gd name="connsiteX3" fmla="*/ 184872 w 368031"/>
                    <a:gd name="connsiteY3" fmla="*/ 60383 h 166148"/>
                    <a:gd name="connsiteX4" fmla="*/ 97476 w 368031"/>
                    <a:gd name="connsiteY4" fmla="*/ 0 h 166148"/>
                    <a:gd name="connsiteX5" fmla="*/ 0 w 368031"/>
                    <a:gd name="connsiteY5" fmla="*/ 0 h 166148"/>
                    <a:gd name="connsiteX6" fmla="*/ 184777 w 368031"/>
                    <a:gd name="connsiteY6" fmla="*/ 166148 h 16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8031" h="166148">
                      <a:moveTo>
                        <a:pt x="184777" y="166148"/>
                      </a:moveTo>
                      <a:cubicBezTo>
                        <a:pt x="283964" y="166148"/>
                        <a:pt x="354527" y="114120"/>
                        <a:pt x="368032" y="0"/>
                      </a:cubicBezTo>
                      <a:lnTo>
                        <a:pt x="270556" y="0"/>
                      </a:lnTo>
                      <a:cubicBezTo>
                        <a:pt x="260475" y="40255"/>
                        <a:pt x="236891" y="60383"/>
                        <a:pt x="184872" y="60383"/>
                      </a:cubicBezTo>
                      <a:cubicBezTo>
                        <a:pt x="132758" y="60383"/>
                        <a:pt x="105845" y="40255"/>
                        <a:pt x="97476" y="0"/>
                      </a:cubicBezTo>
                      <a:lnTo>
                        <a:pt x="0" y="0"/>
                      </a:lnTo>
                      <a:cubicBezTo>
                        <a:pt x="13314" y="114120"/>
                        <a:pt x="85589" y="166148"/>
                        <a:pt x="184777" y="1661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C784E81-7AA0-574B-A2D7-C71F9739C84D}"/>
                    </a:ext>
                  </a:extLst>
                </p:cNvPr>
                <p:cNvSpPr/>
                <p:nvPr/>
              </p:nvSpPr>
              <p:spPr>
                <a:xfrm>
                  <a:off x="6579415" y="811276"/>
                  <a:ext cx="497555" cy="600791"/>
                </a:xfrm>
                <a:custGeom>
                  <a:avLst/>
                  <a:gdLst>
                    <a:gd name="connsiteX0" fmla="*/ 122677 w 497555"/>
                    <a:gd name="connsiteY0" fmla="*/ 412142 h 600791"/>
                    <a:gd name="connsiteX1" fmla="*/ 122677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8 w 497555"/>
                    <a:gd name="connsiteY5" fmla="*/ 181719 h 600791"/>
                    <a:gd name="connsiteX6" fmla="*/ 374878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677" y="412142"/>
                      </a:move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8" y="181719"/>
                      </a:lnTo>
                      <a:lnTo>
                        <a:pt x="374878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D7E838F9-8739-5D41-A200-CAA7E718BB03}"/>
                    </a:ext>
                  </a:extLst>
                </p:cNvPr>
                <p:cNvSpPr/>
                <p:nvPr/>
              </p:nvSpPr>
              <p:spPr>
                <a:xfrm>
                  <a:off x="5858663" y="539363"/>
                  <a:ext cx="598455" cy="884382"/>
                </a:xfrm>
                <a:custGeom>
                  <a:avLst/>
                  <a:gdLst>
                    <a:gd name="connsiteX0" fmla="*/ 334557 w 598455"/>
                    <a:gd name="connsiteY0" fmla="*/ 276945 h 884382"/>
                    <a:gd name="connsiteX1" fmla="*/ 111551 w 598455"/>
                    <a:gd name="connsiteY1" fmla="*/ 406066 h 884382"/>
                    <a:gd name="connsiteX2" fmla="*/ 302604 w 598455"/>
                    <a:gd name="connsiteY2" fmla="*/ 167857 h 884382"/>
                    <a:gd name="connsiteX3" fmla="*/ 548053 w 598455"/>
                    <a:gd name="connsiteY3" fmla="*/ 134248 h 884382"/>
                    <a:gd name="connsiteX4" fmla="*/ 537973 w 598455"/>
                    <a:gd name="connsiteY4" fmla="*/ 0 h 884382"/>
                    <a:gd name="connsiteX5" fmla="*/ 282443 w 598455"/>
                    <a:gd name="connsiteY5" fmla="*/ 35223 h 884382"/>
                    <a:gd name="connsiteX6" fmla="*/ 0 w 598455"/>
                    <a:gd name="connsiteY6" fmla="*/ 501767 h 884382"/>
                    <a:gd name="connsiteX7" fmla="*/ 302604 w 598455"/>
                    <a:gd name="connsiteY7" fmla="*/ 884382 h 884382"/>
                    <a:gd name="connsiteX8" fmla="*/ 598455 w 598455"/>
                    <a:gd name="connsiteY8" fmla="*/ 563859 h 884382"/>
                    <a:gd name="connsiteX9" fmla="*/ 334557 w 598455"/>
                    <a:gd name="connsiteY9" fmla="*/ 276945 h 884382"/>
                    <a:gd name="connsiteX10" fmla="*/ 302604 w 598455"/>
                    <a:gd name="connsiteY10" fmla="*/ 751844 h 884382"/>
                    <a:gd name="connsiteX11" fmla="*/ 126101 w 598455"/>
                    <a:gd name="connsiteY11" fmla="*/ 550472 h 884382"/>
                    <a:gd name="connsiteX12" fmla="*/ 126101 w 598455"/>
                    <a:gd name="connsiteY12" fmla="*/ 488380 h 884382"/>
                    <a:gd name="connsiteX13" fmla="*/ 302604 w 598455"/>
                    <a:gd name="connsiteY13" fmla="*/ 404452 h 884382"/>
                    <a:gd name="connsiteX14" fmla="*/ 472355 w 598455"/>
                    <a:gd name="connsiteY14" fmla="*/ 563859 h 884382"/>
                    <a:gd name="connsiteX15" fmla="*/ 302604 w 598455"/>
                    <a:gd name="connsiteY15" fmla="*/ 751844 h 88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98455" h="884382">
                      <a:moveTo>
                        <a:pt x="334557" y="276945"/>
                      </a:moveTo>
                      <a:cubicBezTo>
                        <a:pt x="237366" y="276945"/>
                        <a:pt x="154440" y="322137"/>
                        <a:pt x="111551" y="406066"/>
                      </a:cubicBezTo>
                      <a:cubicBezTo>
                        <a:pt x="117637" y="269919"/>
                        <a:pt x="144740" y="188934"/>
                        <a:pt x="302604" y="167857"/>
                      </a:cubicBezTo>
                      <a:lnTo>
                        <a:pt x="548053" y="134248"/>
                      </a:lnTo>
                      <a:lnTo>
                        <a:pt x="537973" y="0"/>
                      </a:lnTo>
                      <a:lnTo>
                        <a:pt x="282443" y="35223"/>
                      </a:lnTo>
                      <a:cubicBezTo>
                        <a:pt x="62194" y="65415"/>
                        <a:pt x="0" y="234981"/>
                        <a:pt x="0" y="501767"/>
                      </a:cubicBezTo>
                      <a:cubicBezTo>
                        <a:pt x="0" y="735039"/>
                        <a:pt x="105940" y="884382"/>
                        <a:pt x="302604" y="884382"/>
                      </a:cubicBezTo>
                      <a:cubicBezTo>
                        <a:pt x="494227" y="884382"/>
                        <a:pt x="598455" y="736653"/>
                        <a:pt x="598455" y="563859"/>
                      </a:cubicBezTo>
                      <a:cubicBezTo>
                        <a:pt x="598455" y="391065"/>
                        <a:pt x="482530" y="276945"/>
                        <a:pt x="334557" y="276945"/>
                      </a:cubicBezTo>
                      <a:close/>
                      <a:moveTo>
                        <a:pt x="302604" y="751844"/>
                      </a:moveTo>
                      <a:cubicBezTo>
                        <a:pt x="191624" y="751844"/>
                        <a:pt x="126101" y="671333"/>
                        <a:pt x="126101" y="550472"/>
                      </a:cubicBezTo>
                      <a:lnTo>
                        <a:pt x="126101" y="488380"/>
                      </a:lnTo>
                      <a:cubicBezTo>
                        <a:pt x="149590" y="441384"/>
                        <a:pt x="211880" y="404452"/>
                        <a:pt x="302604" y="404452"/>
                      </a:cubicBezTo>
                      <a:cubicBezTo>
                        <a:pt x="398463" y="404452"/>
                        <a:pt x="472355" y="449739"/>
                        <a:pt x="472355" y="563859"/>
                      </a:cubicBezTo>
                      <a:cubicBezTo>
                        <a:pt x="472355" y="677979"/>
                        <a:pt x="413584" y="751844"/>
                        <a:pt x="302604" y="7518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E53CBC9A-97CC-484B-A29C-FEFBBFE2A563}"/>
                    </a:ext>
                  </a:extLst>
                </p:cNvPr>
                <p:cNvSpPr/>
                <p:nvPr/>
              </p:nvSpPr>
              <p:spPr>
                <a:xfrm>
                  <a:off x="9108086" y="811276"/>
                  <a:ext cx="484146" cy="600791"/>
                </a:xfrm>
                <a:custGeom>
                  <a:avLst/>
                  <a:gdLst>
                    <a:gd name="connsiteX0" fmla="*/ 361375 w 484146"/>
                    <a:gd name="connsiteY0" fmla="*/ 0 h 600791"/>
                    <a:gd name="connsiteX1" fmla="*/ 361375 w 484146"/>
                    <a:gd name="connsiteY1" fmla="*/ 224822 h 600791"/>
                    <a:gd name="connsiteX2" fmla="*/ 122677 w 484146"/>
                    <a:gd name="connsiteY2" fmla="*/ 224822 h 600791"/>
                    <a:gd name="connsiteX3" fmla="*/ 122677 w 484146"/>
                    <a:gd name="connsiteY3" fmla="*/ 0 h 600791"/>
                    <a:gd name="connsiteX4" fmla="*/ 0 w 484146"/>
                    <a:gd name="connsiteY4" fmla="*/ 0 h 600791"/>
                    <a:gd name="connsiteX5" fmla="*/ 0 w 484146"/>
                    <a:gd name="connsiteY5" fmla="*/ 600791 h 600791"/>
                    <a:gd name="connsiteX6" fmla="*/ 122677 w 484146"/>
                    <a:gd name="connsiteY6" fmla="*/ 600791 h 600791"/>
                    <a:gd name="connsiteX7" fmla="*/ 122677 w 484146"/>
                    <a:gd name="connsiteY7" fmla="*/ 349006 h 600791"/>
                    <a:gd name="connsiteX8" fmla="*/ 361375 w 484146"/>
                    <a:gd name="connsiteY8" fmla="*/ 349006 h 600791"/>
                    <a:gd name="connsiteX9" fmla="*/ 361375 w 484146"/>
                    <a:gd name="connsiteY9" fmla="*/ 600791 h 600791"/>
                    <a:gd name="connsiteX10" fmla="*/ 484147 w 484146"/>
                    <a:gd name="connsiteY10" fmla="*/ 600791 h 600791"/>
                    <a:gd name="connsiteX11" fmla="*/ 484147 w 484146"/>
                    <a:gd name="connsiteY11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46" h="600791">
                      <a:moveTo>
                        <a:pt x="361375" y="0"/>
                      </a:moveTo>
                      <a:lnTo>
                        <a:pt x="361375" y="224822"/>
                      </a:lnTo>
                      <a:lnTo>
                        <a:pt x="122677" y="224822"/>
                      </a:lnTo>
                      <a:lnTo>
                        <a:pt x="122677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2677" y="600791"/>
                      </a:lnTo>
                      <a:lnTo>
                        <a:pt x="122677" y="349006"/>
                      </a:lnTo>
                      <a:lnTo>
                        <a:pt x="361375" y="349006"/>
                      </a:lnTo>
                      <a:lnTo>
                        <a:pt x="361375" y="600791"/>
                      </a:lnTo>
                      <a:lnTo>
                        <a:pt x="484147" y="600791"/>
                      </a:lnTo>
                      <a:lnTo>
                        <a:pt x="4841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0CC967B7-099C-BB4C-BB0E-7494E007451F}"/>
                    </a:ext>
                  </a:extLst>
                </p:cNvPr>
                <p:cNvSpPr/>
                <p:nvPr/>
              </p:nvSpPr>
              <p:spPr>
                <a:xfrm>
                  <a:off x="8456280" y="811276"/>
                  <a:ext cx="497555" cy="600791"/>
                </a:xfrm>
                <a:custGeom>
                  <a:avLst/>
                  <a:gdLst>
                    <a:gd name="connsiteX0" fmla="*/ 122772 w 497555"/>
                    <a:gd name="connsiteY0" fmla="*/ 412142 h 600791"/>
                    <a:gd name="connsiteX1" fmla="*/ 122772 w 497555"/>
                    <a:gd name="connsiteY1" fmla="*/ 0 h 600791"/>
                    <a:gd name="connsiteX2" fmla="*/ 0 w 497555"/>
                    <a:gd name="connsiteY2" fmla="*/ 0 h 600791"/>
                    <a:gd name="connsiteX3" fmla="*/ 0 w 497555"/>
                    <a:gd name="connsiteY3" fmla="*/ 600791 h 600791"/>
                    <a:gd name="connsiteX4" fmla="*/ 127813 w 497555"/>
                    <a:gd name="connsiteY4" fmla="*/ 600791 h 600791"/>
                    <a:gd name="connsiteX5" fmla="*/ 374879 w 497555"/>
                    <a:gd name="connsiteY5" fmla="*/ 181719 h 600791"/>
                    <a:gd name="connsiteX6" fmla="*/ 374879 w 497555"/>
                    <a:gd name="connsiteY6" fmla="*/ 600791 h 600791"/>
                    <a:gd name="connsiteX7" fmla="*/ 497556 w 497555"/>
                    <a:gd name="connsiteY7" fmla="*/ 600791 h 600791"/>
                    <a:gd name="connsiteX8" fmla="*/ 497556 w 497555"/>
                    <a:gd name="connsiteY8" fmla="*/ 0 h 600791"/>
                    <a:gd name="connsiteX9" fmla="*/ 369838 w 497555"/>
                    <a:gd name="connsiteY9" fmla="*/ 0 h 60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7555" h="600791">
                      <a:moveTo>
                        <a:pt x="122772" y="412142"/>
                      </a:moveTo>
                      <a:lnTo>
                        <a:pt x="122772" y="0"/>
                      </a:lnTo>
                      <a:lnTo>
                        <a:pt x="0" y="0"/>
                      </a:lnTo>
                      <a:lnTo>
                        <a:pt x="0" y="600791"/>
                      </a:lnTo>
                      <a:lnTo>
                        <a:pt x="127813" y="600791"/>
                      </a:lnTo>
                      <a:lnTo>
                        <a:pt x="374879" y="181719"/>
                      </a:lnTo>
                      <a:lnTo>
                        <a:pt x="374879" y="600791"/>
                      </a:lnTo>
                      <a:lnTo>
                        <a:pt x="497556" y="600791"/>
                      </a:lnTo>
                      <a:lnTo>
                        <a:pt x="497556" y="0"/>
                      </a:lnTo>
                      <a:lnTo>
                        <a:pt x="3698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D5F5AFEF-4C6F-604D-A099-F744A04331FC}"/>
                    </a:ext>
                  </a:extLst>
                </p:cNvPr>
                <p:cNvSpPr/>
                <p:nvPr/>
              </p:nvSpPr>
              <p:spPr>
                <a:xfrm>
                  <a:off x="7183386" y="811276"/>
                  <a:ext cx="517811" cy="609241"/>
                </a:xfrm>
                <a:custGeom>
                  <a:avLst/>
                  <a:gdLst>
                    <a:gd name="connsiteX0" fmla="*/ 114309 w 517811"/>
                    <a:gd name="connsiteY0" fmla="*/ 367520 h 609241"/>
                    <a:gd name="connsiteX1" fmla="*/ 45362 w 517811"/>
                    <a:gd name="connsiteY1" fmla="*/ 463221 h 609241"/>
                    <a:gd name="connsiteX2" fmla="*/ 0 w 517811"/>
                    <a:gd name="connsiteY2" fmla="*/ 458189 h 609241"/>
                    <a:gd name="connsiteX3" fmla="*/ 0 w 517811"/>
                    <a:gd name="connsiteY3" fmla="*/ 597468 h 609241"/>
                    <a:gd name="connsiteX4" fmla="*/ 60483 w 517811"/>
                    <a:gd name="connsiteY4" fmla="*/ 609241 h 609241"/>
                    <a:gd name="connsiteX5" fmla="*/ 191624 w 517811"/>
                    <a:gd name="connsiteY5" fmla="*/ 515249 h 609241"/>
                    <a:gd name="connsiteX6" fmla="*/ 220248 w 517811"/>
                    <a:gd name="connsiteY6" fmla="*/ 369228 h 609241"/>
                    <a:gd name="connsiteX7" fmla="*/ 232041 w 517811"/>
                    <a:gd name="connsiteY7" fmla="*/ 127602 h 609241"/>
                    <a:gd name="connsiteX8" fmla="*/ 395135 w 517811"/>
                    <a:gd name="connsiteY8" fmla="*/ 127602 h 609241"/>
                    <a:gd name="connsiteX9" fmla="*/ 395135 w 517811"/>
                    <a:gd name="connsiteY9" fmla="*/ 600886 h 609241"/>
                    <a:gd name="connsiteX10" fmla="*/ 517812 w 517811"/>
                    <a:gd name="connsiteY10" fmla="*/ 600886 h 609241"/>
                    <a:gd name="connsiteX11" fmla="*/ 517812 w 517811"/>
                    <a:gd name="connsiteY11" fmla="*/ 0 h 609241"/>
                    <a:gd name="connsiteX12" fmla="*/ 129524 w 517811"/>
                    <a:gd name="connsiteY12" fmla="*/ 0 h 609241"/>
                    <a:gd name="connsiteX13" fmla="*/ 114309 w 517811"/>
                    <a:gd name="connsiteY13" fmla="*/ 367520 h 60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17811" h="609241">
                      <a:moveTo>
                        <a:pt x="114309" y="367520"/>
                      </a:moveTo>
                      <a:cubicBezTo>
                        <a:pt x="100900" y="434643"/>
                        <a:pt x="82355" y="463221"/>
                        <a:pt x="45362" y="463221"/>
                      </a:cubicBezTo>
                      <a:cubicBezTo>
                        <a:pt x="25201" y="463221"/>
                        <a:pt x="10080" y="461512"/>
                        <a:pt x="0" y="458189"/>
                      </a:cubicBezTo>
                      <a:lnTo>
                        <a:pt x="0" y="597468"/>
                      </a:lnTo>
                      <a:cubicBezTo>
                        <a:pt x="15121" y="604209"/>
                        <a:pt x="28625" y="609241"/>
                        <a:pt x="60483" y="609241"/>
                      </a:cubicBezTo>
                      <a:cubicBezTo>
                        <a:pt x="124389" y="609241"/>
                        <a:pt x="169751" y="572309"/>
                        <a:pt x="191624" y="515249"/>
                      </a:cubicBezTo>
                      <a:cubicBezTo>
                        <a:pt x="205032" y="480026"/>
                        <a:pt x="213496" y="431320"/>
                        <a:pt x="220248" y="369228"/>
                      </a:cubicBezTo>
                      <a:cubicBezTo>
                        <a:pt x="227001" y="307137"/>
                        <a:pt x="232041" y="224917"/>
                        <a:pt x="232041" y="127602"/>
                      </a:cubicBezTo>
                      <a:lnTo>
                        <a:pt x="395135" y="127602"/>
                      </a:lnTo>
                      <a:lnTo>
                        <a:pt x="395135" y="600886"/>
                      </a:lnTo>
                      <a:lnTo>
                        <a:pt x="517812" y="600886"/>
                      </a:lnTo>
                      <a:lnTo>
                        <a:pt x="517812" y="0"/>
                      </a:lnTo>
                      <a:lnTo>
                        <a:pt x="129524" y="0"/>
                      </a:lnTo>
                      <a:cubicBezTo>
                        <a:pt x="129524" y="181244"/>
                        <a:pt x="124484" y="300396"/>
                        <a:pt x="114309" y="3675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D2EACB4E-3819-5642-9EB8-7F790082F021}"/>
                    </a:ext>
                  </a:extLst>
                </p:cNvPr>
                <p:cNvSpPr/>
                <p:nvPr/>
              </p:nvSpPr>
              <p:spPr>
                <a:xfrm>
                  <a:off x="7829771" y="797794"/>
                  <a:ext cx="514483" cy="624336"/>
                </a:xfrm>
                <a:custGeom>
                  <a:avLst/>
                  <a:gdLst>
                    <a:gd name="connsiteX0" fmla="*/ 450482 w 514483"/>
                    <a:gd name="connsiteY0" fmla="*/ 451448 h 624336"/>
                    <a:gd name="connsiteX1" fmla="*/ 452194 w 514483"/>
                    <a:gd name="connsiteY1" fmla="*/ 213144 h 624336"/>
                    <a:gd name="connsiteX2" fmla="*/ 226905 w 514483"/>
                    <a:gd name="connsiteY2" fmla="*/ 0 h 624336"/>
                    <a:gd name="connsiteX3" fmla="*/ 0 w 514483"/>
                    <a:gd name="connsiteY3" fmla="*/ 201371 h 624336"/>
                    <a:gd name="connsiteX4" fmla="*/ 117637 w 514483"/>
                    <a:gd name="connsiteY4" fmla="*/ 201371 h 624336"/>
                    <a:gd name="connsiteX5" fmla="*/ 226905 w 514483"/>
                    <a:gd name="connsiteY5" fmla="*/ 127507 h 624336"/>
                    <a:gd name="connsiteX6" fmla="*/ 333701 w 514483"/>
                    <a:gd name="connsiteY6" fmla="*/ 207827 h 624336"/>
                    <a:gd name="connsiteX7" fmla="*/ 183255 w 514483"/>
                    <a:gd name="connsiteY7" fmla="*/ 268495 h 624336"/>
                    <a:gd name="connsiteX8" fmla="*/ 3424 w 514483"/>
                    <a:gd name="connsiteY8" fmla="*/ 456480 h 624336"/>
                    <a:gd name="connsiteX9" fmla="*/ 174886 w 514483"/>
                    <a:gd name="connsiteY9" fmla="*/ 624337 h 624336"/>
                    <a:gd name="connsiteX10" fmla="*/ 343686 w 514483"/>
                    <a:gd name="connsiteY10" fmla="*/ 514964 h 624336"/>
                    <a:gd name="connsiteX11" fmla="*/ 480818 w 514483"/>
                    <a:gd name="connsiteY11" fmla="*/ 619305 h 624336"/>
                    <a:gd name="connsiteX12" fmla="*/ 514483 w 514483"/>
                    <a:gd name="connsiteY12" fmla="*/ 619305 h 624336"/>
                    <a:gd name="connsiteX13" fmla="*/ 514483 w 514483"/>
                    <a:gd name="connsiteY13" fmla="*/ 503476 h 624336"/>
                    <a:gd name="connsiteX14" fmla="*/ 504403 w 514483"/>
                    <a:gd name="connsiteY14" fmla="*/ 503476 h 624336"/>
                    <a:gd name="connsiteX15" fmla="*/ 450482 w 514483"/>
                    <a:gd name="connsiteY15" fmla="*/ 451448 h 624336"/>
                    <a:gd name="connsiteX16" fmla="*/ 220153 w 514483"/>
                    <a:gd name="connsiteY16" fmla="*/ 498444 h 624336"/>
                    <a:gd name="connsiteX17" fmla="*/ 120965 w 514483"/>
                    <a:gd name="connsiteY17" fmla="*/ 431320 h 624336"/>
                    <a:gd name="connsiteX18" fmla="*/ 216825 w 514483"/>
                    <a:gd name="connsiteY18" fmla="*/ 340651 h 624336"/>
                    <a:gd name="connsiteX19" fmla="*/ 333986 w 514483"/>
                    <a:gd name="connsiteY19" fmla="*/ 292041 h 624336"/>
                    <a:gd name="connsiteX20" fmla="*/ 332750 w 514483"/>
                    <a:gd name="connsiteY20" fmla="*/ 454771 h 624336"/>
                    <a:gd name="connsiteX21" fmla="*/ 220153 w 514483"/>
                    <a:gd name="connsiteY21" fmla="*/ 498444 h 62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483" h="624336">
                      <a:moveTo>
                        <a:pt x="450482" y="451448"/>
                      </a:moveTo>
                      <a:lnTo>
                        <a:pt x="452194" y="213144"/>
                      </a:lnTo>
                      <a:cubicBezTo>
                        <a:pt x="453906" y="62092"/>
                        <a:pt x="361375" y="0"/>
                        <a:pt x="226905" y="0"/>
                      </a:cubicBezTo>
                      <a:cubicBezTo>
                        <a:pt x="115925" y="0"/>
                        <a:pt x="15121" y="60383"/>
                        <a:pt x="0" y="201371"/>
                      </a:cubicBezTo>
                      <a:lnTo>
                        <a:pt x="117637" y="201371"/>
                      </a:lnTo>
                      <a:cubicBezTo>
                        <a:pt x="124389" y="146020"/>
                        <a:pt x="168039" y="127507"/>
                        <a:pt x="226905" y="127507"/>
                      </a:cubicBezTo>
                      <a:cubicBezTo>
                        <a:pt x="287198" y="127507"/>
                        <a:pt x="327615" y="146020"/>
                        <a:pt x="333701" y="207827"/>
                      </a:cubicBezTo>
                      <a:lnTo>
                        <a:pt x="183255" y="268495"/>
                      </a:lnTo>
                      <a:cubicBezTo>
                        <a:pt x="80739" y="310460"/>
                        <a:pt x="3424" y="357456"/>
                        <a:pt x="3424" y="456480"/>
                      </a:cubicBezTo>
                      <a:cubicBezTo>
                        <a:pt x="3424" y="558827"/>
                        <a:pt x="60578" y="624337"/>
                        <a:pt x="174886" y="624337"/>
                      </a:cubicBezTo>
                      <a:cubicBezTo>
                        <a:pt x="253818" y="624337"/>
                        <a:pt x="303745" y="587310"/>
                        <a:pt x="343686" y="514964"/>
                      </a:cubicBezTo>
                      <a:cubicBezTo>
                        <a:pt x="349678" y="587310"/>
                        <a:pt x="397702" y="619305"/>
                        <a:pt x="480818" y="619305"/>
                      </a:cubicBezTo>
                      <a:lnTo>
                        <a:pt x="514483" y="619305"/>
                      </a:lnTo>
                      <a:lnTo>
                        <a:pt x="514483" y="503476"/>
                      </a:lnTo>
                      <a:lnTo>
                        <a:pt x="504403" y="503476"/>
                      </a:lnTo>
                      <a:cubicBezTo>
                        <a:pt x="465603" y="503476"/>
                        <a:pt x="450482" y="488380"/>
                        <a:pt x="450482" y="451448"/>
                      </a:cubicBezTo>
                      <a:close/>
                      <a:moveTo>
                        <a:pt x="220153" y="498444"/>
                      </a:moveTo>
                      <a:cubicBezTo>
                        <a:pt x="162999" y="498444"/>
                        <a:pt x="120965" y="483348"/>
                        <a:pt x="120965" y="431320"/>
                      </a:cubicBezTo>
                      <a:cubicBezTo>
                        <a:pt x="120965" y="386033"/>
                        <a:pt x="156247" y="365905"/>
                        <a:pt x="216825" y="340651"/>
                      </a:cubicBezTo>
                      <a:lnTo>
                        <a:pt x="333986" y="292041"/>
                      </a:lnTo>
                      <a:lnTo>
                        <a:pt x="332750" y="454771"/>
                      </a:lnTo>
                      <a:cubicBezTo>
                        <a:pt x="312589" y="480025"/>
                        <a:pt x="272267" y="498444"/>
                        <a:pt x="220153" y="4984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</p:grpSp>
          <p:grpSp>
            <p:nvGrpSpPr>
              <p:cNvPr id="34" name="Graphic 6">
                <a:extLst>
                  <a:ext uri="{FF2B5EF4-FFF2-40B4-BE49-F238E27FC236}">
                    <a16:creationId xmlns:a16="http://schemas.microsoft.com/office/drawing/2014/main" id="{3E1D00C3-E3B4-C148-BD52-C7D614E54876}"/>
                  </a:ext>
                </a:extLst>
              </p:cNvPr>
              <p:cNvGrpSpPr/>
              <p:nvPr/>
            </p:nvGrpSpPr>
            <p:grpSpPr>
              <a:xfrm>
                <a:off x="4586236" y="536515"/>
                <a:ext cx="981996" cy="979755"/>
                <a:chOff x="4586236" y="536515"/>
                <a:chExt cx="981996" cy="979755"/>
              </a:xfrm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9973A50C-EE76-3C4D-B1C8-2EB689D447DB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6B4B9FF1-1125-6849-9DA2-AD0432DB9D5D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 sz="1800"/>
                </a:p>
              </p:txBody>
            </p:sp>
          </p:grp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BFC6014-BF9F-3D4B-B478-61C7BEC79C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39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BD9BBE-600E-6948-A442-948354DEAE7E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399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405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  <p:sldLayoutId id="2147483927" r:id="rId14"/>
    <p:sldLayoutId id="2147483928" r:id="rId15"/>
    <p:sldLayoutId id="2147483929" r:id="rId16"/>
    <p:sldLayoutId id="2147483930" r:id="rId17"/>
    <p:sldLayoutId id="2147483931" r:id="rId18"/>
    <p:sldLayoutId id="2147483932" r:id="rId19"/>
    <p:sldLayoutId id="2147483933" r:id="rId20"/>
    <p:sldLayoutId id="2147483934" r:id="rId21"/>
    <p:sldLayoutId id="2147483935" r:id="rId22"/>
    <p:sldLayoutId id="2147483936" r:id="rId23"/>
    <p:sldLayoutId id="2147483937" r:id="rId24"/>
    <p:sldLayoutId id="2147483938" r:id="rId25"/>
    <p:sldLayoutId id="2147483939" r:id="rId26"/>
    <p:sldLayoutId id="2147483940" r:id="rId27"/>
    <p:sldLayoutId id="2147483941" r:id="rId28"/>
    <p:sldLayoutId id="2147483942" r:id="rId29"/>
    <p:sldLayoutId id="2147483943" r:id="rId30"/>
  </p:sldLayoutIdLst>
  <p:transition>
    <p:fade/>
  </p:transition>
  <p:hf hdr="0" dt="0"/>
  <p:txStyles>
    <p:titleStyle>
      <a:lvl1pPr algn="l" defTabSz="914216" rtl="0" eaLnBrk="1" latinLnBrk="0" hangingPunct="1">
        <a:lnSpc>
          <a:spcPct val="90000"/>
        </a:lnSpc>
        <a:spcBef>
          <a:spcPct val="0"/>
        </a:spcBef>
        <a:buNone/>
        <a:defRPr lang="ru-RU" sz="3099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0" indent="0" algn="l" defTabSz="914216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399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8" indent="0" algn="l" defTabSz="914216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399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2pPr>
      <a:lvl3pPr marL="914216" indent="0" algn="l" defTabSz="914216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399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3pPr>
      <a:lvl4pPr marL="1371324" indent="0" algn="l" defTabSz="914216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399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4pPr>
      <a:lvl5pPr marL="1828432" indent="0" algn="l" defTabSz="914216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399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5pPr>
      <a:lvl6pPr marL="2514094" indent="-228554" algn="l" defTabSz="91421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2" indent="-228554" algn="l" defTabSz="91421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0" indent="-228554" algn="l" defTabSz="91421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417" indent="-228554" algn="l" defTabSz="91421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8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6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4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2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0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48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56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4" algn="l" defTabSz="9142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>
          <p15:clr>
            <a:srgbClr val="C35EA4"/>
          </p15:clr>
        </p15:guide>
        <p15:guide id="6" pos="136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64">
          <p15:clr>
            <a:srgbClr val="FDE53C"/>
          </p15:clr>
        </p15:guide>
        <p15:guide id="37" pos="454">
          <p15:clr>
            <a:srgbClr val="5ACBF0"/>
          </p15:clr>
        </p15:guide>
        <p15:guide id="38" pos="681">
          <p15:clr>
            <a:srgbClr val="5ACBF0"/>
          </p15:clr>
        </p15:guide>
        <p15:guide id="39" pos="907">
          <p15:clr>
            <a:srgbClr val="5ACBF0"/>
          </p15:clr>
        </p15:guide>
        <p15:guide id="40" pos="1134">
          <p15:clr>
            <a:srgbClr val="5ACBF0"/>
          </p15:clr>
        </p15:guide>
        <p15:guide id="41" pos="1588">
          <p15:clr>
            <a:srgbClr val="5ACBF0"/>
          </p15:clr>
        </p15:guide>
        <p15:guide id="42" pos="1815">
          <p15:clr>
            <a:srgbClr val="5ACBF0"/>
          </p15:clr>
        </p15:guide>
        <p15:guide id="43" pos="2041">
          <p15:clr>
            <a:srgbClr val="5ACBF0"/>
          </p15:clr>
        </p15:guide>
        <p15:guide id="44" pos="2268">
          <p15:clr>
            <a:srgbClr val="5ACBF0"/>
          </p15:clr>
        </p15:guide>
        <p15:guide id="46" pos="2949">
          <p15:clr>
            <a:srgbClr val="5ACBF0"/>
          </p15:clr>
        </p15:guide>
        <p15:guide id="48" pos="2495">
          <p15:clr>
            <a:srgbClr val="5ACBF0"/>
          </p15:clr>
        </p15:guide>
        <p15:guide id="49" pos="2722">
          <p15:clr>
            <a:srgbClr val="5ACBF0"/>
          </p15:clr>
        </p15:guide>
        <p15:guide id="50" pos="3629">
          <p15:clr>
            <a:srgbClr val="5ACBF0"/>
          </p15:clr>
        </p15:guide>
        <p15:guide id="51" pos="3402">
          <p15:clr>
            <a:srgbClr val="5ACBF0"/>
          </p15:clr>
        </p15:guide>
        <p15:guide id="52" pos="3175">
          <p15:clr>
            <a:srgbClr val="5ACBF0"/>
          </p15:clr>
        </p15:guide>
        <p15:guide id="53" pos="3856">
          <p15:clr>
            <a:srgbClr val="5ACBF0"/>
          </p15:clr>
        </p15:guide>
        <p15:guide id="54" pos="4083">
          <p15:clr>
            <a:srgbClr val="5ACBF0"/>
          </p15:clr>
        </p15:guide>
        <p15:guide id="55" pos="4309">
          <p15:clr>
            <a:srgbClr val="5ACBF0"/>
          </p15:clr>
        </p15:guide>
        <p15:guide id="56" pos="4536">
          <p15:clr>
            <a:srgbClr val="5ACBF0"/>
          </p15:clr>
        </p15:guide>
        <p15:guide id="57" pos="4763">
          <p15:clr>
            <a:srgbClr val="5ACBF0"/>
          </p15:clr>
        </p15:guide>
        <p15:guide id="58" pos="4990">
          <p15:clr>
            <a:srgbClr val="5ACBF0"/>
          </p15:clr>
        </p15:guide>
        <p15:guide id="59" pos="5217">
          <p15:clr>
            <a:srgbClr val="5ACBF0"/>
          </p15:clr>
        </p15:guide>
        <p15:guide id="60" pos="5443">
          <p15:clr>
            <a:srgbClr val="5ACBF0"/>
          </p15:clr>
        </p15:guide>
        <p15:guide id="61" pos="5670">
          <p15:clr>
            <a:srgbClr val="5ACBF0"/>
          </p15:clr>
        </p15:guide>
        <p15:guide id="62" pos="7031">
          <p15:clr>
            <a:srgbClr val="C35EA4"/>
          </p15:clr>
        </p15:guide>
        <p15:guide id="63" pos="5897">
          <p15:clr>
            <a:srgbClr val="5ACBF0"/>
          </p15:clr>
        </p15:guide>
        <p15:guide id="64" pos="6124">
          <p15:clr>
            <a:srgbClr val="5ACBF0"/>
          </p15:clr>
        </p15:guide>
        <p15:guide id="65" pos="6351">
          <p15:clr>
            <a:srgbClr val="5ACBF0"/>
          </p15:clr>
        </p15:guide>
        <p15:guide id="66" pos="6577">
          <p15:clr>
            <a:srgbClr val="5ACBF0"/>
          </p15:clr>
        </p15:guide>
        <p15:guide id="67" pos="6804">
          <p15:clr>
            <a:srgbClr val="5ACBF0"/>
          </p15:clr>
        </p15:guide>
        <p15:guide id="69" orient="horz" pos="612">
          <p15:clr>
            <a:srgbClr val="5ACBF0"/>
          </p15:clr>
        </p15:guide>
        <p15:guide id="70" orient="horz" pos="159">
          <p15:clr>
            <a:srgbClr val="FDE53C"/>
          </p15:clr>
        </p15:guide>
        <p15:guide id="71" orient="horz" pos="77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veon.com/x/W5mN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3.xml"/><Relationship Id="rId4" Type="http://schemas.openxmlformats.org/officeDocument/2006/relationships/hyperlink" Target="mailto:&#1060;&#1080;&#1083;&#1072;&#1090;&#1086;&#1074;&#1072;%20&#1054;&#1083;&#1100;&#1075;&#1072;%20&#1048;&#1074;&#1072;&#1085;&#1086;&#1074;&#1085;&#1072;%20%3cOlIFilatova@beeline.ru%3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5.xml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3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A07025-855A-7E43-B6A7-672368C15550}"/>
              </a:ext>
            </a:extLst>
          </p:cNvPr>
          <p:cNvSpPr/>
          <p:nvPr/>
        </p:nvSpPr>
        <p:spPr>
          <a:xfrm>
            <a:off x="242841" y="2746471"/>
            <a:ext cx="4320165" cy="266551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ru-RU" sz="1400" dirty="0">
              <a:latin typeface="+mj-lt"/>
              <a:ea typeface="Arial" charset="0"/>
              <a:cs typeface="Arial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74D17-CE35-404F-A3CE-96B89BFB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474120"/>
            <a:ext cx="5761037" cy="2116400"/>
          </a:xfrm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400" dirty="0" smtClean="0">
                <a:latin typeface="+mj-lt"/>
              </a:rPr>
              <a:t>шаблон доклада</a:t>
            </a:r>
            <a:br>
              <a:rPr lang="ru-RU" sz="4400" dirty="0" smtClean="0">
                <a:latin typeface="+mj-lt"/>
              </a:rPr>
            </a:br>
            <a:r>
              <a:rPr lang="ru-RU" sz="4400" dirty="0" smtClean="0">
                <a:latin typeface="+mj-lt"/>
              </a:rPr>
              <a:t>на архитектурный </a:t>
            </a:r>
            <a:br>
              <a:rPr lang="ru-RU" sz="4400" dirty="0" smtClean="0">
                <a:latin typeface="+mj-lt"/>
              </a:rPr>
            </a:br>
            <a:r>
              <a:rPr lang="ru-RU" sz="4400" dirty="0" smtClean="0">
                <a:latin typeface="+mj-lt"/>
              </a:rPr>
              <a:t>комитет</a:t>
            </a:r>
            <a:r>
              <a:rPr lang="ru-RU" sz="4400" dirty="0">
                <a:latin typeface="+mj-lt"/>
              </a:rPr>
              <a:t/>
            </a:r>
            <a:br>
              <a:rPr lang="ru-RU" sz="4400" dirty="0">
                <a:latin typeface="+mj-lt"/>
              </a:rPr>
            </a:br>
            <a:endParaRPr lang="ru-RU" sz="4400" dirty="0">
              <a:latin typeface="+mj-lt"/>
            </a:endParaRPr>
          </a:p>
        </p:txBody>
      </p:sp>
      <p:sp>
        <p:nvSpPr>
          <p:cNvPr id="8" name="Дата 2">
            <a:extLst>
              <a:ext uri="{FF2B5EF4-FFF2-40B4-BE49-F238E27FC236}">
                <a16:creationId xmlns:a16="http://schemas.microsoft.com/office/drawing/2014/main" id="{B14BCDE7-53DE-CA49-B227-89AEEBB0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2" y="6001875"/>
            <a:ext cx="4618037" cy="277005"/>
          </a:xfrm>
        </p:spPr>
        <p:txBody>
          <a:bodyPr wrap="none">
            <a:noAutofit/>
          </a:bodyPr>
          <a:lstStyle>
            <a:lvl1pPr>
              <a:defRPr b="0" i="0"/>
            </a:lvl1pPr>
          </a:lstStyle>
          <a:p>
            <a:r>
              <a:rPr lang="ru-RU" dirty="0"/>
              <a:t>КОНФИДЕНЦИАЛЬНАЯ ИНФОРМАЦИЯ, СОБСТВЕННОСТЬ ПАО "ВЫМПЕЛКОМ"</a:t>
            </a:r>
          </a:p>
          <a:p>
            <a:r>
              <a:rPr lang="ru-RU" dirty="0"/>
              <a:t>Любое использование этого документа без специального разрешения строго запрещено</a:t>
            </a:r>
          </a:p>
        </p:txBody>
      </p:sp>
    </p:spTree>
    <p:extLst>
      <p:ext uri="{BB962C8B-B14F-4D97-AF65-F5344CB8AC3E}">
        <p14:creationId xmlns:p14="http://schemas.microsoft.com/office/powerpoint/2010/main" val="13623758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4292958" y="3902933"/>
            <a:ext cx="813913" cy="9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ea typeface="Arial" charset="0"/>
              <a:cs typeface="Arial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77859" y="943270"/>
            <a:ext cx="3601169" cy="4911090"/>
          </a:xfrm>
          <a:prstGeom prst="roundRect">
            <a:avLst>
              <a:gd name="adj" fmla="val 7025"/>
            </a:avLst>
          </a:prstGeom>
          <a:solidFill>
            <a:schemeClr val="bg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/>
          </a:p>
        </p:txBody>
      </p:sp>
      <p:sp>
        <p:nvSpPr>
          <p:cNvPr id="32" name="Прямоугольник 31"/>
          <p:cNvSpPr/>
          <p:nvPr/>
        </p:nvSpPr>
        <p:spPr>
          <a:xfrm>
            <a:off x="1698688" y="2867805"/>
            <a:ext cx="1289609" cy="61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ea typeface="Arial" charset="0"/>
              <a:cs typeface="Arial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938604" y="2138211"/>
            <a:ext cx="512366" cy="759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ea typeface="Arial" charset="0"/>
              <a:cs typeface="Arial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smtClean="0"/>
              <a:t>памятка</a:t>
            </a:r>
            <a:endParaRPr lang="ru-RU" sz="24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35314" y="1105717"/>
            <a:ext cx="33305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2"/>
                </a:solidFill>
              </a:rPr>
              <a:t>С целью организации защиты решения </a:t>
            </a:r>
            <a:r>
              <a:rPr lang="ru-RU" sz="1200" dirty="0" smtClean="0">
                <a:solidFill>
                  <a:schemeClr val="tx2"/>
                </a:solidFill>
              </a:rPr>
              <a:t/>
            </a:r>
            <a:br>
              <a:rPr lang="ru-RU" sz="1200" dirty="0" smtClean="0">
                <a:solidFill>
                  <a:schemeClr val="tx2"/>
                </a:solidFill>
              </a:rPr>
            </a:br>
            <a:r>
              <a:rPr lang="ru-RU" sz="1200" dirty="0" smtClean="0">
                <a:solidFill>
                  <a:schemeClr val="tx2"/>
                </a:solidFill>
              </a:rPr>
              <a:t>на </a:t>
            </a:r>
            <a:r>
              <a:rPr lang="ru-RU" sz="1200" dirty="0">
                <a:solidFill>
                  <a:schemeClr val="tx2"/>
                </a:solidFill>
              </a:rPr>
              <a:t>Архитектурном комитете (АК) необходимо направить вопрос секретарю АК </a:t>
            </a:r>
            <a:r>
              <a:rPr lang="ru-RU" sz="1200" dirty="0" smtClean="0">
                <a:solidFill>
                  <a:schemeClr val="tx2"/>
                </a:solidFill>
              </a:rPr>
              <a:t/>
            </a:r>
            <a:br>
              <a:rPr lang="ru-RU" sz="1200" dirty="0" smtClean="0">
                <a:solidFill>
                  <a:schemeClr val="tx2"/>
                </a:solidFill>
              </a:rPr>
            </a:br>
            <a:r>
              <a:rPr lang="ru-RU" sz="1200" dirty="0" smtClean="0">
                <a:solidFill>
                  <a:schemeClr val="tx2"/>
                </a:solidFill>
              </a:rPr>
              <a:t>для </a:t>
            </a:r>
            <a:r>
              <a:rPr lang="ru-RU" sz="1200" dirty="0">
                <a:solidFill>
                  <a:schemeClr val="tx2"/>
                </a:solidFill>
              </a:rPr>
              <a:t>включения в повестку.</a:t>
            </a:r>
          </a:p>
          <a:p>
            <a:r>
              <a:rPr lang="ru-RU" sz="1200" dirty="0">
                <a:solidFill>
                  <a:schemeClr val="tx2"/>
                </a:solidFill>
              </a:rPr>
              <a:t>Подробно процесс организации и подготовки </a:t>
            </a:r>
            <a:r>
              <a:rPr lang="en-US" sz="1200" dirty="0" smtClean="0">
                <a:solidFill>
                  <a:schemeClr val="tx2"/>
                </a:solidFill>
              </a:rPr>
              <a:t/>
            </a:r>
            <a:br>
              <a:rPr lang="en-US" sz="1200" dirty="0" smtClean="0">
                <a:solidFill>
                  <a:schemeClr val="tx2"/>
                </a:solidFill>
              </a:rPr>
            </a:br>
            <a:r>
              <a:rPr lang="ru-RU" sz="1200" dirty="0" smtClean="0">
                <a:solidFill>
                  <a:schemeClr val="tx2"/>
                </a:solidFill>
              </a:rPr>
              <a:t>к </a:t>
            </a:r>
            <a:r>
              <a:rPr lang="ru-RU" sz="1200" dirty="0">
                <a:solidFill>
                  <a:schemeClr val="tx2"/>
                </a:solidFill>
              </a:rPr>
              <a:t>защите описан в </a:t>
            </a:r>
            <a:r>
              <a:rPr lang="en-US" sz="1200" b="1" dirty="0" smtClean="0"/>
              <a:t>[  </a:t>
            </a:r>
            <a:r>
              <a:rPr lang="ru-RU" sz="1200" b="1" dirty="0" smtClean="0">
                <a:hlinkClick r:id="rId3"/>
              </a:rPr>
              <a:t>ссылка</a:t>
            </a:r>
            <a:r>
              <a:rPr lang="en-US" sz="1200" b="1" dirty="0" smtClean="0"/>
              <a:t>  </a:t>
            </a:r>
            <a:r>
              <a:rPr lang="en-US" sz="1200" b="1" dirty="0" smtClean="0"/>
              <a:t>].</a:t>
            </a:r>
            <a:r>
              <a:rPr lang="ru-RU" sz="1200" b="1" dirty="0" smtClean="0"/>
              <a:t> </a:t>
            </a:r>
            <a:endParaRPr lang="ru-RU" sz="1200" b="1" dirty="0"/>
          </a:p>
          <a:p>
            <a:r>
              <a:rPr lang="ru-RU" sz="1200" dirty="0">
                <a:solidFill>
                  <a:schemeClr val="tx2"/>
                </a:solidFill>
              </a:rPr>
              <a:t>Рассмотрение вопроса на АК проводится </a:t>
            </a:r>
            <a:r>
              <a:rPr lang="ru-RU" sz="1200" dirty="0" smtClean="0">
                <a:solidFill>
                  <a:schemeClr val="tx2"/>
                </a:solidFill>
              </a:rPr>
              <a:t/>
            </a:r>
            <a:br>
              <a:rPr lang="ru-RU" sz="1200" dirty="0" smtClean="0">
                <a:solidFill>
                  <a:schemeClr val="tx2"/>
                </a:solidFill>
              </a:rPr>
            </a:br>
            <a:r>
              <a:rPr lang="ru-RU" sz="1200" dirty="0" smtClean="0">
                <a:solidFill>
                  <a:schemeClr val="tx2"/>
                </a:solidFill>
              </a:rPr>
              <a:t>при </a:t>
            </a:r>
            <a:r>
              <a:rPr lang="ru-RU" sz="1200" dirty="0">
                <a:solidFill>
                  <a:schemeClr val="tx2"/>
                </a:solidFill>
              </a:rPr>
              <a:t>готовности материалов (концепций, проектов решений). Материалы направляются Секретарю АК </a:t>
            </a:r>
            <a:r>
              <a:rPr lang="en-US" sz="1200" b="1" dirty="0" smtClean="0"/>
              <a:t>[  </a:t>
            </a:r>
            <a:r>
              <a:rPr lang="ru-RU" sz="1200" b="1" dirty="0" smtClean="0">
                <a:hlinkClick r:id="rId4"/>
              </a:rPr>
              <a:t>Ольге Филатовой</a:t>
            </a:r>
            <a:r>
              <a:rPr lang="en-US" sz="1200" b="1" dirty="0" smtClean="0"/>
              <a:t>  </a:t>
            </a:r>
            <a:r>
              <a:rPr lang="en-US" sz="1200" b="1" dirty="0" smtClean="0"/>
              <a:t>]</a:t>
            </a:r>
            <a:r>
              <a:rPr lang="ru-RU" sz="1200" b="1" dirty="0"/>
              <a:t>.</a:t>
            </a:r>
          </a:p>
          <a:p>
            <a:r>
              <a:rPr lang="ru-RU" sz="1200" dirty="0">
                <a:solidFill>
                  <a:schemeClr val="tx2"/>
                </a:solidFill>
              </a:rPr>
              <a:t>Дата, время и места определяется Председателем АК </a:t>
            </a:r>
            <a:r>
              <a:rPr lang="ru-RU" sz="1200" dirty="0" smtClean="0">
                <a:solidFill>
                  <a:schemeClr val="tx2"/>
                </a:solidFill>
              </a:rPr>
              <a:t/>
            </a:r>
            <a:br>
              <a:rPr lang="ru-RU" sz="1200" dirty="0" smtClean="0">
                <a:solidFill>
                  <a:schemeClr val="tx2"/>
                </a:solidFill>
              </a:rPr>
            </a:br>
            <a:r>
              <a:rPr lang="ru-RU" sz="1200" dirty="0" smtClean="0">
                <a:solidFill>
                  <a:schemeClr val="tx2"/>
                </a:solidFill>
              </a:rPr>
              <a:t>и </a:t>
            </a:r>
            <a:r>
              <a:rPr lang="ru-RU" sz="1200" dirty="0">
                <a:solidFill>
                  <a:schemeClr val="tx2"/>
                </a:solidFill>
              </a:rPr>
              <a:t>доводится до его членов Секретарем АК </a:t>
            </a:r>
            <a:r>
              <a:rPr lang="ru-RU" sz="1200" dirty="0" smtClean="0">
                <a:solidFill>
                  <a:schemeClr val="tx2"/>
                </a:solidFill>
              </a:rPr>
              <a:t/>
            </a:r>
            <a:br>
              <a:rPr lang="ru-RU" sz="1200" dirty="0" smtClean="0">
                <a:solidFill>
                  <a:schemeClr val="tx2"/>
                </a:solidFill>
              </a:rPr>
            </a:br>
            <a:r>
              <a:rPr lang="ru-RU" sz="1200" dirty="0" smtClean="0">
                <a:solidFill>
                  <a:schemeClr val="tx2"/>
                </a:solidFill>
              </a:rPr>
              <a:t>не </a:t>
            </a:r>
            <a:r>
              <a:rPr lang="ru-RU" sz="1200" dirty="0">
                <a:solidFill>
                  <a:schemeClr val="tx2"/>
                </a:solidFill>
              </a:rPr>
              <a:t>позднее, чем за 2 дня до его проведения.</a:t>
            </a:r>
          </a:p>
          <a:p>
            <a:endParaRPr lang="ru-RU" sz="1200" dirty="0">
              <a:solidFill>
                <a:schemeClr val="tx2"/>
              </a:solidFill>
            </a:endParaRPr>
          </a:p>
          <a:p>
            <a:r>
              <a:rPr lang="ru-RU" sz="1200" b="1" dirty="0">
                <a:solidFill>
                  <a:schemeClr val="tx2"/>
                </a:solidFill>
              </a:rPr>
              <a:t>Все материалы к Очным заседаниям </a:t>
            </a:r>
            <a:r>
              <a:rPr lang="ru-RU" sz="1200" b="1" dirty="0" smtClean="0">
                <a:solidFill>
                  <a:schemeClr val="tx2"/>
                </a:solidFill>
              </a:rPr>
              <a:t/>
            </a:r>
            <a:br>
              <a:rPr lang="ru-RU" sz="1200" b="1" dirty="0" smtClean="0">
                <a:solidFill>
                  <a:schemeClr val="tx2"/>
                </a:solidFill>
              </a:rPr>
            </a:br>
            <a:r>
              <a:rPr lang="ru-RU" sz="1200" b="1" dirty="0" smtClean="0">
                <a:solidFill>
                  <a:schemeClr val="tx2"/>
                </a:solidFill>
              </a:rPr>
              <a:t>АК </a:t>
            </a:r>
            <a:r>
              <a:rPr lang="ru-RU" sz="1200" b="1" dirty="0">
                <a:solidFill>
                  <a:schemeClr val="tx2"/>
                </a:solidFill>
              </a:rPr>
              <a:t>готовятся </a:t>
            </a:r>
            <a:r>
              <a:rPr lang="ru-RU" sz="1200" b="1" dirty="0" smtClean="0">
                <a:solidFill>
                  <a:schemeClr val="tx2"/>
                </a:solidFill>
              </a:rPr>
              <a:t>в </a:t>
            </a:r>
            <a:r>
              <a:rPr lang="ru-RU" sz="1200" b="1" dirty="0">
                <a:solidFill>
                  <a:schemeClr val="tx2"/>
                </a:solidFill>
              </a:rPr>
              <a:t>виде презентаций </a:t>
            </a:r>
            <a:r>
              <a:rPr lang="ru-RU" sz="1200" b="1" dirty="0" smtClean="0">
                <a:solidFill>
                  <a:schemeClr val="tx2"/>
                </a:solidFill>
              </a:rPr>
              <a:t/>
            </a:r>
            <a:br>
              <a:rPr lang="ru-RU" sz="1200" b="1" dirty="0" smtClean="0">
                <a:solidFill>
                  <a:schemeClr val="tx2"/>
                </a:solidFill>
              </a:rPr>
            </a:br>
            <a:r>
              <a:rPr lang="ru-RU" sz="1200" b="1" dirty="0" smtClean="0">
                <a:solidFill>
                  <a:schemeClr val="tx2"/>
                </a:solidFill>
              </a:rPr>
              <a:t>на </a:t>
            </a:r>
            <a:r>
              <a:rPr lang="ru-RU" sz="1200" b="1" dirty="0">
                <a:solidFill>
                  <a:schemeClr val="tx2"/>
                </a:solidFill>
              </a:rPr>
              <a:t>русском языке. Объем основного текста презентации не более 12-15 слайдов </a:t>
            </a:r>
            <a:r>
              <a:rPr lang="ru-RU" sz="1200" b="1" dirty="0" smtClean="0">
                <a:solidFill>
                  <a:schemeClr val="tx2"/>
                </a:solidFill>
              </a:rPr>
              <a:t/>
            </a:r>
            <a:br>
              <a:rPr lang="ru-RU" sz="1200" b="1" dirty="0" smtClean="0">
                <a:solidFill>
                  <a:schemeClr val="tx2"/>
                </a:solidFill>
              </a:rPr>
            </a:br>
            <a:r>
              <a:rPr lang="ru-RU" sz="1200" b="1" dirty="0" smtClean="0">
                <a:solidFill>
                  <a:schemeClr val="tx2"/>
                </a:solidFill>
              </a:rPr>
              <a:t>(</a:t>
            </a:r>
            <a:r>
              <a:rPr lang="ru-RU" sz="1200" b="1" dirty="0">
                <a:solidFill>
                  <a:schemeClr val="tx2"/>
                </a:solidFill>
              </a:rPr>
              <a:t>из расчета 15 минут, выделяемых </a:t>
            </a:r>
            <a:r>
              <a:rPr lang="ru-RU" sz="1200" b="1" dirty="0" smtClean="0">
                <a:solidFill>
                  <a:schemeClr val="tx2"/>
                </a:solidFill>
              </a:rPr>
              <a:t/>
            </a:r>
            <a:br>
              <a:rPr lang="ru-RU" sz="1200" b="1" dirty="0" smtClean="0">
                <a:solidFill>
                  <a:schemeClr val="tx2"/>
                </a:solidFill>
              </a:rPr>
            </a:br>
            <a:r>
              <a:rPr lang="ru-RU" sz="1200" b="1" dirty="0" smtClean="0">
                <a:solidFill>
                  <a:schemeClr val="tx2"/>
                </a:solidFill>
              </a:rPr>
              <a:t>для </a:t>
            </a:r>
            <a:r>
              <a:rPr lang="ru-RU" sz="1200" b="1" dirty="0">
                <a:solidFill>
                  <a:schemeClr val="tx2"/>
                </a:solidFill>
              </a:rPr>
              <a:t>доклада).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243573" y="1105717"/>
            <a:ext cx="527657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tx2"/>
                </a:solidFill>
              </a:rPr>
              <a:t>Презентация должна содержать слайды по следующим темам: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772524" y="2560960"/>
            <a:ext cx="227577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chemeClr val="tx2"/>
                </a:solidFill>
              </a:rPr>
              <a:t>В случае необходимости дополнительные и справочные материалы могут быть вынесены </a:t>
            </a:r>
            <a:r>
              <a:rPr lang="ru-RU" sz="900" dirty="0" smtClean="0">
                <a:solidFill>
                  <a:schemeClr val="tx2"/>
                </a:solidFill>
              </a:rPr>
              <a:t>в </a:t>
            </a:r>
            <a:r>
              <a:rPr lang="ru-RU" sz="900" dirty="0">
                <a:solidFill>
                  <a:schemeClr val="tx2"/>
                </a:solidFill>
              </a:rPr>
              <a:t>отдельное </a:t>
            </a:r>
            <a:r>
              <a:rPr lang="ru-RU" sz="900" b="1" dirty="0">
                <a:solidFill>
                  <a:schemeClr val="tx2"/>
                </a:solidFill>
              </a:rPr>
              <a:t>приложение </a:t>
            </a:r>
            <a:r>
              <a:rPr lang="en-US" sz="900" b="1" dirty="0" smtClean="0">
                <a:solidFill>
                  <a:schemeClr val="tx2"/>
                </a:solidFill>
              </a:rPr>
              <a:t/>
            </a:r>
            <a:br>
              <a:rPr lang="en-US" sz="900" b="1" dirty="0" smtClean="0">
                <a:solidFill>
                  <a:schemeClr val="tx2"/>
                </a:solidFill>
              </a:rPr>
            </a:br>
            <a:r>
              <a:rPr lang="ru-RU" sz="900" b="1" dirty="0" smtClean="0">
                <a:solidFill>
                  <a:schemeClr val="tx2"/>
                </a:solidFill>
              </a:rPr>
              <a:t>к </a:t>
            </a:r>
            <a:r>
              <a:rPr lang="ru-RU" sz="900" b="1" dirty="0">
                <a:solidFill>
                  <a:schemeClr val="tx2"/>
                </a:solidFill>
              </a:rPr>
              <a:t>презентации</a:t>
            </a:r>
            <a:r>
              <a:rPr lang="ru-RU" sz="900" dirty="0">
                <a:solidFill>
                  <a:schemeClr val="tx2"/>
                </a:solidFill>
              </a:rPr>
              <a:t> (количество слайдов такого приложения не ограничивается).</a:t>
            </a:r>
          </a:p>
        </p:txBody>
      </p:sp>
      <p:sp>
        <p:nvSpPr>
          <p:cNvPr id="12" name="Полилиния 11"/>
          <p:cNvSpPr/>
          <p:nvPr/>
        </p:nvSpPr>
        <p:spPr>
          <a:xfrm>
            <a:off x="377859" y="5534754"/>
            <a:ext cx="3601169" cy="347886"/>
          </a:xfrm>
          <a:custGeom>
            <a:avLst/>
            <a:gdLst>
              <a:gd name="connsiteX0" fmla="*/ 0 w 3732323"/>
              <a:gd name="connsiteY0" fmla="*/ 0 h 347886"/>
              <a:gd name="connsiteX1" fmla="*/ 262196 w 3732323"/>
              <a:gd name="connsiteY1" fmla="*/ 262196 h 347886"/>
              <a:gd name="connsiteX2" fmla="*/ 3470127 w 3732323"/>
              <a:gd name="connsiteY2" fmla="*/ 262196 h 347886"/>
              <a:gd name="connsiteX3" fmla="*/ 3732323 w 3732323"/>
              <a:gd name="connsiteY3" fmla="*/ 0 h 347886"/>
              <a:gd name="connsiteX4" fmla="*/ 3732323 w 3732323"/>
              <a:gd name="connsiteY4" fmla="*/ 85690 h 347886"/>
              <a:gd name="connsiteX5" fmla="*/ 3470127 w 3732323"/>
              <a:gd name="connsiteY5" fmla="*/ 347886 h 347886"/>
              <a:gd name="connsiteX6" fmla="*/ 262196 w 3732323"/>
              <a:gd name="connsiteY6" fmla="*/ 347886 h 347886"/>
              <a:gd name="connsiteX7" fmla="*/ 0 w 3732323"/>
              <a:gd name="connsiteY7" fmla="*/ 85690 h 34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2323" h="347886">
                <a:moveTo>
                  <a:pt x="0" y="0"/>
                </a:moveTo>
                <a:cubicBezTo>
                  <a:pt x="0" y="144807"/>
                  <a:pt x="117389" y="262196"/>
                  <a:pt x="262196" y="262196"/>
                </a:cubicBezTo>
                <a:lnTo>
                  <a:pt x="3470127" y="262196"/>
                </a:lnTo>
                <a:cubicBezTo>
                  <a:pt x="3614934" y="262196"/>
                  <a:pt x="3732323" y="144807"/>
                  <a:pt x="3732323" y="0"/>
                </a:cubicBezTo>
                <a:lnTo>
                  <a:pt x="3732323" y="85690"/>
                </a:lnTo>
                <a:cubicBezTo>
                  <a:pt x="3732323" y="230497"/>
                  <a:pt x="3614934" y="347886"/>
                  <a:pt x="3470127" y="347886"/>
                </a:cubicBezTo>
                <a:lnTo>
                  <a:pt x="262196" y="347886"/>
                </a:lnTo>
                <a:cubicBezTo>
                  <a:pt x="117389" y="347886"/>
                  <a:pt x="0" y="230497"/>
                  <a:pt x="0" y="8569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  <a:effectLst/>
        </p:spPr>
        <p:txBody>
          <a:bodyPr rot="0" spcFirstLastPara="0" vertOverflow="overflow" horzOverflow="overflow" vert="horz" wrap="squar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/>
          </a:p>
        </p:txBody>
      </p:sp>
      <p:sp>
        <p:nvSpPr>
          <p:cNvPr id="13" name="Прямоугольник 12"/>
          <p:cNvSpPr/>
          <p:nvPr/>
        </p:nvSpPr>
        <p:spPr>
          <a:xfrm>
            <a:off x="4243573" y="1586827"/>
            <a:ext cx="21886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tx2"/>
                </a:solidFill>
              </a:rPr>
              <a:t>общее описание задачи </a:t>
            </a:r>
            <a:r>
              <a:rPr lang="ru-RU" sz="1050" b="1" dirty="0" smtClean="0">
                <a:solidFill>
                  <a:schemeClr val="tx2"/>
                </a:solidFill>
              </a:rPr>
              <a:t/>
            </a:r>
            <a:br>
              <a:rPr lang="ru-RU" sz="1050" b="1" dirty="0" smtClean="0">
                <a:solidFill>
                  <a:schemeClr val="tx2"/>
                </a:solidFill>
              </a:rPr>
            </a:br>
            <a:r>
              <a:rPr lang="ru-RU" sz="1050" b="1" dirty="0" smtClean="0">
                <a:solidFill>
                  <a:schemeClr val="tx2"/>
                </a:solidFill>
              </a:rPr>
              <a:t>или </a:t>
            </a:r>
            <a:r>
              <a:rPr lang="ru-RU" sz="1050" b="1" dirty="0">
                <a:solidFill>
                  <a:schemeClr val="tx2"/>
                </a:solidFill>
              </a:rPr>
              <a:t>проблемы, </a:t>
            </a:r>
            <a:r>
              <a:rPr lang="ru-RU" sz="1050" dirty="0">
                <a:solidFill>
                  <a:schemeClr val="tx2"/>
                </a:solidFill>
              </a:rPr>
              <a:t>схематичное описание и изображение предметной области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6508048" y="1586827"/>
            <a:ext cx="21886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tx2"/>
                </a:solidFill>
              </a:rPr>
              <a:t>место в ландшафте </a:t>
            </a:r>
            <a:r>
              <a:rPr lang="ru-RU" sz="1050" b="1" dirty="0" smtClean="0">
                <a:solidFill>
                  <a:schemeClr val="tx2"/>
                </a:solidFill>
              </a:rPr>
              <a:t/>
            </a:r>
            <a:br>
              <a:rPr lang="ru-RU" sz="1050" b="1" dirty="0" smtClean="0">
                <a:solidFill>
                  <a:schemeClr val="tx2"/>
                </a:solidFill>
              </a:rPr>
            </a:br>
            <a:r>
              <a:rPr lang="ru-RU" sz="1050" b="1" dirty="0" smtClean="0">
                <a:solidFill>
                  <a:schemeClr val="tx2"/>
                </a:solidFill>
              </a:rPr>
              <a:t>и </a:t>
            </a:r>
            <a:r>
              <a:rPr lang="ru-RU" sz="1050" b="1" dirty="0">
                <a:solidFill>
                  <a:schemeClr val="tx2"/>
                </a:solidFill>
              </a:rPr>
              <a:t>процессах компании </a:t>
            </a:r>
            <a:r>
              <a:rPr lang="ru-RU" sz="1050" dirty="0">
                <a:solidFill>
                  <a:schemeClr val="tx2"/>
                </a:solidFill>
              </a:rPr>
              <a:t>(назначение и область применения)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8772523" y="1586827"/>
            <a:ext cx="218860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tx2"/>
                </a:solidFill>
              </a:rPr>
              <a:t>предпосылки и история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4243573" y="2560960"/>
            <a:ext cx="21886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tx2"/>
                </a:solidFill>
              </a:rPr>
              <a:t>предлагаемое решение </a:t>
            </a:r>
            <a:r>
              <a:rPr lang="ru-RU" sz="1050" b="1" dirty="0" smtClean="0">
                <a:solidFill>
                  <a:schemeClr val="tx2"/>
                </a:solidFill>
              </a:rPr>
              <a:t/>
            </a:r>
            <a:br>
              <a:rPr lang="ru-RU" sz="1050" b="1" dirty="0" smtClean="0">
                <a:solidFill>
                  <a:schemeClr val="tx2"/>
                </a:solidFill>
              </a:rPr>
            </a:br>
            <a:r>
              <a:rPr lang="ru-RU" sz="1050" b="1" dirty="0" smtClean="0">
                <a:solidFill>
                  <a:schemeClr val="tx2"/>
                </a:solidFill>
              </a:rPr>
              <a:t>и/или </a:t>
            </a:r>
            <a:r>
              <a:rPr lang="ru-RU" sz="1050" b="1" dirty="0">
                <a:solidFill>
                  <a:schemeClr val="tx2"/>
                </a:solidFill>
              </a:rPr>
              <a:t>возможные варианты, </a:t>
            </a:r>
            <a:r>
              <a:rPr lang="ru-RU" sz="1050" b="1" dirty="0" smtClean="0">
                <a:solidFill>
                  <a:schemeClr val="tx2"/>
                </a:solidFill>
              </a:rPr>
              <a:t/>
            </a:r>
            <a:br>
              <a:rPr lang="ru-RU" sz="1050" b="1" dirty="0" smtClean="0">
                <a:solidFill>
                  <a:schemeClr val="tx2"/>
                </a:solidFill>
              </a:rPr>
            </a:br>
            <a:r>
              <a:rPr lang="ru-RU" sz="1050" b="1" dirty="0" smtClean="0">
                <a:solidFill>
                  <a:schemeClr val="tx2"/>
                </a:solidFill>
              </a:rPr>
              <a:t>AS </a:t>
            </a:r>
            <a:r>
              <a:rPr lang="ru-RU" sz="1050" b="1" dirty="0">
                <a:solidFill>
                  <a:schemeClr val="tx2"/>
                </a:solidFill>
              </a:rPr>
              <a:t>IS - TO BE, </a:t>
            </a:r>
            <a:r>
              <a:rPr lang="ru-RU" sz="1050" b="1" dirty="0" smtClean="0">
                <a:solidFill>
                  <a:schemeClr val="tx2"/>
                </a:solidFill>
              </a:rPr>
              <a:t/>
            </a:r>
            <a:br>
              <a:rPr lang="ru-RU" sz="1050" b="1" dirty="0" smtClean="0">
                <a:solidFill>
                  <a:schemeClr val="tx2"/>
                </a:solidFill>
              </a:rPr>
            </a:br>
            <a:r>
              <a:rPr lang="ru-RU" sz="1050" dirty="0">
                <a:solidFill>
                  <a:schemeClr val="tx2"/>
                </a:solidFill>
              </a:rPr>
              <a:t>обоснование выбора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6508048" y="2560960"/>
            <a:ext cx="21886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tx2"/>
                </a:solidFill>
              </a:rPr>
              <a:t>доп. материалы, </a:t>
            </a:r>
            <a:r>
              <a:rPr lang="ru-RU" sz="1050" dirty="0" smtClean="0">
                <a:solidFill>
                  <a:schemeClr val="tx2"/>
                </a:solidFill>
              </a:rPr>
              <a:t>в </a:t>
            </a:r>
            <a:r>
              <a:rPr lang="ru-RU" sz="1050" dirty="0">
                <a:solidFill>
                  <a:schemeClr val="tx2"/>
                </a:solidFill>
              </a:rPr>
              <a:t>зависимости от запрашиваемого Проекта решения, позволяющие детализировать решение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4243573" y="1395394"/>
            <a:ext cx="6197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accent1"/>
                </a:solidFill>
              </a:rPr>
              <a:t>O1</a:t>
            </a:r>
            <a:endParaRPr lang="ru-RU" sz="1200" dirty="0">
              <a:solidFill>
                <a:schemeClr val="accent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508048" y="1395394"/>
            <a:ext cx="6197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accent1"/>
                </a:solidFill>
              </a:rPr>
              <a:t>O2</a:t>
            </a:r>
            <a:endParaRPr lang="ru-RU" sz="1200" dirty="0">
              <a:solidFill>
                <a:schemeClr val="accent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8772523" y="1395394"/>
            <a:ext cx="6197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accent1"/>
                </a:solidFill>
              </a:rPr>
              <a:t>O3</a:t>
            </a:r>
            <a:endParaRPr lang="ru-RU" sz="1200" dirty="0">
              <a:solidFill>
                <a:schemeClr val="accent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4243573" y="2387456"/>
            <a:ext cx="6197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accent1"/>
                </a:solidFill>
              </a:rPr>
              <a:t>O4</a:t>
            </a:r>
            <a:endParaRPr lang="ru-RU" sz="1200" dirty="0">
              <a:solidFill>
                <a:schemeClr val="accent1"/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6508048" y="2387456"/>
            <a:ext cx="6197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accent1"/>
                </a:solidFill>
              </a:rPr>
              <a:t>O5</a:t>
            </a:r>
            <a:endParaRPr lang="ru-RU" sz="1200" dirty="0">
              <a:solidFill>
                <a:schemeClr val="accent1"/>
              </a:solidFill>
            </a:endParaRPr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4243573" y="3398858"/>
            <a:ext cx="6918141" cy="0"/>
          </a:xfrm>
          <a:prstGeom prst="line">
            <a:avLst/>
          </a:prstGeom>
          <a:ln>
            <a:solidFill>
              <a:schemeClr val="tx1">
                <a:lumMod val="90000"/>
                <a:lumOff val="1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4243573" y="3432283"/>
            <a:ext cx="57789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>
                <a:solidFill>
                  <a:schemeClr val="tx2"/>
                </a:solidFill>
              </a:rPr>
              <a:t>Комитеты назначаются по готовности материалов + ОП. В обычном режиме комитет проходит </a:t>
            </a:r>
            <a:r>
              <a:rPr lang="ru-RU" sz="1050" b="1" dirty="0"/>
              <a:t>раз в две недели по пятницам.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4243573" y="3819652"/>
            <a:ext cx="691814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 smtClean="0">
                <a:solidFill>
                  <a:schemeClr val="tx2"/>
                </a:solidFill>
              </a:rPr>
              <a:t>ВНИМАНИЕ! </a:t>
            </a:r>
            <a:r>
              <a:rPr lang="en-US" sz="1050" b="1" dirty="0" smtClean="0">
                <a:solidFill>
                  <a:schemeClr val="tx2"/>
                </a:solidFill>
              </a:rPr>
              <a:t>  </a:t>
            </a:r>
            <a:r>
              <a:rPr lang="ru-RU" sz="1050" dirty="0" smtClean="0">
                <a:solidFill>
                  <a:schemeClr val="tx2"/>
                </a:solidFill>
              </a:rPr>
              <a:t>После </a:t>
            </a:r>
            <a:r>
              <a:rPr lang="ru-RU" sz="1050" dirty="0">
                <a:solidFill>
                  <a:schemeClr val="tx2"/>
                </a:solidFill>
              </a:rPr>
              <a:t>предоставления готовой презентации в АК требуется еще примерно </a:t>
            </a:r>
            <a:r>
              <a:rPr lang="ru-RU" sz="1050" b="1" dirty="0">
                <a:solidFill>
                  <a:schemeClr val="tx2"/>
                </a:solidFill>
              </a:rPr>
              <a:t>одна-две недели для подготовки оппонирующей позиции. Это является обязательным условием рассмотрения материала на АК. </a:t>
            </a:r>
          </a:p>
        </p:txBody>
      </p:sp>
      <p:sp>
        <p:nvSpPr>
          <p:cNvPr id="33" name="Полилиния: фигура 7">
            <a:extLst>
              <a:ext uri="{FF2B5EF4-FFF2-40B4-BE49-F238E27FC236}">
                <a16:creationId xmlns:a16="http://schemas.microsoft.com/office/drawing/2014/main" id="{1C68C6B0-4EA0-403E-A54D-116CCC1C26C3}"/>
              </a:ext>
            </a:extLst>
          </p:cNvPr>
          <p:cNvSpPr/>
          <p:nvPr/>
        </p:nvSpPr>
        <p:spPr>
          <a:xfrm>
            <a:off x="8868981" y="2435645"/>
            <a:ext cx="166761" cy="166722"/>
          </a:xfrm>
          <a:custGeom>
            <a:avLst/>
            <a:gdLst>
              <a:gd name="connsiteX0" fmla="*/ 180960 w 353021"/>
              <a:gd name="connsiteY0" fmla="*/ 179 h 352939"/>
              <a:gd name="connsiteX1" fmla="*/ 199182 w 353021"/>
              <a:gd name="connsiteY1" fmla="*/ 1382 h 352939"/>
              <a:gd name="connsiteX2" fmla="*/ 266915 w 353021"/>
              <a:gd name="connsiteY2" fmla="*/ 25106 h 352939"/>
              <a:gd name="connsiteX3" fmla="*/ 319520 w 353021"/>
              <a:gd name="connsiteY3" fmla="*/ 73241 h 352939"/>
              <a:gd name="connsiteX4" fmla="*/ 348917 w 353021"/>
              <a:gd name="connsiteY4" fmla="*/ 138567 h 352939"/>
              <a:gd name="connsiteX5" fmla="*/ 346682 w 353021"/>
              <a:gd name="connsiteY5" fmla="*/ 223491 h 352939"/>
              <a:gd name="connsiteX6" fmla="*/ 305423 w 353021"/>
              <a:gd name="connsiteY6" fmla="*/ 297241 h 352939"/>
              <a:gd name="connsiteX7" fmla="*/ 196432 w 353021"/>
              <a:gd name="connsiteY7" fmla="*/ 352252 h 352939"/>
              <a:gd name="connsiteX8" fmla="*/ 175287 w 353021"/>
              <a:gd name="connsiteY8" fmla="*/ 352940 h 352939"/>
              <a:gd name="connsiteX9" fmla="*/ 154142 w 353021"/>
              <a:gd name="connsiteY9" fmla="*/ 351736 h 352939"/>
              <a:gd name="connsiteX10" fmla="*/ 81252 w 353021"/>
              <a:gd name="connsiteY10" fmla="*/ 325262 h 352939"/>
              <a:gd name="connsiteX11" fmla="*/ 26928 w 353021"/>
              <a:gd name="connsiteY11" fmla="*/ 270594 h 352939"/>
              <a:gd name="connsiteX12" fmla="*/ 1313 w 353021"/>
              <a:gd name="connsiteY12" fmla="*/ 198736 h 352939"/>
              <a:gd name="connsiteX13" fmla="*/ 8190 w 353021"/>
              <a:gd name="connsiteY13" fmla="*/ 123439 h 352939"/>
              <a:gd name="connsiteX14" fmla="*/ 45838 w 353021"/>
              <a:gd name="connsiteY14" fmla="*/ 57597 h 352939"/>
              <a:gd name="connsiteX15" fmla="*/ 98787 w 353021"/>
              <a:gd name="connsiteY15" fmla="*/ 17886 h 352939"/>
              <a:gd name="connsiteX16" fmla="*/ 162737 w 353021"/>
              <a:gd name="connsiteY16" fmla="*/ 523 h 352939"/>
              <a:gd name="connsiteX17" fmla="*/ 180960 w 353021"/>
              <a:gd name="connsiteY17" fmla="*/ 179 h 352939"/>
              <a:gd name="connsiteX18" fmla="*/ 176146 w 353021"/>
              <a:gd name="connsiteY18" fmla="*/ 24762 h 352939"/>
              <a:gd name="connsiteX19" fmla="*/ 159643 w 353021"/>
              <a:gd name="connsiteY19" fmla="*/ 25450 h 352939"/>
              <a:gd name="connsiteX20" fmla="*/ 118212 w 353021"/>
              <a:gd name="connsiteY20" fmla="*/ 36280 h 352939"/>
              <a:gd name="connsiteX21" fmla="*/ 81424 w 353021"/>
              <a:gd name="connsiteY21" fmla="*/ 58285 h 352939"/>
              <a:gd name="connsiteX22" fmla="*/ 68702 w 353021"/>
              <a:gd name="connsiteY22" fmla="*/ 69459 h 352939"/>
              <a:gd name="connsiteX23" fmla="*/ 57872 w 353021"/>
              <a:gd name="connsiteY23" fmla="*/ 81321 h 352939"/>
              <a:gd name="connsiteX24" fmla="*/ 36039 w 353021"/>
              <a:gd name="connsiteY24" fmla="*/ 118625 h 352939"/>
              <a:gd name="connsiteX25" fmla="*/ 25381 w 353021"/>
              <a:gd name="connsiteY25" fmla="*/ 160228 h 352939"/>
              <a:gd name="connsiteX26" fmla="*/ 24693 w 353021"/>
              <a:gd name="connsiteY26" fmla="*/ 176387 h 352939"/>
              <a:gd name="connsiteX27" fmla="*/ 25381 w 353021"/>
              <a:gd name="connsiteY27" fmla="*/ 192547 h 352939"/>
              <a:gd name="connsiteX28" fmla="*/ 36211 w 353021"/>
              <a:gd name="connsiteY28" fmla="*/ 234665 h 352939"/>
              <a:gd name="connsiteX29" fmla="*/ 58559 w 353021"/>
              <a:gd name="connsiteY29" fmla="*/ 271798 h 352939"/>
              <a:gd name="connsiteX30" fmla="*/ 111680 w 353021"/>
              <a:gd name="connsiteY30" fmla="*/ 313744 h 352939"/>
              <a:gd name="connsiteX31" fmla="*/ 177350 w 353021"/>
              <a:gd name="connsiteY31" fmla="*/ 328185 h 352939"/>
              <a:gd name="connsiteX32" fmla="*/ 243020 w 353021"/>
              <a:gd name="connsiteY32" fmla="*/ 312541 h 352939"/>
              <a:gd name="connsiteX33" fmla="*/ 284278 w 353021"/>
              <a:gd name="connsiteY33" fmla="*/ 282972 h 352939"/>
              <a:gd name="connsiteX34" fmla="*/ 326568 w 353021"/>
              <a:gd name="connsiteY34" fmla="*/ 199423 h 352939"/>
              <a:gd name="connsiteX35" fmla="*/ 328116 w 353021"/>
              <a:gd name="connsiteY35" fmla="*/ 180341 h 352939"/>
              <a:gd name="connsiteX36" fmla="*/ 327772 w 353021"/>
              <a:gd name="connsiteY36" fmla="*/ 160915 h 352939"/>
              <a:gd name="connsiteX37" fmla="*/ 300954 w 353021"/>
              <a:gd name="connsiteY37" fmla="*/ 89572 h 352939"/>
              <a:gd name="connsiteX38" fmla="*/ 243020 w 353021"/>
              <a:gd name="connsiteY38" fmla="*/ 40062 h 352939"/>
              <a:gd name="connsiteX39" fmla="*/ 192650 w 353021"/>
              <a:gd name="connsiteY39" fmla="*/ 25450 h 352939"/>
              <a:gd name="connsiteX40" fmla="*/ 176146 w 353021"/>
              <a:gd name="connsiteY40" fmla="*/ 24762 h 352939"/>
              <a:gd name="connsiteX41" fmla="*/ 176146 w 353021"/>
              <a:gd name="connsiteY41" fmla="*/ 98340 h 352939"/>
              <a:gd name="connsiteX42" fmla="*/ 183710 w 353021"/>
              <a:gd name="connsiteY42" fmla="*/ 101090 h 352939"/>
              <a:gd name="connsiteX43" fmla="*/ 188524 w 353021"/>
              <a:gd name="connsiteY43" fmla="*/ 107279 h 352939"/>
              <a:gd name="connsiteX44" fmla="*/ 188868 w 353021"/>
              <a:gd name="connsiteY44" fmla="*/ 136848 h 352939"/>
              <a:gd name="connsiteX45" fmla="*/ 188868 w 353021"/>
              <a:gd name="connsiteY45" fmla="*/ 164182 h 352939"/>
              <a:gd name="connsiteX46" fmla="*/ 216202 w 353021"/>
              <a:gd name="connsiteY46" fmla="*/ 164182 h 352939"/>
              <a:gd name="connsiteX47" fmla="*/ 245770 w 353021"/>
              <a:gd name="connsiteY47" fmla="*/ 164697 h 352939"/>
              <a:gd name="connsiteX48" fmla="*/ 250756 w 353021"/>
              <a:gd name="connsiteY48" fmla="*/ 167792 h 352939"/>
              <a:gd name="connsiteX49" fmla="*/ 253850 w 353021"/>
              <a:gd name="connsiteY49" fmla="*/ 172949 h 352939"/>
              <a:gd name="connsiteX50" fmla="*/ 252819 w 353021"/>
              <a:gd name="connsiteY50" fmla="*/ 182404 h 352939"/>
              <a:gd name="connsiteX51" fmla="*/ 245770 w 353021"/>
              <a:gd name="connsiteY51" fmla="*/ 188421 h 352939"/>
              <a:gd name="connsiteX52" fmla="*/ 216202 w 353021"/>
              <a:gd name="connsiteY52" fmla="*/ 188765 h 352939"/>
              <a:gd name="connsiteX53" fmla="*/ 188868 w 353021"/>
              <a:gd name="connsiteY53" fmla="*/ 188765 h 352939"/>
              <a:gd name="connsiteX54" fmla="*/ 188868 w 353021"/>
              <a:gd name="connsiteY54" fmla="*/ 216099 h 352939"/>
              <a:gd name="connsiteX55" fmla="*/ 188524 w 353021"/>
              <a:gd name="connsiteY55" fmla="*/ 245667 h 352939"/>
              <a:gd name="connsiteX56" fmla="*/ 182507 w 353021"/>
              <a:gd name="connsiteY56" fmla="*/ 252716 h 352939"/>
              <a:gd name="connsiteX57" fmla="*/ 173052 w 353021"/>
              <a:gd name="connsiteY57" fmla="*/ 253747 h 352939"/>
              <a:gd name="connsiteX58" fmla="*/ 167895 w 353021"/>
              <a:gd name="connsiteY58" fmla="*/ 250653 h 352939"/>
              <a:gd name="connsiteX59" fmla="*/ 164800 w 353021"/>
              <a:gd name="connsiteY59" fmla="*/ 245667 h 352939"/>
              <a:gd name="connsiteX60" fmla="*/ 164285 w 353021"/>
              <a:gd name="connsiteY60" fmla="*/ 216099 h 352939"/>
              <a:gd name="connsiteX61" fmla="*/ 164285 w 353021"/>
              <a:gd name="connsiteY61" fmla="*/ 188765 h 352939"/>
              <a:gd name="connsiteX62" fmla="*/ 136951 w 353021"/>
              <a:gd name="connsiteY62" fmla="*/ 188765 h 352939"/>
              <a:gd name="connsiteX63" fmla="*/ 107382 w 353021"/>
              <a:gd name="connsiteY63" fmla="*/ 188421 h 352939"/>
              <a:gd name="connsiteX64" fmla="*/ 100334 w 353021"/>
              <a:gd name="connsiteY64" fmla="*/ 182404 h 352939"/>
              <a:gd name="connsiteX65" fmla="*/ 99302 w 353021"/>
              <a:gd name="connsiteY65" fmla="*/ 172949 h 352939"/>
              <a:gd name="connsiteX66" fmla="*/ 102397 w 353021"/>
              <a:gd name="connsiteY66" fmla="*/ 167792 h 352939"/>
              <a:gd name="connsiteX67" fmla="*/ 107382 w 353021"/>
              <a:gd name="connsiteY67" fmla="*/ 164697 h 352939"/>
              <a:gd name="connsiteX68" fmla="*/ 136951 w 353021"/>
              <a:gd name="connsiteY68" fmla="*/ 164182 h 352939"/>
              <a:gd name="connsiteX69" fmla="*/ 164285 w 353021"/>
              <a:gd name="connsiteY69" fmla="*/ 164182 h 352939"/>
              <a:gd name="connsiteX70" fmla="*/ 164285 w 353021"/>
              <a:gd name="connsiteY70" fmla="*/ 136848 h 352939"/>
              <a:gd name="connsiteX71" fmla="*/ 164800 w 353021"/>
              <a:gd name="connsiteY71" fmla="*/ 107451 h 352939"/>
              <a:gd name="connsiteX72" fmla="*/ 167723 w 353021"/>
              <a:gd name="connsiteY72" fmla="*/ 102638 h 352939"/>
              <a:gd name="connsiteX73" fmla="*/ 172364 w 353021"/>
              <a:gd name="connsiteY73" fmla="*/ 99199 h 352939"/>
              <a:gd name="connsiteX74" fmla="*/ 176146 w 353021"/>
              <a:gd name="connsiteY74" fmla="*/ 98340 h 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53021" h="352939">
                <a:moveTo>
                  <a:pt x="180960" y="179"/>
                </a:moveTo>
                <a:cubicBezTo>
                  <a:pt x="188524" y="523"/>
                  <a:pt x="194541" y="867"/>
                  <a:pt x="199182" y="1382"/>
                </a:cubicBezTo>
                <a:cubicBezTo>
                  <a:pt x="223594" y="4649"/>
                  <a:pt x="246114" y="12556"/>
                  <a:pt x="266915" y="25106"/>
                </a:cubicBezTo>
                <a:cubicBezTo>
                  <a:pt x="287716" y="37484"/>
                  <a:pt x="305251" y="53643"/>
                  <a:pt x="319520" y="73241"/>
                </a:cubicBezTo>
                <a:cubicBezTo>
                  <a:pt x="333789" y="92839"/>
                  <a:pt x="343587" y="114671"/>
                  <a:pt x="348917" y="138567"/>
                </a:cubicBezTo>
                <a:cubicBezTo>
                  <a:pt x="355105" y="166760"/>
                  <a:pt x="354246" y="195126"/>
                  <a:pt x="346682" y="223491"/>
                </a:cubicBezTo>
                <a:cubicBezTo>
                  <a:pt x="338946" y="251856"/>
                  <a:pt x="325193" y="276439"/>
                  <a:pt x="305423" y="297241"/>
                </a:cubicBezTo>
                <a:cubicBezTo>
                  <a:pt x="275683" y="328528"/>
                  <a:pt x="239410" y="346923"/>
                  <a:pt x="196432" y="352252"/>
                </a:cubicBezTo>
                <a:cubicBezTo>
                  <a:pt x="191618" y="352768"/>
                  <a:pt x="184570" y="352940"/>
                  <a:pt x="175287" y="352940"/>
                </a:cubicBezTo>
                <a:cubicBezTo>
                  <a:pt x="166004" y="352940"/>
                  <a:pt x="158955" y="352596"/>
                  <a:pt x="154142" y="351736"/>
                </a:cubicBezTo>
                <a:cubicBezTo>
                  <a:pt x="127668" y="348126"/>
                  <a:pt x="103428" y="339359"/>
                  <a:pt x="81252" y="325262"/>
                </a:cubicBezTo>
                <a:cubicBezTo>
                  <a:pt x="59075" y="311165"/>
                  <a:pt x="41025" y="292943"/>
                  <a:pt x="26928" y="270594"/>
                </a:cubicBezTo>
                <a:cubicBezTo>
                  <a:pt x="12831" y="248246"/>
                  <a:pt x="4408" y="224350"/>
                  <a:pt x="1313" y="198736"/>
                </a:cubicBezTo>
                <a:cubicBezTo>
                  <a:pt x="-1781" y="173121"/>
                  <a:pt x="626" y="148194"/>
                  <a:pt x="8190" y="123439"/>
                </a:cubicBezTo>
                <a:cubicBezTo>
                  <a:pt x="15926" y="98856"/>
                  <a:pt x="28475" y="76851"/>
                  <a:pt x="45838" y="57597"/>
                </a:cubicBezTo>
                <a:cubicBezTo>
                  <a:pt x="61310" y="40922"/>
                  <a:pt x="78845" y="27685"/>
                  <a:pt x="98787" y="17886"/>
                </a:cubicBezTo>
                <a:cubicBezTo>
                  <a:pt x="118900" y="8087"/>
                  <a:pt x="140217" y="2242"/>
                  <a:pt x="162737" y="523"/>
                </a:cubicBezTo>
                <a:cubicBezTo>
                  <a:pt x="167379" y="7"/>
                  <a:pt x="173396" y="-165"/>
                  <a:pt x="180960" y="179"/>
                </a:cubicBezTo>
                <a:close/>
                <a:moveTo>
                  <a:pt x="176146" y="24762"/>
                </a:moveTo>
                <a:cubicBezTo>
                  <a:pt x="168754" y="24762"/>
                  <a:pt x="163253" y="24934"/>
                  <a:pt x="159643" y="25450"/>
                </a:cubicBezTo>
                <a:cubicBezTo>
                  <a:pt x="145546" y="26997"/>
                  <a:pt x="131793" y="30607"/>
                  <a:pt x="118212" y="36280"/>
                </a:cubicBezTo>
                <a:cubicBezTo>
                  <a:pt x="104803" y="41953"/>
                  <a:pt x="92426" y="49173"/>
                  <a:pt x="81424" y="58285"/>
                </a:cubicBezTo>
                <a:cubicBezTo>
                  <a:pt x="77642" y="61207"/>
                  <a:pt x="73344" y="64817"/>
                  <a:pt x="68702" y="69459"/>
                </a:cubicBezTo>
                <a:cubicBezTo>
                  <a:pt x="64061" y="74100"/>
                  <a:pt x="60450" y="78054"/>
                  <a:pt x="57872" y="81321"/>
                </a:cubicBezTo>
                <a:cubicBezTo>
                  <a:pt x="48932" y="92667"/>
                  <a:pt x="41712" y="105044"/>
                  <a:pt x="36039" y="118625"/>
                </a:cubicBezTo>
                <a:cubicBezTo>
                  <a:pt x="30538" y="132206"/>
                  <a:pt x="26928" y="146131"/>
                  <a:pt x="25381" y="160228"/>
                </a:cubicBezTo>
                <a:cubicBezTo>
                  <a:pt x="24865" y="164354"/>
                  <a:pt x="24693" y="169683"/>
                  <a:pt x="24693" y="176387"/>
                </a:cubicBezTo>
                <a:cubicBezTo>
                  <a:pt x="24693" y="183092"/>
                  <a:pt x="24865" y="188421"/>
                  <a:pt x="25381" y="192547"/>
                </a:cubicBezTo>
                <a:cubicBezTo>
                  <a:pt x="26928" y="206987"/>
                  <a:pt x="30538" y="220912"/>
                  <a:pt x="36211" y="234665"/>
                </a:cubicBezTo>
                <a:cubicBezTo>
                  <a:pt x="41884" y="248418"/>
                  <a:pt x="49276" y="260796"/>
                  <a:pt x="58559" y="271798"/>
                </a:cubicBezTo>
                <a:cubicBezTo>
                  <a:pt x="73172" y="290020"/>
                  <a:pt x="90879" y="303945"/>
                  <a:pt x="111680" y="313744"/>
                </a:cubicBezTo>
                <a:cubicBezTo>
                  <a:pt x="132481" y="323543"/>
                  <a:pt x="154314" y="328356"/>
                  <a:pt x="177350" y="328185"/>
                </a:cubicBezTo>
                <a:cubicBezTo>
                  <a:pt x="200386" y="328013"/>
                  <a:pt x="222219" y="322855"/>
                  <a:pt x="243020" y="312541"/>
                </a:cubicBezTo>
                <a:cubicBezTo>
                  <a:pt x="258492" y="305148"/>
                  <a:pt x="272073" y="295178"/>
                  <a:pt x="284278" y="282972"/>
                </a:cubicBezTo>
                <a:cubicBezTo>
                  <a:pt x="307314" y="259592"/>
                  <a:pt x="321411" y="231743"/>
                  <a:pt x="326568" y="199423"/>
                </a:cubicBezTo>
                <a:cubicBezTo>
                  <a:pt x="327256" y="195126"/>
                  <a:pt x="327772" y="188765"/>
                  <a:pt x="328116" y="180341"/>
                </a:cubicBezTo>
                <a:cubicBezTo>
                  <a:pt x="328287" y="172090"/>
                  <a:pt x="328287" y="165557"/>
                  <a:pt x="327772" y="160915"/>
                </a:cubicBezTo>
                <a:cubicBezTo>
                  <a:pt x="325021" y="134785"/>
                  <a:pt x="316082" y="110889"/>
                  <a:pt x="300954" y="89572"/>
                </a:cubicBezTo>
                <a:cubicBezTo>
                  <a:pt x="285997" y="68084"/>
                  <a:pt x="266571" y="51580"/>
                  <a:pt x="243020" y="40062"/>
                </a:cubicBezTo>
                <a:cubicBezTo>
                  <a:pt x="227032" y="32154"/>
                  <a:pt x="210357" y="27169"/>
                  <a:pt x="192650" y="25450"/>
                </a:cubicBezTo>
                <a:cubicBezTo>
                  <a:pt x="189212" y="24934"/>
                  <a:pt x="183710" y="24762"/>
                  <a:pt x="176146" y="24762"/>
                </a:cubicBezTo>
                <a:close/>
                <a:moveTo>
                  <a:pt x="176146" y="98340"/>
                </a:moveTo>
                <a:cubicBezTo>
                  <a:pt x="178725" y="98340"/>
                  <a:pt x="181132" y="99199"/>
                  <a:pt x="183710" y="101090"/>
                </a:cubicBezTo>
                <a:cubicBezTo>
                  <a:pt x="186117" y="102810"/>
                  <a:pt x="187664" y="104873"/>
                  <a:pt x="188524" y="107279"/>
                </a:cubicBezTo>
                <a:cubicBezTo>
                  <a:pt x="188696" y="109170"/>
                  <a:pt x="188868" y="118969"/>
                  <a:pt x="188868" y="136848"/>
                </a:cubicBezTo>
                <a:lnTo>
                  <a:pt x="188868" y="164182"/>
                </a:lnTo>
                <a:lnTo>
                  <a:pt x="216202" y="164182"/>
                </a:lnTo>
                <a:cubicBezTo>
                  <a:pt x="234080" y="164182"/>
                  <a:pt x="244051" y="164354"/>
                  <a:pt x="245770" y="164697"/>
                </a:cubicBezTo>
                <a:cubicBezTo>
                  <a:pt x="247489" y="165041"/>
                  <a:pt x="249208" y="166073"/>
                  <a:pt x="250756" y="167792"/>
                </a:cubicBezTo>
                <a:cubicBezTo>
                  <a:pt x="252303" y="169511"/>
                  <a:pt x="253334" y="171230"/>
                  <a:pt x="253850" y="172949"/>
                </a:cubicBezTo>
                <a:cubicBezTo>
                  <a:pt x="254882" y="176215"/>
                  <a:pt x="254538" y="179482"/>
                  <a:pt x="252819" y="182404"/>
                </a:cubicBezTo>
                <a:cubicBezTo>
                  <a:pt x="251100" y="185327"/>
                  <a:pt x="248865" y="187390"/>
                  <a:pt x="245770" y="188421"/>
                </a:cubicBezTo>
                <a:cubicBezTo>
                  <a:pt x="244051" y="188765"/>
                  <a:pt x="234080" y="188765"/>
                  <a:pt x="216202" y="188765"/>
                </a:cubicBezTo>
                <a:lnTo>
                  <a:pt x="188868" y="188765"/>
                </a:lnTo>
                <a:lnTo>
                  <a:pt x="188868" y="216099"/>
                </a:lnTo>
                <a:cubicBezTo>
                  <a:pt x="188868" y="233977"/>
                  <a:pt x="188696" y="243948"/>
                  <a:pt x="188524" y="245667"/>
                </a:cubicBezTo>
                <a:cubicBezTo>
                  <a:pt x="187493" y="248762"/>
                  <a:pt x="185430" y="251169"/>
                  <a:pt x="182507" y="252716"/>
                </a:cubicBezTo>
                <a:cubicBezTo>
                  <a:pt x="179585" y="254435"/>
                  <a:pt x="176490" y="254779"/>
                  <a:pt x="173052" y="253747"/>
                </a:cubicBezTo>
                <a:cubicBezTo>
                  <a:pt x="171333" y="253231"/>
                  <a:pt x="169442" y="252200"/>
                  <a:pt x="167895" y="250653"/>
                </a:cubicBezTo>
                <a:cubicBezTo>
                  <a:pt x="166348" y="249106"/>
                  <a:pt x="165144" y="247386"/>
                  <a:pt x="164800" y="245667"/>
                </a:cubicBezTo>
                <a:cubicBezTo>
                  <a:pt x="164456" y="243948"/>
                  <a:pt x="164285" y="233977"/>
                  <a:pt x="164285" y="216099"/>
                </a:cubicBezTo>
                <a:lnTo>
                  <a:pt x="164285" y="188765"/>
                </a:lnTo>
                <a:lnTo>
                  <a:pt x="136951" y="188765"/>
                </a:lnTo>
                <a:cubicBezTo>
                  <a:pt x="119072" y="188765"/>
                  <a:pt x="109101" y="188593"/>
                  <a:pt x="107382" y="188421"/>
                </a:cubicBezTo>
                <a:cubicBezTo>
                  <a:pt x="104288" y="187390"/>
                  <a:pt x="101881" y="185499"/>
                  <a:pt x="100334" y="182404"/>
                </a:cubicBezTo>
                <a:cubicBezTo>
                  <a:pt x="98787" y="179310"/>
                  <a:pt x="98271" y="176387"/>
                  <a:pt x="99302" y="172949"/>
                </a:cubicBezTo>
                <a:cubicBezTo>
                  <a:pt x="99818" y="171230"/>
                  <a:pt x="100850" y="169339"/>
                  <a:pt x="102397" y="167792"/>
                </a:cubicBezTo>
                <a:cubicBezTo>
                  <a:pt x="103944" y="166073"/>
                  <a:pt x="105663" y="165041"/>
                  <a:pt x="107382" y="164697"/>
                </a:cubicBezTo>
                <a:cubicBezTo>
                  <a:pt x="109101" y="164354"/>
                  <a:pt x="119072" y="164182"/>
                  <a:pt x="136951" y="164182"/>
                </a:cubicBezTo>
                <a:lnTo>
                  <a:pt x="164285" y="164182"/>
                </a:lnTo>
                <a:lnTo>
                  <a:pt x="164285" y="136848"/>
                </a:lnTo>
                <a:cubicBezTo>
                  <a:pt x="164285" y="118969"/>
                  <a:pt x="164456" y="108998"/>
                  <a:pt x="164800" y="107451"/>
                </a:cubicBezTo>
                <a:cubicBezTo>
                  <a:pt x="165144" y="105732"/>
                  <a:pt x="166176" y="104185"/>
                  <a:pt x="167723" y="102638"/>
                </a:cubicBezTo>
                <a:cubicBezTo>
                  <a:pt x="169270" y="101090"/>
                  <a:pt x="170817" y="99887"/>
                  <a:pt x="172364" y="99199"/>
                </a:cubicBezTo>
                <a:cubicBezTo>
                  <a:pt x="174083" y="98512"/>
                  <a:pt x="175459" y="98340"/>
                  <a:pt x="176146" y="98340"/>
                </a:cubicBez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701"/>
          </a:p>
        </p:txBody>
      </p:sp>
      <p:sp>
        <p:nvSpPr>
          <p:cNvPr id="35" name="Прямоугольник 34"/>
          <p:cNvSpPr/>
          <p:nvPr/>
        </p:nvSpPr>
        <p:spPr>
          <a:xfrm>
            <a:off x="4243572" y="4229152"/>
            <a:ext cx="6398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chemeClr val="tx2"/>
                </a:solidFill>
              </a:rPr>
              <a:t>Подготовка проекта решения к защите обязательно включает экспертную оценку решения и подготовку оппонирующей позиции:</a:t>
            </a:r>
          </a:p>
        </p:txBody>
      </p:sp>
      <p:sp>
        <p:nvSpPr>
          <p:cNvPr id="36" name="Прямоугольник 35"/>
          <p:cNvSpPr/>
          <p:nvPr/>
        </p:nvSpPr>
        <p:spPr>
          <a:xfrm>
            <a:off x="4243572" y="4549962"/>
            <a:ext cx="66267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ru-RU" sz="800" dirty="0">
                <a:solidFill>
                  <a:schemeClr val="tx2"/>
                </a:solidFill>
              </a:rPr>
              <a:t>Все это проводится с учетом </a:t>
            </a:r>
            <a:r>
              <a:rPr lang="ru-RU" sz="800" dirty="0" smtClean="0">
                <a:solidFill>
                  <a:schemeClr val="tx2"/>
                </a:solidFill>
              </a:rPr>
              <a:t>занятости </a:t>
            </a:r>
            <a:r>
              <a:rPr lang="ru-RU" sz="800" dirty="0">
                <a:solidFill>
                  <a:schemeClr val="tx2"/>
                </a:solidFill>
              </a:rPr>
              <a:t>группы экспертов</a:t>
            </a:r>
          </a:p>
          <a:p>
            <a:pPr marL="108000" indent="-108000" fontAlgn="ctr">
              <a:buFont typeface="Arial" panose="020B0604020202020204" pitchFamily="34" charset="0"/>
              <a:buChar char="•"/>
            </a:pPr>
            <a:r>
              <a:rPr lang="ru-RU" sz="800" dirty="0">
                <a:solidFill>
                  <a:schemeClr val="tx2"/>
                </a:solidFill>
              </a:rPr>
              <a:t>проведение вычитки материалов с экспертами</a:t>
            </a:r>
          </a:p>
          <a:p>
            <a:pPr marL="108000" indent="-108000" fontAlgn="ctr">
              <a:buFont typeface="Arial" panose="020B0604020202020204" pitchFamily="34" charset="0"/>
              <a:buChar char="•"/>
            </a:pPr>
            <a:r>
              <a:rPr lang="ru-RU" sz="800" dirty="0">
                <a:solidFill>
                  <a:schemeClr val="tx2"/>
                </a:solidFill>
              </a:rPr>
              <a:t>формирование общей идеи и тезисов </a:t>
            </a:r>
            <a:r>
              <a:rPr lang="ru-RU" sz="800" dirty="0" smtClean="0">
                <a:solidFill>
                  <a:schemeClr val="tx2"/>
                </a:solidFill>
              </a:rPr>
              <a:t>оппонирующей </a:t>
            </a:r>
            <a:r>
              <a:rPr lang="ru-RU" sz="800" dirty="0">
                <a:solidFill>
                  <a:schemeClr val="tx2"/>
                </a:solidFill>
              </a:rPr>
              <a:t>позиции</a:t>
            </a:r>
          </a:p>
          <a:p>
            <a:pPr marL="108000" indent="-108000" fontAlgn="ctr">
              <a:buFont typeface="Arial" panose="020B0604020202020204" pitchFamily="34" charset="0"/>
              <a:buChar char="•"/>
            </a:pPr>
            <a:r>
              <a:rPr lang="ru-RU" sz="800" dirty="0">
                <a:solidFill>
                  <a:schemeClr val="tx2"/>
                </a:solidFill>
              </a:rPr>
              <a:t>оформление тезисов и рекомендаций развернуто в формате презентации ОП для </a:t>
            </a:r>
            <a:r>
              <a:rPr lang="ru-RU" sz="800" dirty="0" smtClean="0">
                <a:solidFill>
                  <a:schemeClr val="tx2"/>
                </a:solidFill>
              </a:rPr>
              <a:t>АК </a:t>
            </a:r>
            <a:br>
              <a:rPr lang="ru-RU" sz="800" dirty="0" smtClean="0">
                <a:solidFill>
                  <a:schemeClr val="tx2"/>
                </a:solidFill>
              </a:rPr>
            </a:br>
            <a:r>
              <a:rPr lang="ru-RU" sz="800" dirty="0" smtClean="0">
                <a:solidFill>
                  <a:schemeClr val="tx2"/>
                </a:solidFill>
              </a:rPr>
              <a:t>экспертов </a:t>
            </a:r>
            <a:r>
              <a:rPr lang="ru-RU" sz="800" dirty="0">
                <a:solidFill>
                  <a:schemeClr val="tx2"/>
                </a:solidFill>
              </a:rPr>
              <a:t>и их окон </a:t>
            </a:r>
            <a:r>
              <a:rPr lang="ru-RU" sz="800" dirty="0" smtClean="0">
                <a:solidFill>
                  <a:schemeClr val="tx2"/>
                </a:solidFill>
              </a:rPr>
              <a:t>доступности</a:t>
            </a:r>
            <a:endParaRPr lang="ru-RU" sz="800" dirty="0">
              <a:solidFill>
                <a:schemeClr val="tx2"/>
              </a:solidFill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4243572" y="5247848"/>
            <a:ext cx="70044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chemeClr val="tx2"/>
                </a:solidFill>
              </a:rPr>
              <a:t>Для формирования оппонирующей позиции необходимо создать </a:t>
            </a:r>
            <a:r>
              <a:rPr lang="ru-RU" sz="900" dirty="0" smtClean="0">
                <a:solidFill>
                  <a:schemeClr val="tx2"/>
                </a:solidFill>
              </a:rPr>
              <a:t>заявку </a:t>
            </a:r>
            <a:r>
              <a:rPr lang="ru-RU" sz="900" b="1" dirty="0" smtClean="0">
                <a:solidFill>
                  <a:schemeClr val="tx2"/>
                </a:solidFill>
              </a:rPr>
              <a:t>[ссылка на форму заявки].</a:t>
            </a:r>
          </a:p>
          <a:p>
            <a:r>
              <a:rPr lang="ru-RU" sz="900" dirty="0" smtClean="0">
                <a:solidFill>
                  <a:schemeClr val="tx2"/>
                </a:solidFill>
              </a:rPr>
              <a:t>При необходимости консультаций при подготовке концепции решения вы можете запросить консультацию в корпоративной архитектуре через сервис консультаций [ссылка]. Рекомендуется перед выходом на АК провести консультации с корпоративной архитектурой по формируемой концепции решения. </a:t>
            </a:r>
            <a:endParaRPr lang="ru-RU" sz="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859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smtClean="0"/>
              <a:t>требования </a:t>
            </a:r>
            <a:r>
              <a:rPr lang="ru-RU" sz="2400" dirty="0"/>
              <a:t>к полноте </a:t>
            </a:r>
            <a:r>
              <a:rPr lang="ru-RU" sz="2400" dirty="0" smtClean="0"/>
              <a:t>содержания </a:t>
            </a:r>
            <a:r>
              <a:rPr lang="ru-RU" sz="2400" dirty="0"/>
              <a:t>концепции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100" name="Прямоугольник 99"/>
          <p:cNvSpPr/>
          <p:nvPr/>
        </p:nvSpPr>
        <p:spPr>
          <a:xfrm>
            <a:off x="271732" y="1053406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Описание достигаемой </a:t>
            </a:r>
            <a:r>
              <a:rPr lang="ru-RU" sz="1050" dirty="0" err="1">
                <a:solidFill>
                  <a:srgbClr val="000000"/>
                </a:solidFill>
                <a:ea typeface="Calibri" panose="020F0502020204030204" pitchFamily="34" charset="0"/>
              </a:rPr>
              <a:t>сверхцели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, связь </a:t>
            </a: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с 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глобальными целями компании</a:t>
            </a:r>
            <a:endParaRPr lang="ru-RU" sz="1050" dirty="0">
              <a:ea typeface="Calibri" panose="020F0502020204030204" pitchFamily="34" charset="0"/>
            </a:endParaRPr>
          </a:p>
        </p:txBody>
      </p:sp>
      <p:sp>
        <p:nvSpPr>
          <p:cNvPr id="102" name="Прямоугольник 101"/>
          <p:cNvSpPr/>
          <p:nvPr/>
        </p:nvSpPr>
        <p:spPr>
          <a:xfrm>
            <a:off x="278032" y="875394"/>
            <a:ext cx="9691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Calibri" panose="020F0502020204030204" pitchFamily="34" charset="0"/>
              </a:rPr>
              <a:t>O</a:t>
            </a:r>
            <a:r>
              <a:rPr lang="ru-RU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1</a:t>
            </a:r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. </a:t>
            </a:r>
            <a:r>
              <a:rPr lang="ru-RU" sz="1200" b="1" dirty="0" smtClean="0">
                <a:solidFill>
                  <a:srgbClr val="000000"/>
                </a:solidFill>
                <a:ea typeface="Calibri" panose="020F0502020204030204" pitchFamily="34" charset="0"/>
              </a:rPr>
              <a:t>Миссия</a:t>
            </a:r>
            <a:endParaRPr lang="ru-RU" sz="1200" b="1" dirty="0">
              <a:ea typeface="Calibri" panose="020F0502020204030204" pitchFamily="34" charset="0"/>
            </a:endParaRPr>
          </a:p>
        </p:txBody>
      </p:sp>
      <p:sp>
        <p:nvSpPr>
          <p:cNvPr id="107" name="Прямоугольник 106"/>
          <p:cNvSpPr/>
          <p:nvPr/>
        </p:nvSpPr>
        <p:spPr>
          <a:xfrm>
            <a:off x="271732" y="1711152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Произвольное описание проблематики, </a:t>
            </a:r>
            <a: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краткое 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перечисление основных сведений</a:t>
            </a:r>
          </a:p>
        </p:txBody>
      </p:sp>
      <p:sp>
        <p:nvSpPr>
          <p:cNvPr id="108" name="Прямоугольник 107"/>
          <p:cNvSpPr/>
          <p:nvPr/>
        </p:nvSpPr>
        <p:spPr>
          <a:xfrm>
            <a:off x="278032" y="1533140"/>
            <a:ext cx="11176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O2.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Введение</a:t>
            </a:r>
          </a:p>
        </p:txBody>
      </p:sp>
      <p:sp>
        <p:nvSpPr>
          <p:cNvPr id="109" name="Прямоугольник 108"/>
          <p:cNvSpPr/>
          <p:nvPr/>
        </p:nvSpPr>
        <p:spPr>
          <a:xfrm>
            <a:off x="271732" y="2366839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Набор возможных определений создаваемой </a:t>
            </a:r>
            <a: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ценности 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с различных точек зрения 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278032" y="2188827"/>
            <a:ext cx="13933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O3.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Определения</a:t>
            </a:r>
          </a:p>
        </p:txBody>
      </p:sp>
      <p:sp>
        <p:nvSpPr>
          <p:cNvPr id="111" name="Прямоугольник 110"/>
          <p:cNvSpPr/>
          <p:nvPr/>
        </p:nvSpPr>
        <p:spPr>
          <a:xfrm>
            <a:off x="271732" y="3020465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Создает комплексное понимание создаваемой </a:t>
            </a:r>
            <a: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ценности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, подчеркивает ее ключевые свойства</a:t>
            </a:r>
          </a:p>
        </p:txBody>
      </p:sp>
      <p:sp>
        <p:nvSpPr>
          <p:cNvPr id="112" name="Прямоугольник 111"/>
          <p:cNvSpPr/>
          <p:nvPr/>
        </p:nvSpPr>
        <p:spPr>
          <a:xfrm>
            <a:off x="278032" y="2842453"/>
            <a:ext cx="20649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O4.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Итоговое определение</a:t>
            </a:r>
          </a:p>
        </p:txBody>
      </p:sp>
      <p:sp>
        <p:nvSpPr>
          <p:cNvPr id="113" name="Прямоугольник 112"/>
          <p:cNvSpPr/>
          <p:nvPr/>
        </p:nvSpPr>
        <p:spPr>
          <a:xfrm>
            <a:off x="271732" y="3673657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Перечисляются основные принципы, исходя </a:t>
            </a:r>
            <a: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из 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которых принимаются те или иные решения</a:t>
            </a:r>
          </a:p>
        </p:txBody>
      </p:sp>
      <p:sp>
        <p:nvSpPr>
          <p:cNvPr id="114" name="Прямоугольник 113"/>
          <p:cNvSpPr/>
          <p:nvPr/>
        </p:nvSpPr>
        <p:spPr>
          <a:xfrm>
            <a:off x="278032" y="3495645"/>
            <a:ext cx="176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O5.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Базовые принципы</a:t>
            </a:r>
          </a:p>
        </p:txBody>
      </p:sp>
      <p:sp>
        <p:nvSpPr>
          <p:cNvPr id="115" name="Прямоугольник 114"/>
          <p:cNvSpPr/>
          <p:nvPr/>
        </p:nvSpPr>
        <p:spPr>
          <a:xfrm>
            <a:off x="271732" y="4326849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Перечисляются и описываются ключевые </a:t>
            </a:r>
            <a: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сущности </a:t>
            </a: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концепции решения</a:t>
            </a:r>
          </a:p>
        </p:txBody>
      </p:sp>
      <p:sp>
        <p:nvSpPr>
          <p:cNvPr id="116" name="Прямоугольник 115"/>
          <p:cNvSpPr/>
          <p:nvPr/>
        </p:nvSpPr>
        <p:spPr>
          <a:xfrm>
            <a:off x="278032" y="4148837"/>
            <a:ext cx="18791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O6.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Основные сущности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271732" y="4980568"/>
            <a:ext cx="3546919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Схематичное, визуальное описание идеи </a:t>
            </a:r>
            <a: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/>
            </a:r>
            <a:br>
              <a:rPr lang="en-US" sz="1050" dirty="0" smtClean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 smtClean="0">
                <a:solidFill>
                  <a:srgbClr val="000000"/>
                </a:solidFill>
                <a:ea typeface="Calibri" panose="020F0502020204030204" pitchFamily="34" charset="0"/>
              </a:rPr>
              <a:t>решения</a:t>
            </a:r>
            <a:endParaRPr lang="ru-RU" sz="1050" dirty="0">
              <a:solidFill>
                <a:srgbClr val="000000"/>
              </a:solidFill>
              <a:ea typeface="Calibri" panose="020F0502020204030204" pitchFamily="34" charset="0"/>
            </a:endParaRPr>
          </a:p>
        </p:txBody>
      </p:sp>
      <p:sp>
        <p:nvSpPr>
          <p:cNvPr id="118" name="Прямоугольник 117"/>
          <p:cNvSpPr/>
          <p:nvPr/>
        </p:nvSpPr>
        <p:spPr>
          <a:xfrm>
            <a:off x="278032" y="4802556"/>
            <a:ext cx="24540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O7.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Схематичное представление</a:t>
            </a:r>
          </a:p>
        </p:txBody>
      </p:sp>
      <p:sp>
        <p:nvSpPr>
          <p:cNvPr id="43" name="Прямоугольник 42"/>
          <p:cNvSpPr/>
          <p:nvPr/>
        </p:nvSpPr>
        <p:spPr>
          <a:xfrm>
            <a:off x="271732" y="5636175"/>
            <a:ext cx="3546919" cy="528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Рассмотрение текущей ситуации в различных </a:t>
            </a:r>
            <a:b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ее аспектах. Формирование GAP с целевой </a:t>
            </a:r>
            <a:b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</a:br>
            <a:r>
              <a:rPr lang="ru-RU" sz="1050" dirty="0">
                <a:solidFill>
                  <a:srgbClr val="000000"/>
                </a:solidFill>
                <a:ea typeface="Calibri" panose="020F0502020204030204" pitchFamily="34" charset="0"/>
              </a:rPr>
              <a:t>ситуацией</a:t>
            </a:r>
          </a:p>
        </p:txBody>
      </p:sp>
      <p:sp>
        <p:nvSpPr>
          <p:cNvPr id="44" name="Прямоугольник 43"/>
          <p:cNvSpPr/>
          <p:nvPr/>
        </p:nvSpPr>
        <p:spPr>
          <a:xfrm>
            <a:off x="278032" y="5458163"/>
            <a:ext cx="24540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2"/>
                </a:solidFill>
                <a:ea typeface="Calibri" panose="020F0502020204030204" pitchFamily="34" charset="0"/>
              </a:rPr>
              <a:t>O8. </a:t>
            </a:r>
            <a:r>
              <a:rPr lang="ru-RU" sz="1200" b="1" dirty="0">
                <a:solidFill>
                  <a:srgbClr val="000000"/>
                </a:solidFill>
                <a:ea typeface="Calibri" panose="020F0502020204030204" pitchFamily="34" charset="0"/>
              </a:rPr>
              <a:t>Описание текущей ситуации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3619755" y="875394"/>
            <a:ext cx="3546919" cy="706618"/>
            <a:chOff x="4076816" y="875394"/>
            <a:chExt cx="3546919" cy="706618"/>
          </a:xfrm>
        </p:grpSpPr>
        <p:sp>
          <p:nvSpPr>
            <p:cNvPr id="45" name="Прямоугольник 44"/>
            <p:cNvSpPr/>
            <p:nvPr/>
          </p:nvSpPr>
          <p:spPr>
            <a:xfrm>
              <a:off x="4076816" y="1053406"/>
              <a:ext cx="3546919" cy="528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Рассмотрение целевой ситуации в различных </a:t>
              </a:r>
              <a:b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ее аспектах. Формирование GAP с текущей </a:t>
              </a:r>
              <a:b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ситуацией</a:t>
              </a:r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4083116" y="875394"/>
              <a:ext cx="241643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O9.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Описание целевой ситуации</a:t>
              </a:r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3619755" y="1685093"/>
            <a:ext cx="3546919" cy="706618"/>
            <a:chOff x="4076816" y="875394"/>
            <a:chExt cx="3546919" cy="706618"/>
          </a:xfrm>
        </p:grpSpPr>
        <p:sp>
          <p:nvSpPr>
            <p:cNvPr id="50" name="Прямоугольник 49"/>
            <p:cNvSpPr/>
            <p:nvPr/>
          </p:nvSpPr>
          <p:spPr>
            <a:xfrm>
              <a:off x="4076816" y="1053406"/>
              <a:ext cx="3546919" cy="528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Рассматривается положительное/ отрицательное влияние на ключевые сущности, формируется </a:t>
              </a:r>
              <a:r>
                <a:rPr lang="en-US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en-US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перечень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изменений (см. п. 6)</a:t>
              </a:r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4083116" y="875394"/>
              <a:ext cx="238648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1O.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Описание влияние решения</a:t>
              </a:r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3619755" y="2501188"/>
            <a:ext cx="3546919" cy="1142892"/>
            <a:chOff x="4076816" y="875394"/>
            <a:chExt cx="3546919" cy="1142892"/>
          </a:xfrm>
        </p:grpSpPr>
        <p:sp>
          <p:nvSpPr>
            <p:cNvPr id="53" name="Прямоугольник 52"/>
            <p:cNvSpPr/>
            <p:nvPr/>
          </p:nvSpPr>
          <p:spPr>
            <a:xfrm>
              <a:off x="4076816" y="1053406"/>
              <a:ext cx="3546919" cy="964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Изменения, и основные сущностей рассматриваются </a:t>
              </a:r>
              <a:b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в качестве систем координат, в которых ведется наблюдение прогресса. Прогресс обозначается достижением ключевых вех. Вертикальный срез </a:t>
              </a:r>
              <a:b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по вехам различных систем координат являет </a:t>
              </a:r>
              <a:r>
                <a:rPr lang="en-US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en-US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собой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ценностное достижение.</a:t>
              </a:r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4083116" y="875394"/>
              <a:ext cx="18608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11.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Описание ценностей</a:t>
              </a:r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3619755" y="3743837"/>
            <a:ext cx="3546919" cy="706618"/>
            <a:chOff x="4076816" y="875394"/>
            <a:chExt cx="3546919" cy="706618"/>
          </a:xfrm>
        </p:grpSpPr>
        <p:sp>
          <p:nvSpPr>
            <p:cNvPr id="56" name="Прямоугольник 55"/>
            <p:cNvSpPr/>
            <p:nvPr/>
          </p:nvSpPr>
          <p:spPr>
            <a:xfrm>
              <a:off x="4076816" y="1053406"/>
              <a:ext cx="3546919" cy="528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Визуализация </a:t>
              </a:r>
              <a:r>
                <a:rPr lang="ru-RU" sz="1050" dirty="0" err="1">
                  <a:solidFill>
                    <a:srgbClr val="000000"/>
                  </a:solidFill>
                  <a:ea typeface="Calibri" panose="020F0502020204030204" pitchFamily="34" charset="0"/>
                </a:rPr>
                <a:t>Roadmap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 развития, показывающий ликвидацию GAP между текущим и целевым </a:t>
              </a:r>
              <a:r>
                <a:rPr lang="en-US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en-US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состоянием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. </a:t>
              </a:r>
            </a:p>
          </p:txBody>
        </p:sp>
        <p:sp>
          <p:nvSpPr>
            <p:cNvPr id="57" name="Прямоугольник 56"/>
            <p:cNvSpPr/>
            <p:nvPr/>
          </p:nvSpPr>
          <p:spPr>
            <a:xfrm>
              <a:off x="4083116" y="875394"/>
              <a:ext cx="104067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12. </a:t>
              </a:r>
              <a:r>
                <a:rPr lang="en-US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Roadmap</a:t>
              </a:r>
            </a:p>
          </p:txBody>
        </p:sp>
      </p:grpSp>
      <p:grpSp>
        <p:nvGrpSpPr>
          <p:cNvPr id="58" name="Группа 57"/>
          <p:cNvGrpSpPr/>
          <p:nvPr/>
        </p:nvGrpSpPr>
        <p:grpSpPr>
          <a:xfrm>
            <a:off x="3619755" y="4549866"/>
            <a:ext cx="3444587" cy="997467"/>
            <a:chOff x="4076816" y="875394"/>
            <a:chExt cx="3444587" cy="997467"/>
          </a:xfrm>
        </p:grpSpPr>
        <p:sp>
          <p:nvSpPr>
            <p:cNvPr id="59" name="Прямоугольник 58"/>
            <p:cNvSpPr/>
            <p:nvPr/>
          </p:nvSpPr>
          <p:spPr>
            <a:xfrm>
              <a:off x="4076816" y="1053406"/>
              <a:ext cx="3444587" cy="819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Описание решения с точки зрения идеи,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применяемых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подходов и технологий,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организационных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мероприятий, визуализация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решения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с целью наглядной демонстрации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сути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решения</a:t>
              </a:r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4083116" y="875394"/>
              <a:ext cx="174759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</a:t>
              </a:r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3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Описание решения</a:t>
              </a:r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7343287" y="875394"/>
            <a:ext cx="3546919" cy="561194"/>
            <a:chOff x="4076816" y="875394"/>
            <a:chExt cx="3546919" cy="561194"/>
          </a:xfrm>
        </p:grpSpPr>
        <p:sp>
          <p:nvSpPr>
            <p:cNvPr id="68" name="Прямоугольник 67"/>
            <p:cNvSpPr/>
            <p:nvPr/>
          </p:nvSpPr>
          <p:spPr>
            <a:xfrm>
              <a:off x="4076816" y="1053406"/>
              <a:ext cx="3546919" cy="383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Описание границ в которых рассчитано применения ценностей, достигаемых выполнением </a:t>
              </a:r>
              <a:r>
                <a:rPr lang="ru-RU" sz="1050" dirty="0" err="1">
                  <a:solidFill>
                    <a:srgbClr val="000000"/>
                  </a:solidFill>
                  <a:ea typeface="Calibri" panose="020F0502020204030204" pitchFamily="34" charset="0"/>
                </a:rPr>
                <a:t>Roadmap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.</a:t>
              </a:r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4083116" y="875394"/>
              <a:ext cx="28328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14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Назначение и область применения</a:t>
              </a:r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7343287" y="1532043"/>
            <a:ext cx="3546919" cy="561194"/>
            <a:chOff x="4076816" y="875394"/>
            <a:chExt cx="3546919" cy="561194"/>
          </a:xfrm>
        </p:grpSpPr>
        <p:sp>
          <p:nvSpPr>
            <p:cNvPr id="74" name="Прямоугольник 73"/>
            <p:cNvSpPr/>
            <p:nvPr/>
          </p:nvSpPr>
          <p:spPr>
            <a:xfrm>
              <a:off x="4076816" y="1053406"/>
              <a:ext cx="3546919" cy="383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Рассмотрение возможных ситуаций с точки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зрения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набора действий</a:t>
              </a:r>
            </a:p>
          </p:txBody>
        </p:sp>
        <p:sp>
          <p:nvSpPr>
            <p:cNvPr id="75" name="Прямоугольник 74"/>
            <p:cNvSpPr/>
            <p:nvPr/>
          </p:nvSpPr>
          <p:spPr>
            <a:xfrm>
              <a:off x="4083116" y="875394"/>
              <a:ext cx="247779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15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Анализ альтернатив действия</a:t>
              </a:r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7343287" y="2172257"/>
            <a:ext cx="3546919" cy="708643"/>
            <a:chOff x="4076816" y="875394"/>
            <a:chExt cx="3546919" cy="708643"/>
          </a:xfrm>
        </p:grpSpPr>
        <p:sp>
          <p:nvSpPr>
            <p:cNvPr id="77" name="Прямоугольник 76"/>
            <p:cNvSpPr/>
            <p:nvPr/>
          </p:nvSpPr>
          <p:spPr>
            <a:xfrm>
              <a:off x="4076816" y="1200855"/>
              <a:ext cx="3546919" cy="383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Рассмотрение и обоснование выбора способа реализации оптимального решения (п.15) </a:t>
              </a:r>
            </a:p>
          </p:txBody>
        </p:sp>
        <p:sp>
          <p:nvSpPr>
            <p:cNvPr id="78" name="Прямоугольник 77"/>
            <p:cNvSpPr/>
            <p:nvPr/>
          </p:nvSpPr>
          <p:spPr>
            <a:xfrm>
              <a:off x="4083116" y="875394"/>
              <a:ext cx="2099486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16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Анализ альтернативных </a:t>
              </a:r>
              <a:r>
                <a:rPr lang="ru-RU" sz="1200" b="1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200" b="1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200" b="1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способов реализации</a:t>
              </a:r>
              <a:endParaRPr lang="ru-RU" sz="1200" b="1" dirty="0">
                <a:solidFill>
                  <a:srgbClr val="000000"/>
                </a:solidFill>
                <a:ea typeface="Calibri" panose="020F0502020204030204" pitchFamily="34" charset="0"/>
              </a:endParaRPr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7343287" y="2925414"/>
            <a:ext cx="3546919" cy="561194"/>
            <a:chOff x="4076816" y="875394"/>
            <a:chExt cx="3546919" cy="561194"/>
          </a:xfrm>
        </p:grpSpPr>
        <p:sp>
          <p:nvSpPr>
            <p:cNvPr id="81" name="Прямоугольник 80"/>
            <p:cNvSpPr/>
            <p:nvPr/>
          </p:nvSpPr>
          <p:spPr>
            <a:xfrm>
              <a:off x="4076816" y="1053406"/>
              <a:ext cx="3546919" cy="383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Классический анализ известных на момент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создания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концепции рисков</a:t>
              </a:r>
            </a:p>
          </p:txBody>
        </p:sp>
        <p:sp>
          <p:nvSpPr>
            <p:cNvPr id="82" name="Прямоугольник 81"/>
            <p:cNvSpPr/>
            <p:nvPr/>
          </p:nvSpPr>
          <p:spPr>
            <a:xfrm>
              <a:off x="4083116" y="875394"/>
              <a:ext cx="141205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17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Анализ рисков</a:t>
              </a:r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7343287" y="3554521"/>
            <a:ext cx="3546919" cy="708643"/>
            <a:chOff x="4076816" y="875394"/>
            <a:chExt cx="3546919" cy="708643"/>
          </a:xfrm>
        </p:grpSpPr>
        <p:sp>
          <p:nvSpPr>
            <p:cNvPr id="87" name="Прямоугольник 86"/>
            <p:cNvSpPr/>
            <p:nvPr/>
          </p:nvSpPr>
          <p:spPr>
            <a:xfrm>
              <a:off x="4076816" y="1200855"/>
              <a:ext cx="3546919" cy="383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Перечень сведений о неоднозначных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или 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вызывающих вопросы решениях, оценка</a:t>
              </a:r>
            </a:p>
          </p:txBody>
        </p:sp>
        <p:sp>
          <p:nvSpPr>
            <p:cNvPr id="88" name="Прямоугольник 87"/>
            <p:cNvSpPr/>
            <p:nvPr/>
          </p:nvSpPr>
          <p:spPr>
            <a:xfrm>
              <a:off x="4083116" y="875394"/>
              <a:ext cx="2026517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18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Анализ возникновения </a:t>
              </a:r>
              <a:r>
                <a:rPr lang="ru-RU" sz="1200" b="1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200" b="1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200" b="1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технологического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долга</a:t>
              </a:r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7343287" y="4308612"/>
            <a:ext cx="3546919" cy="706618"/>
            <a:chOff x="4076816" y="875394"/>
            <a:chExt cx="3546919" cy="706618"/>
          </a:xfrm>
        </p:grpSpPr>
        <p:sp>
          <p:nvSpPr>
            <p:cNvPr id="90" name="Прямоугольник 89"/>
            <p:cNvSpPr/>
            <p:nvPr/>
          </p:nvSpPr>
          <p:spPr>
            <a:xfrm>
              <a:off x="4076816" y="1053406"/>
              <a:ext cx="3546919" cy="528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Предполагаемая/ ожидания реакции органа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компании</a:t>
              </a:r>
              <a:r>
                <a:rPr lang="ru-RU" sz="1050" dirty="0">
                  <a:solidFill>
                    <a:srgbClr val="000000"/>
                  </a:solidFill>
                  <a:ea typeface="Calibri" panose="020F0502020204030204" pitchFamily="34" charset="0"/>
                </a:rPr>
                <a:t>, которому делегировано принятие </a:t>
              </a: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/>
              </a:r>
              <a:b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</a:br>
              <a:r>
                <a:rPr lang="ru-RU" sz="1050" dirty="0" smtClean="0">
                  <a:solidFill>
                    <a:srgbClr val="000000"/>
                  </a:solidFill>
                  <a:ea typeface="Calibri" panose="020F0502020204030204" pitchFamily="34" charset="0"/>
                </a:rPr>
                <a:t>решения</a:t>
              </a:r>
              <a:endParaRPr lang="ru-RU" sz="1050" dirty="0">
                <a:solidFill>
                  <a:srgbClr val="000000"/>
                </a:solidFill>
                <a:ea typeface="Calibri" panose="020F0502020204030204" pitchFamily="34" charset="0"/>
              </a:endParaRPr>
            </a:p>
          </p:txBody>
        </p:sp>
        <p:sp>
          <p:nvSpPr>
            <p:cNvPr id="91" name="Прямоугольник 90"/>
            <p:cNvSpPr/>
            <p:nvPr/>
          </p:nvSpPr>
          <p:spPr>
            <a:xfrm>
              <a:off x="4083116" y="875394"/>
              <a:ext cx="1557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19</a:t>
              </a:r>
              <a:r>
                <a:rPr lang="en-US" sz="1200" b="1" dirty="0" smtClean="0">
                  <a:solidFill>
                    <a:schemeClr val="tx2"/>
                  </a:solidFill>
                  <a:ea typeface="Calibri" panose="020F0502020204030204" pitchFamily="34" charset="0"/>
                </a:rPr>
                <a:t>. </a:t>
              </a:r>
              <a:r>
                <a:rPr lang="ru-RU" sz="1200" b="1" dirty="0">
                  <a:solidFill>
                    <a:srgbClr val="000000"/>
                  </a:solidFill>
                  <a:ea typeface="Calibri" panose="020F0502020204030204" pitchFamily="34" charset="0"/>
                </a:rPr>
                <a:t>Проект решения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47506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4489" y="228600"/>
            <a:ext cx="9361487" cy="995363"/>
          </a:xfrm>
        </p:spPr>
        <p:txBody>
          <a:bodyPr/>
          <a:lstStyle/>
          <a:p>
            <a:r>
              <a:rPr lang="ru-RU" sz="2400" dirty="0"/>
              <a:t>м</a:t>
            </a:r>
            <a:r>
              <a:rPr lang="ru-RU" sz="2400" dirty="0" smtClean="0"/>
              <a:t>атрица </a:t>
            </a:r>
            <a:r>
              <a:rPr lang="ru-RU" sz="2400" dirty="0"/>
              <a:t>применения </a:t>
            </a:r>
            <a:r>
              <a:rPr lang="ru-RU" sz="2400" dirty="0" smtClean="0"/>
              <a:t>чек-листов </a:t>
            </a:r>
            <a:r>
              <a:rPr lang="ru-RU" sz="2400" dirty="0"/>
              <a:t>к </a:t>
            </a:r>
            <a:r>
              <a:rPr lang="ru-RU" sz="2400" dirty="0" smtClean="0"/>
              <a:t>материалам,</a:t>
            </a:r>
            <a:br>
              <a:rPr lang="ru-RU" sz="2400" dirty="0" smtClean="0"/>
            </a:br>
            <a:r>
              <a:rPr lang="ru-RU" sz="2400" dirty="0" smtClean="0"/>
              <a:t>выносимым </a:t>
            </a:r>
            <a:r>
              <a:rPr lang="ru-RU" sz="2400" dirty="0"/>
              <a:t>на АК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60363" y="1371565"/>
            <a:ext cx="10806081" cy="4171986"/>
          </a:xfrm>
          <a:prstGeom prst="roundRect">
            <a:avLst>
              <a:gd name="adj" fmla="val 7025"/>
            </a:avLst>
          </a:prstGeom>
          <a:solidFill>
            <a:schemeClr val="bg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>
              <a:latin typeface="+mj-lt"/>
            </a:endParaRPr>
          </a:p>
        </p:txBody>
      </p:sp>
      <p:sp>
        <p:nvSpPr>
          <p:cNvPr id="11" name="Полилиния 10"/>
          <p:cNvSpPr/>
          <p:nvPr/>
        </p:nvSpPr>
        <p:spPr>
          <a:xfrm>
            <a:off x="360363" y="1371565"/>
            <a:ext cx="10806081" cy="3067986"/>
          </a:xfrm>
          <a:custGeom>
            <a:avLst/>
            <a:gdLst>
              <a:gd name="connsiteX0" fmla="*/ 231810 w 10793793"/>
              <a:gd name="connsiteY0" fmla="*/ 0 h 3067986"/>
              <a:gd name="connsiteX1" fmla="*/ 10561983 w 10793793"/>
              <a:gd name="connsiteY1" fmla="*/ 0 h 3067986"/>
              <a:gd name="connsiteX2" fmla="*/ 10793793 w 10793793"/>
              <a:gd name="connsiteY2" fmla="*/ 231810 h 3067986"/>
              <a:gd name="connsiteX3" fmla="*/ 10793793 w 10793793"/>
              <a:gd name="connsiteY3" fmla="*/ 734418 h 3067986"/>
              <a:gd name="connsiteX4" fmla="*/ 10775577 w 10793793"/>
              <a:gd name="connsiteY4" fmla="*/ 644192 h 3067986"/>
              <a:gd name="connsiteX5" fmla="*/ 10561984 w 10793793"/>
              <a:gd name="connsiteY5" fmla="*/ 502613 h 3067986"/>
              <a:gd name="connsiteX6" fmla="*/ 231811 w 10793793"/>
              <a:gd name="connsiteY6" fmla="*/ 502613 h 3067986"/>
              <a:gd name="connsiteX7" fmla="*/ 1 w 10793793"/>
              <a:gd name="connsiteY7" fmla="*/ 734423 h 3067986"/>
              <a:gd name="connsiteX8" fmla="*/ 1 w 10793793"/>
              <a:gd name="connsiteY8" fmla="*/ 3067986 h 3067986"/>
              <a:gd name="connsiteX9" fmla="*/ 0 w 10793793"/>
              <a:gd name="connsiteY9" fmla="*/ 3067981 h 3067986"/>
              <a:gd name="connsiteX10" fmla="*/ 0 w 10793793"/>
              <a:gd name="connsiteY10" fmla="*/ 231810 h 3067986"/>
              <a:gd name="connsiteX11" fmla="*/ 231810 w 10793793"/>
              <a:gd name="connsiteY11" fmla="*/ 0 h 3067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793793" h="3067986">
                <a:moveTo>
                  <a:pt x="231810" y="0"/>
                </a:moveTo>
                <a:lnTo>
                  <a:pt x="10561983" y="0"/>
                </a:lnTo>
                <a:cubicBezTo>
                  <a:pt x="10690008" y="0"/>
                  <a:pt x="10793793" y="103785"/>
                  <a:pt x="10793793" y="231810"/>
                </a:cubicBezTo>
                <a:lnTo>
                  <a:pt x="10793793" y="734418"/>
                </a:lnTo>
                <a:lnTo>
                  <a:pt x="10775577" y="644192"/>
                </a:lnTo>
                <a:cubicBezTo>
                  <a:pt x="10740386" y="560992"/>
                  <a:pt x="10658003" y="502613"/>
                  <a:pt x="10561984" y="502613"/>
                </a:cubicBezTo>
                <a:lnTo>
                  <a:pt x="231811" y="502613"/>
                </a:lnTo>
                <a:cubicBezTo>
                  <a:pt x="103786" y="502613"/>
                  <a:pt x="1" y="606398"/>
                  <a:pt x="1" y="734423"/>
                </a:cubicBezTo>
                <a:lnTo>
                  <a:pt x="1" y="3067986"/>
                </a:lnTo>
                <a:lnTo>
                  <a:pt x="0" y="3067981"/>
                </a:lnTo>
                <a:lnTo>
                  <a:pt x="0" y="231810"/>
                </a:lnTo>
                <a:cubicBezTo>
                  <a:pt x="0" y="103785"/>
                  <a:pt x="103785" y="0"/>
                  <a:pt x="231810" y="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  <a:effectLst/>
        </p:spPr>
        <p:txBody>
          <a:bodyPr rot="0" spcFirstLastPara="0" vertOverflow="overflow" horzOverflow="overflow" vert="horz" wrap="squar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012306"/>
              </p:ext>
            </p:extLst>
          </p:nvPr>
        </p:nvGraphicFramePr>
        <p:xfrm>
          <a:off x="344489" y="1375375"/>
          <a:ext cx="10813950" cy="4176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3950">
                  <a:extLst>
                    <a:ext uri="{9D8B030D-6E8A-4147-A177-3AD203B41FA5}">
                      <a16:colId xmlns:a16="http://schemas.microsoft.com/office/drawing/2014/main" val="277606296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184195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23454959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77286852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22662560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562410309"/>
                    </a:ext>
                  </a:extLst>
                </a:gridCol>
              </a:tblGrid>
              <a:tr h="503609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Тип материала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marL="25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Общий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Логика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Принципы</a:t>
                      </a:r>
                      <a:r>
                        <a:rPr lang="ru-RU" sz="1200" baseline="0" dirty="0" smtClean="0">
                          <a:solidFill>
                            <a:schemeClr val="tx1"/>
                          </a:solidFill>
                        </a:rPr>
                        <a:t> ТП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Концепт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Коммунальный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044770"/>
                  </a:ext>
                </a:extLst>
              </a:tr>
              <a:tr h="520874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Концепция 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(продукта/сервиса/домена)</a:t>
                      </a:r>
                      <a:endParaRPr lang="ru-RU" sz="1400" b="0" dirty="0"/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94932"/>
                  </a:ext>
                </a:extLst>
              </a:tr>
              <a:tr h="520874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Позиционирование </a:t>
                      </a:r>
                      <a:r>
                        <a:rPr lang="ru-RU" sz="1400" b="0" dirty="0" smtClean="0"/>
                        <a:t>(концепция утверждена)</a:t>
                      </a:r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272304"/>
                  </a:ext>
                </a:extLst>
              </a:tr>
              <a:tr h="520874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Целевая архитектура 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(концепция утверждена)</a:t>
                      </a:r>
                      <a:endParaRPr lang="ru-RU" sz="1400" b="0" dirty="0"/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68888"/>
                  </a:ext>
                </a:extLst>
              </a:tr>
              <a:tr h="520874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Временное решение </a:t>
                      </a:r>
                      <a:r>
                        <a:rPr lang="ru-RU" sz="1400" b="0" dirty="0" smtClean="0"/>
                        <a:t>(концепция утверждена)</a:t>
                      </a:r>
                      <a:endParaRPr lang="ru-RU" sz="1400" b="0" dirty="0"/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672931"/>
                  </a:ext>
                </a:extLst>
              </a:tr>
              <a:tr h="520874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Модель данных 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(концепция утверждена)</a:t>
                      </a:r>
                      <a:endParaRPr lang="ru-RU" sz="1400" b="0" dirty="0"/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76634"/>
                  </a:ext>
                </a:extLst>
              </a:tr>
              <a:tr h="520874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Использование новой технологии</a:t>
                      </a:r>
                      <a:endParaRPr lang="ru-RU" sz="1400" b="1" dirty="0"/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352502"/>
                  </a:ext>
                </a:extLst>
              </a:tr>
              <a:tr h="548009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Требования к ИТ-ландшафту </a:t>
                      </a:r>
                    </a:p>
                    <a:p>
                      <a:r>
                        <a:rPr lang="ru-RU" sz="1400" b="1" dirty="0" smtClean="0"/>
                        <a:t>и техническим стандартам</a:t>
                      </a:r>
                      <a:endParaRPr lang="ru-RU" sz="1400" b="1" dirty="0"/>
                    </a:p>
                  </a:txBody>
                  <a:tcPr marL="252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72012"/>
                  </a:ext>
                </a:extLst>
              </a:tr>
            </a:tbl>
          </a:graphicData>
        </a:graphic>
      </p:graphicFrame>
      <p:grpSp>
        <p:nvGrpSpPr>
          <p:cNvPr id="7" name="Группа 6"/>
          <p:cNvGrpSpPr/>
          <p:nvPr/>
        </p:nvGrpSpPr>
        <p:grpSpPr>
          <a:xfrm>
            <a:off x="5364666" y="2015372"/>
            <a:ext cx="241610" cy="236242"/>
            <a:chOff x="5364666" y="2000742"/>
            <a:chExt cx="241610" cy="236242"/>
          </a:xfrm>
        </p:grpSpPr>
        <p:sp>
          <p:nvSpPr>
            <p:cNvPr id="6" name="Овал 5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14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5364666" y="2542065"/>
            <a:ext cx="241610" cy="236242"/>
            <a:chOff x="5364666" y="2000742"/>
            <a:chExt cx="241610" cy="236242"/>
          </a:xfrm>
        </p:grpSpPr>
        <p:sp>
          <p:nvSpPr>
            <p:cNvPr id="17" name="Овал 16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18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5364666" y="3068760"/>
            <a:ext cx="241610" cy="236242"/>
            <a:chOff x="5364666" y="2000742"/>
            <a:chExt cx="241610" cy="236242"/>
          </a:xfrm>
        </p:grpSpPr>
        <p:sp>
          <p:nvSpPr>
            <p:cNvPr id="20" name="Овал 19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21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5364666" y="3588139"/>
            <a:ext cx="241610" cy="236242"/>
            <a:chOff x="5364666" y="2000742"/>
            <a:chExt cx="241610" cy="236242"/>
          </a:xfrm>
        </p:grpSpPr>
        <p:sp>
          <p:nvSpPr>
            <p:cNvPr id="23" name="Овал 22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24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5364666" y="4107519"/>
            <a:ext cx="241610" cy="236242"/>
            <a:chOff x="5364666" y="2000742"/>
            <a:chExt cx="241610" cy="236242"/>
          </a:xfrm>
        </p:grpSpPr>
        <p:sp>
          <p:nvSpPr>
            <p:cNvPr id="26" name="Овал 25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27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5364666" y="4619584"/>
            <a:ext cx="241610" cy="236242"/>
            <a:chOff x="5364666" y="2000742"/>
            <a:chExt cx="241610" cy="236242"/>
          </a:xfrm>
        </p:grpSpPr>
        <p:sp>
          <p:nvSpPr>
            <p:cNvPr id="29" name="Овал 28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30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5364666" y="5153594"/>
            <a:ext cx="241610" cy="236242"/>
            <a:chOff x="5364666" y="2000742"/>
            <a:chExt cx="241610" cy="236242"/>
          </a:xfrm>
        </p:grpSpPr>
        <p:sp>
          <p:nvSpPr>
            <p:cNvPr id="32" name="Овал 31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33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6637510" y="2015372"/>
            <a:ext cx="241610" cy="236242"/>
            <a:chOff x="5364666" y="2000742"/>
            <a:chExt cx="241610" cy="236242"/>
          </a:xfrm>
        </p:grpSpPr>
        <p:sp>
          <p:nvSpPr>
            <p:cNvPr id="35" name="Овал 34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36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" name="Группа 39"/>
          <p:cNvGrpSpPr/>
          <p:nvPr/>
        </p:nvGrpSpPr>
        <p:grpSpPr>
          <a:xfrm>
            <a:off x="6637510" y="3068760"/>
            <a:ext cx="241610" cy="236242"/>
            <a:chOff x="5364666" y="2000742"/>
            <a:chExt cx="241610" cy="236242"/>
          </a:xfrm>
        </p:grpSpPr>
        <p:sp>
          <p:nvSpPr>
            <p:cNvPr id="41" name="Овал 40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42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6637510" y="3588139"/>
            <a:ext cx="241610" cy="236242"/>
            <a:chOff x="5364666" y="2000742"/>
            <a:chExt cx="241610" cy="236242"/>
          </a:xfrm>
        </p:grpSpPr>
        <p:sp>
          <p:nvSpPr>
            <p:cNvPr id="44" name="Овал 43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45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6637510" y="4619584"/>
            <a:ext cx="241610" cy="236242"/>
            <a:chOff x="5364666" y="2000742"/>
            <a:chExt cx="241610" cy="236242"/>
          </a:xfrm>
        </p:grpSpPr>
        <p:sp>
          <p:nvSpPr>
            <p:cNvPr id="50" name="Овал 49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51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6637510" y="5153594"/>
            <a:ext cx="241610" cy="236242"/>
            <a:chOff x="5364666" y="2000742"/>
            <a:chExt cx="241610" cy="236242"/>
          </a:xfrm>
        </p:grpSpPr>
        <p:sp>
          <p:nvSpPr>
            <p:cNvPr id="53" name="Овал 52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54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7917670" y="2015372"/>
            <a:ext cx="241610" cy="236242"/>
            <a:chOff x="5364666" y="2000742"/>
            <a:chExt cx="241610" cy="236242"/>
          </a:xfrm>
        </p:grpSpPr>
        <p:sp>
          <p:nvSpPr>
            <p:cNvPr id="56" name="Овал 55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57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8" name="Группа 57"/>
          <p:cNvGrpSpPr/>
          <p:nvPr/>
        </p:nvGrpSpPr>
        <p:grpSpPr>
          <a:xfrm>
            <a:off x="7917670" y="2542065"/>
            <a:ext cx="241610" cy="236242"/>
            <a:chOff x="5364666" y="2000742"/>
            <a:chExt cx="241610" cy="236242"/>
          </a:xfrm>
        </p:grpSpPr>
        <p:sp>
          <p:nvSpPr>
            <p:cNvPr id="59" name="Овал 58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60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1" name="Группа 70"/>
          <p:cNvGrpSpPr/>
          <p:nvPr/>
        </p:nvGrpSpPr>
        <p:grpSpPr>
          <a:xfrm>
            <a:off x="7917670" y="4619584"/>
            <a:ext cx="241610" cy="236242"/>
            <a:chOff x="5364666" y="2000742"/>
            <a:chExt cx="241610" cy="236242"/>
          </a:xfrm>
        </p:grpSpPr>
        <p:sp>
          <p:nvSpPr>
            <p:cNvPr id="73" name="Овал 72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74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7917670" y="5153594"/>
            <a:ext cx="241610" cy="236242"/>
            <a:chOff x="5364666" y="2000742"/>
            <a:chExt cx="241610" cy="236242"/>
          </a:xfrm>
        </p:grpSpPr>
        <p:sp>
          <p:nvSpPr>
            <p:cNvPr id="76" name="Овал 75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77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9146624" y="2015372"/>
            <a:ext cx="241610" cy="236242"/>
            <a:chOff x="5364666" y="2000742"/>
            <a:chExt cx="241610" cy="236242"/>
          </a:xfrm>
        </p:grpSpPr>
        <p:sp>
          <p:nvSpPr>
            <p:cNvPr id="79" name="Овал 78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80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1" name="Группа 80"/>
          <p:cNvGrpSpPr/>
          <p:nvPr/>
        </p:nvGrpSpPr>
        <p:grpSpPr>
          <a:xfrm>
            <a:off x="9146624" y="2542065"/>
            <a:ext cx="241610" cy="236242"/>
            <a:chOff x="5364666" y="2000742"/>
            <a:chExt cx="241610" cy="236242"/>
          </a:xfrm>
        </p:grpSpPr>
        <p:sp>
          <p:nvSpPr>
            <p:cNvPr id="82" name="Овал 81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83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9146624" y="4619584"/>
            <a:ext cx="241610" cy="236242"/>
            <a:chOff x="5364666" y="2000742"/>
            <a:chExt cx="241610" cy="236242"/>
          </a:xfrm>
        </p:grpSpPr>
        <p:sp>
          <p:nvSpPr>
            <p:cNvPr id="94" name="Овал 93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95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10419469" y="2015372"/>
            <a:ext cx="241610" cy="236242"/>
            <a:chOff x="5364666" y="2000742"/>
            <a:chExt cx="241610" cy="236242"/>
          </a:xfrm>
        </p:grpSpPr>
        <p:sp>
          <p:nvSpPr>
            <p:cNvPr id="101" name="Овал 100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102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105"/>
          <p:cNvGrpSpPr/>
          <p:nvPr/>
        </p:nvGrpSpPr>
        <p:grpSpPr>
          <a:xfrm>
            <a:off x="10419469" y="3068760"/>
            <a:ext cx="241610" cy="236242"/>
            <a:chOff x="5364666" y="2000742"/>
            <a:chExt cx="241610" cy="236242"/>
          </a:xfrm>
        </p:grpSpPr>
        <p:sp>
          <p:nvSpPr>
            <p:cNvPr id="107" name="Овал 106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108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10419469" y="3588139"/>
            <a:ext cx="241610" cy="236242"/>
            <a:chOff x="5364666" y="2000742"/>
            <a:chExt cx="241610" cy="236242"/>
          </a:xfrm>
        </p:grpSpPr>
        <p:sp>
          <p:nvSpPr>
            <p:cNvPr id="110" name="Овал 109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111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5" name="Группа 114"/>
          <p:cNvGrpSpPr/>
          <p:nvPr/>
        </p:nvGrpSpPr>
        <p:grpSpPr>
          <a:xfrm>
            <a:off x="10419469" y="4619584"/>
            <a:ext cx="241610" cy="236242"/>
            <a:chOff x="5364666" y="2000742"/>
            <a:chExt cx="241610" cy="236242"/>
          </a:xfrm>
        </p:grpSpPr>
        <p:sp>
          <p:nvSpPr>
            <p:cNvPr id="116" name="Овал 115"/>
            <p:cNvSpPr/>
            <p:nvPr/>
          </p:nvSpPr>
          <p:spPr>
            <a:xfrm>
              <a:off x="5364666" y="2000742"/>
              <a:ext cx="241610" cy="236242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117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425894" y="2073467"/>
              <a:ext cx="119154" cy="90792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21" name="Прямоугольник 120"/>
          <p:cNvSpPr/>
          <p:nvPr/>
        </p:nvSpPr>
        <p:spPr>
          <a:xfrm>
            <a:off x="10108164" y="2197708"/>
            <a:ext cx="86422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" dirty="0">
                <a:solidFill>
                  <a:schemeClr val="tx2"/>
                </a:solidFill>
              </a:rPr>
              <a:t>(опционально)</a:t>
            </a:r>
          </a:p>
        </p:txBody>
      </p:sp>
      <p:sp>
        <p:nvSpPr>
          <p:cNvPr id="129" name="Прямоугольник 128"/>
          <p:cNvSpPr/>
          <p:nvPr/>
        </p:nvSpPr>
        <p:spPr>
          <a:xfrm>
            <a:off x="10108164" y="3249268"/>
            <a:ext cx="86422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" dirty="0">
                <a:solidFill>
                  <a:schemeClr val="tx2"/>
                </a:solidFill>
              </a:rPr>
              <a:t>(опционально)</a:t>
            </a:r>
          </a:p>
        </p:txBody>
      </p:sp>
      <p:sp>
        <p:nvSpPr>
          <p:cNvPr id="133" name="Прямоугольник 132"/>
          <p:cNvSpPr/>
          <p:nvPr/>
        </p:nvSpPr>
        <p:spPr>
          <a:xfrm>
            <a:off x="10108164" y="3769032"/>
            <a:ext cx="864220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" dirty="0">
                <a:solidFill>
                  <a:schemeClr val="tx2"/>
                </a:solidFill>
              </a:rPr>
              <a:t>(опционально)</a:t>
            </a:r>
          </a:p>
        </p:txBody>
      </p:sp>
    </p:spTree>
    <p:extLst>
      <p:ext uri="{BB962C8B-B14F-4D97-AF65-F5344CB8AC3E}">
        <p14:creationId xmlns:p14="http://schemas.microsoft.com/office/powerpoint/2010/main" val="40271697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4489" y="228600"/>
            <a:ext cx="9361487" cy="995363"/>
          </a:xfrm>
        </p:spPr>
        <p:txBody>
          <a:bodyPr/>
          <a:lstStyle/>
          <a:p>
            <a:r>
              <a:rPr lang="ru-RU" sz="2400" dirty="0" smtClean="0"/>
              <a:t>чек</a:t>
            </a:r>
            <a:r>
              <a:rPr lang="en-US" sz="2400" dirty="0" smtClean="0"/>
              <a:t>-</a:t>
            </a:r>
            <a:r>
              <a:rPr lang="ru-RU" sz="2400" dirty="0" smtClean="0"/>
              <a:t>лист </a:t>
            </a:r>
            <a:r>
              <a:rPr lang="ru-RU" sz="2400" dirty="0"/>
              <a:t>общих материалов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84" name="Прямоугольник 83"/>
          <p:cNvSpPr/>
          <p:nvPr/>
        </p:nvSpPr>
        <p:spPr>
          <a:xfrm>
            <a:off x="256222" y="968557"/>
            <a:ext cx="92421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Материал, выносимый на Архитектурный Комитет, </a:t>
            </a:r>
            <a:r>
              <a:rPr lang="ru-RU" sz="1400" b="1" dirty="0">
                <a:solidFill>
                  <a:schemeClr val="tx2"/>
                </a:solidFill>
              </a:rPr>
              <a:t>содержит</a:t>
            </a:r>
            <a:r>
              <a:rPr lang="ru-RU" sz="1400" dirty="0">
                <a:solidFill>
                  <a:schemeClr val="tx2"/>
                </a:solidFill>
              </a:rPr>
              <a:t> информацию:</a:t>
            </a:r>
          </a:p>
        </p:txBody>
      </p:sp>
      <p:sp>
        <p:nvSpPr>
          <p:cNvPr id="85" name="Прямоугольник 84"/>
          <p:cNvSpPr/>
          <p:nvPr/>
        </p:nvSpPr>
        <p:spPr>
          <a:xfrm>
            <a:off x="256222" y="1580622"/>
            <a:ext cx="4784091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Запрашиваемый проект решения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Общее описание задачи или проблемы, схематичное изображение и </a:t>
            </a:r>
            <a:r>
              <a:rPr lang="ru-RU" sz="1400" b="1" dirty="0">
                <a:solidFill>
                  <a:schemeClr val="tx2"/>
                </a:solidFill>
              </a:rPr>
              <a:t>описание предметной области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Место продукта в ландшафте и процессах </a:t>
            </a:r>
            <a:r>
              <a:rPr lang="ru-RU" sz="1400" dirty="0" smtClean="0">
                <a:solidFill>
                  <a:schemeClr val="tx2"/>
                </a:solidFill>
              </a:rPr>
              <a:t>компании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 smtClean="0">
                <a:solidFill>
                  <a:schemeClr val="tx2"/>
                </a:solidFill>
              </a:rPr>
              <a:t>Предпосылки </a:t>
            </a:r>
            <a:r>
              <a:rPr lang="ru-RU" sz="1400" dirty="0">
                <a:solidFill>
                  <a:schemeClr val="tx2"/>
                </a:solidFill>
              </a:rPr>
              <a:t>и история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(если необходимо)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x-none" sz="1400" dirty="0">
                <a:solidFill>
                  <a:schemeClr val="tx2"/>
                </a:solidFill>
              </a:rPr>
              <a:t>Соответствие </a:t>
            </a:r>
            <a:r>
              <a:rPr lang="ru-RU" sz="1400" dirty="0">
                <a:solidFill>
                  <a:schemeClr val="tx2"/>
                </a:solidFill>
              </a:rPr>
              <a:t>стратегическим целям Компании – корпоративная стратегия, ИТ Стратегия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Состояние </a:t>
            </a:r>
            <a:r>
              <a:rPr lang="en-US" sz="1400" dirty="0">
                <a:solidFill>
                  <a:schemeClr val="tx2"/>
                </a:solidFill>
              </a:rPr>
              <a:t>AS </a:t>
            </a:r>
            <a:r>
              <a:rPr lang="en-US" sz="1400" dirty="0" smtClean="0">
                <a:solidFill>
                  <a:schemeClr val="tx2"/>
                </a:solidFill>
              </a:rPr>
              <a:t>IS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86" name="Прямоугольник 85"/>
          <p:cNvSpPr/>
          <p:nvPr/>
        </p:nvSpPr>
        <p:spPr>
          <a:xfrm>
            <a:off x="544233" y="3781224"/>
            <a:ext cx="448614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100" b="1" dirty="0">
                <a:solidFill>
                  <a:schemeClr val="tx2"/>
                </a:solidFill>
              </a:rPr>
              <a:t>Текущих способностей </a:t>
            </a:r>
            <a:r>
              <a:rPr lang="ru-RU" sz="1100" dirty="0">
                <a:solidFill>
                  <a:schemeClr val="tx2"/>
                </a:solidFill>
              </a:rPr>
              <a:t>ИТ-ландшафта (+ применимость </a:t>
            </a:r>
            <a:r>
              <a:rPr lang="ru-RU" sz="1100" dirty="0" smtClean="0">
                <a:solidFill>
                  <a:schemeClr val="tx2"/>
                </a:solidFill>
              </a:rPr>
              <a:t/>
            </a:r>
            <a:br>
              <a:rPr lang="ru-RU" sz="1100" dirty="0" smtClean="0">
                <a:solidFill>
                  <a:schemeClr val="tx2"/>
                </a:solidFill>
              </a:rPr>
            </a:br>
            <a:r>
              <a:rPr lang="ru-RU" sz="1100" dirty="0" smtClean="0">
                <a:solidFill>
                  <a:schemeClr val="tx2"/>
                </a:solidFill>
              </a:rPr>
              <a:t>к </a:t>
            </a:r>
            <a:r>
              <a:rPr lang="ru-RU" sz="1100" dirty="0">
                <a:solidFill>
                  <a:schemeClr val="tx2"/>
                </a:solidFill>
              </a:rPr>
              <a:t>конкретной вертикали бизнеса или к поддержке коммунальных процессов)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Текущего состояния </a:t>
            </a:r>
            <a:r>
              <a:rPr lang="ru-RU" sz="1100" b="1" dirty="0">
                <a:solidFill>
                  <a:schemeClr val="tx2"/>
                </a:solidFill>
              </a:rPr>
              <a:t>ключевых и изменяемых </a:t>
            </a:r>
            <a:r>
              <a:rPr lang="ru-RU" sz="1100" dirty="0">
                <a:solidFill>
                  <a:schemeClr val="tx2"/>
                </a:solidFill>
              </a:rPr>
              <a:t>бизнес-процессов / бизнес-сущностей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Описание использования элементов ИТ-ландшафта в этих процессах</a:t>
            </a:r>
            <a:endParaRPr lang="ru-RU" sz="1100" b="1" dirty="0">
              <a:solidFill>
                <a:schemeClr val="tx2"/>
              </a:solidFill>
            </a:endParaRPr>
          </a:p>
        </p:txBody>
      </p:sp>
      <p:sp>
        <p:nvSpPr>
          <p:cNvPr id="87" name="Прямоугольник 86"/>
          <p:cNvSpPr/>
          <p:nvPr/>
        </p:nvSpPr>
        <p:spPr>
          <a:xfrm>
            <a:off x="5656897" y="158062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Состояние TO BE, предлагаемый вариант решения</a:t>
            </a:r>
          </a:p>
        </p:txBody>
      </p:sp>
      <p:sp>
        <p:nvSpPr>
          <p:cNvPr id="88" name="Прямоугольник 87"/>
          <p:cNvSpPr/>
          <p:nvPr/>
        </p:nvSpPr>
        <p:spPr>
          <a:xfrm>
            <a:off x="5934823" y="1881953"/>
            <a:ext cx="427908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b="1" dirty="0">
                <a:solidFill>
                  <a:schemeClr val="tx2"/>
                </a:solidFill>
              </a:rPr>
              <a:t>Планируемых способностей </a:t>
            </a:r>
            <a:r>
              <a:rPr lang="ru-RU" sz="1100" dirty="0">
                <a:solidFill>
                  <a:schemeClr val="tx2"/>
                </a:solidFill>
              </a:rPr>
              <a:t>ИТ-ландшафта (+ применимость к конкретной вертикали бизнеса или к поддержке коммунальных процессов)</a:t>
            </a: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Описание решения: </a:t>
            </a:r>
            <a:r>
              <a:rPr lang="ru-RU" sz="1100" b="1" dirty="0">
                <a:solidFill>
                  <a:schemeClr val="tx2"/>
                </a:solidFill>
              </a:rPr>
              <a:t>базовая идея, ключевые решения</a:t>
            </a: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Планируемое состояние </a:t>
            </a:r>
            <a:r>
              <a:rPr lang="ru-RU" sz="1100" b="1" dirty="0">
                <a:solidFill>
                  <a:schemeClr val="tx2"/>
                </a:solidFill>
              </a:rPr>
              <a:t>ключевых и изменяемых </a:t>
            </a:r>
            <a:r>
              <a:rPr lang="ru-RU" sz="1100" dirty="0">
                <a:solidFill>
                  <a:schemeClr val="tx2"/>
                </a:solidFill>
              </a:rPr>
              <a:t>бизнес-процессов / бизнес-сущностей</a:t>
            </a: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Описание </a:t>
            </a:r>
            <a:r>
              <a:rPr lang="ru-RU" sz="1100" b="1" dirty="0">
                <a:solidFill>
                  <a:schemeClr val="tx2"/>
                </a:solidFill>
              </a:rPr>
              <a:t>использования элементов ИТ-ландшафта </a:t>
            </a:r>
            <a:r>
              <a:rPr lang="ru-RU" sz="1100" dirty="0">
                <a:solidFill>
                  <a:schemeClr val="tx2"/>
                </a:solidFill>
              </a:rPr>
              <a:t>в этих процессах </a:t>
            </a:r>
            <a:r>
              <a:rPr lang="ru-RU" sz="1100" dirty="0" smtClean="0">
                <a:solidFill>
                  <a:schemeClr val="tx2"/>
                </a:solidFill>
              </a:rPr>
              <a:t/>
            </a:r>
            <a:br>
              <a:rPr lang="ru-RU" sz="1100" dirty="0" smtClean="0">
                <a:solidFill>
                  <a:schemeClr val="tx2"/>
                </a:solidFill>
              </a:rPr>
            </a:br>
            <a:r>
              <a:rPr lang="ru-RU" sz="1100" dirty="0" smtClean="0">
                <a:solidFill>
                  <a:schemeClr val="tx2"/>
                </a:solidFill>
              </a:rPr>
              <a:t>с </a:t>
            </a:r>
            <a:r>
              <a:rPr lang="ru-RU" sz="1100" dirty="0">
                <a:solidFill>
                  <a:schemeClr val="tx2"/>
                </a:solidFill>
              </a:rPr>
              <a:t>указанием задач для которых предполагается использовать элементы</a:t>
            </a: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Описание изменяемых элементов с </a:t>
            </a:r>
            <a:r>
              <a:rPr lang="ru-RU" sz="1100" dirty="0" err="1">
                <a:solidFill>
                  <a:schemeClr val="tx2"/>
                </a:solidFill>
              </a:rPr>
              <a:t>тз</a:t>
            </a:r>
            <a:r>
              <a:rPr lang="ru-RU" sz="1100" dirty="0">
                <a:solidFill>
                  <a:schemeClr val="tx2"/>
                </a:solidFill>
              </a:rPr>
              <a:t> потенциала </a:t>
            </a:r>
            <a:r>
              <a:rPr lang="ru-RU" sz="1100" dirty="0" err="1">
                <a:solidFill>
                  <a:schemeClr val="tx2"/>
                </a:solidFill>
              </a:rPr>
              <a:t>переиспользования</a:t>
            </a:r>
            <a:r>
              <a:rPr lang="ru-RU" sz="1100" dirty="0">
                <a:solidFill>
                  <a:schemeClr val="tx2"/>
                </a:solidFill>
              </a:rPr>
              <a:t>, обобщения и </a:t>
            </a:r>
            <a:r>
              <a:rPr lang="ru-RU" sz="1100" dirty="0" err="1">
                <a:solidFill>
                  <a:schemeClr val="tx2"/>
                </a:solidFill>
              </a:rPr>
              <a:t>платформизации</a:t>
            </a:r>
            <a:endParaRPr lang="ru-RU" sz="1100" dirty="0">
              <a:solidFill>
                <a:schemeClr val="tx2"/>
              </a:solidFill>
            </a:endParaRP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Описания использования или изменения Корпоративной модели данных</a:t>
            </a: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Ограничения решения (если применимо)</a:t>
            </a:r>
          </a:p>
          <a:p>
            <a:pPr marL="285750" indent="-285750"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Соответствие принципам </a:t>
            </a:r>
            <a:r>
              <a:rPr lang="ru-RU" sz="1100" dirty="0" err="1">
                <a:solidFill>
                  <a:schemeClr val="tx2"/>
                </a:solidFill>
              </a:rPr>
              <a:t>Технополитики</a:t>
            </a:r>
            <a:endParaRPr lang="ru-RU" sz="1100" dirty="0">
              <a:solidFill>
                <a:schemeClr val="tx2"/>
              </a:solidFill>
            </a:endParaRPr>
          </a:p>
        </p:txBody>
      </p:sp>
      <p:sp>
        <p:nvSpPr>
          <p:cNvPr id="89" name="Прямоугольник 88"/>
          <p:cNvSpPr/>
          <p:nvPr/>
        </p:nvSpPr>
        <p:spPr>
          <a:xfrm>
            <a:off x="5656897" y="4737005"/>
            <a:ext cx="4784091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 err="1">
                <a:solidFill>
                  <a:schemeClr val="tx2"/>
                </a:solidFill>
              </a:rPr>
              <a:t>Роадмап</a:t>
            </a:r>
            <a:r>
              <a:rPr lang="ru-RU" sz="1400" dirty="0">
                <a:solidFill>
                  <a:schemeClr val="tx2"/>
                </a:solidFill>
              </a:rPr>
              <a:t> в формате реализуемых промежуточных ценностей, место в мастер-</a:t>
            </a:r>
            <a:r>
              <a:rPr lang="ru-RU" sz="1400" dirty="0" err="1">
                <a:solidFill>
                  <a:schemeClr val="tx2"/>
                </a:solidFill>
              </a:rPr>
              <a:t>роадмапе</a:t>
            </a:r>
            <a:endParaRPr lang="ru-RU" sz="1400" dirty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Доп. материалы, в зависимости от запрашиваемого Проекта решения, позволяющие уточнить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771251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4489" y="228600"/>
            <a:ext cx="9361487" cy="995363"/>
          </a:xfrm>
        </p:spPr>
        <p:txBody>
          <a:bodyPr/>
          <a:lstStyle/>
          <a:p>
            <a:r>
              <a:rPr lang="ru-RU" sz="2400" dirty="0" smtClean="0"/>
              <a:t>чек-лист </a:t>
            </a:r>
            <a:r>
              <a:rPr lang="ru-RU" sz="2400" dirty="0"/>
              <a:t>логики общих материалов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84" name="Прямоугольник 83"/>
          <p:cNvSpPr/>
          <p:nvPr/>
        </p:nvSpPr>
        <p:spPr>
          <a:xfrm>
            <a:off x="256222" y="968557"/>
            <a:ext cx="92421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Информация в материале </a:t>
            </a:r>
            <a:r>
              <a:rPr lang="ru-RU" sz="1400" b="1" dirty="0">
                <a:solidFill>
                  <a:schemeClr val="tx2"/>
                </a:solidFill>
              </a:rPr>
              <a:t>логически связана</a:t>
            </a:r>
            <a:r>
              <a:rPr lang="ru-RU" sz="1400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85" name="Прямоугольник 84"/>
          <p:cNvSpPr/>
          <p:nvPr/>
        </p:nvSpPr>
        <p:spPr>
          <a:xfrm>
            <a:off x="256222" y="1580622"/>
            <a:ext cx="4784091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Цель выносимого материала описана понятна </a:t>
            </a:r>
            <a:r>
              <a:rPr lang="ru-RU" sz="1400" dirty="0" smtClean="0">
                <a:solidFill>
                  <a:schemeClr val="tx2"/>
                </a:solidFill>
              </a:rPr>
              <a:t/>
            </a:r>
            <a:br>
              <a:rPr lang="ru-RU" sz="1400" dirty="0" smtClean="0">
                <a:solidFill>
                  <a:schemeClr val="tx2"/>
                </a:solidFill>
              </a:rPr>
            </a:br>
            <a:r>
              <a:rPr lang="ru-RU" sz="1400" dirty="0" smtClean="0">
                <a:solidFill>
                  <a:schemeClr val="tx2"/>
                </a:solidFill>
              </a:rPr>
              <a:t>и </a:t>
            </a:r>
            <a:r>
              <a:rPr lang="ru-RU" sz="1400" dirty="0">
                <a:solidFill>
                  <a:schemeClr val="tx2"/>
                </a:solidFill>
              </a:rPr>
              <a:t>однозначна. Не вызывает вопросов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Миссия и назначение проекта сформулированы понятно. Нет необходимости расширять и обобщать для большей ценности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Текущее и целевое состояние понятны. Способ перехода из текущего в целевое состояние описан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Альтернативные способы перехода в целевое состояние рассмотрены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КПЭ измеримы и однозначно позволяют определить соответствие целевому состоянию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Если создаются промежуточные ценности, </a:t>
            </a:r>
            <a:r>
              <a:rPr lang="ru-RU" sz="1400" dirty="0" smtClean="0">
                <a:solidFill>
                  <a:schemeClr val="tx2"/>
                </a:solidFill>
              </a:rPr>
              <a:t/>
            </a:r>
            <a:br>
              <a:rPr lang="ru-RU" sz="1400" dirty="0" smtClean="0">
                <a:solidFill>
                  <a:schemeClr val="tx2"/>
                </a:solidFill>
              </a:rPr>
            </a:br>
            <a:r>
              <a:rPr lang="ru-RU" sz="1400" dirty="0" smtClean="0">
                <a:solidFill>
                  <a:schemeClr val="tx2"/>
                </a:solidFill>
              </a:rPr>
              <a:t>то </a:t>
            </a:r>
            <a:r>
              <a:rPr lang="ru-RU" sz="1400" dirty="0">
                <a:solidFill>
                  <a:schemeClr val="tx2"/>
                </a:solidFill>
              </a:rPr>
              <a:t>они наблюдаемы и измеримы</a:t>
            </a:r>
          </a:p>
        </p:txBody>
      </p:sp>
      <p:sp>
        <p:nvSpPr>
          <p:cNvPr id="87" name="Прямоугольник 86"/>
          <p:cNvSpPr/>
          <p:nvPr/>
        </p:nvSpPr>
        <p:spPr>
          <a:xfrm>
            <a:off x="5656897" y="1580622"/>
            <a:ext cx="478409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Даны объемные показатели запланированных задач </a:t>
            </a:r>
            <a:r>
              <a:rPr lang="ru-RU" sz="1400" dirty="0" smtClean="0">
                <a:solidFill>
                  <a:schemeClr val="tx2"/>
                </a:solidFill>
              </a:rPr>
              <a:t/>
            </a:r>
            <a:br>
              <a:rPr lang="ru-RU" sz="1400" dirty="0" smtClean="0">
                <a:solidFill>
                  <a:schemeClr val="tx2"/>
                </a:solidFill>
              </a:rPr>
            </a:br>
            <a:r>
              <a:rPr lang="ru-RU" sz="1400" dirty="0" smtClean="0">
                <a:solidFill>
                  <a:schemeClr val="tx2"/>
                </a:solidFill>
              </a:rPr>
              <a:t>по </a:t>
            </a:r>
            <a:r>
              <a:rPr lang="ru-RU" sz="1400" dirty="0">
                <a:solidFill>
                  <a:schemeClr val="tx2"/>
                </a:solidFill>
              </a:rPr>
              <a:t>переходу в целевое состояние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Цель достигается в полном объеме при реализации. Если цель не достигается, то почему и какая доля объема реализуется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Рассмотрены продукты с аналогичной миссией </a:t>
            </a:r>
            <a:r>
              <a:rPr lang="ru-RU" sz="1400" dirty="0" smtClean="0">
                <a:solidFill>
                  <a:schemeClr val="tx2"/>
                </a:solidFill>
              </a:rPr>
              <a:t/>
            </a:r>
            <a:br>
              <a:rPr lang="ru-RU" sz="1400" dirty="0" smtClean="0">
                <a:solidFill>
                  <a:schemeClr val="tx2"/>
                </a:solidFill>
              </a:rPr>
            </a:br>
            <a:r>
              <a:rPr lang="ru-RU" sz="1400" dirty="0" smtClean="0">
                <a:solidFill>
                  <a:schemeClr val="tx2"/>
                </a:solidFill>
              </a:rPr>
              <a:t>и </a:t>
            </a:r>
            <a:r>
              <a:rPr lang="ru-RU" sz="1400" dirty="0">
                <a:solidFill>
                  <a:schemeClr val="tx2"/>
                </a:solidFill>
              </a:rPr>
              <a:t>назначением на ИТ-ландшафте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Подтверждена потребность в продукте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Описано за счет чего достигаются заявленные свойства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4149232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4489" y="228600"/>
            <a:ext cx="9361487" cy="995363"/>
          </a:xfrm>
        </p:spPr>
        <p:txBody>
          <a:bodyPr/>
          <a:lstStyle/>
          <a:p>
            <a:r>
              <a:rPr lang="ru-RU" sz="2400" dirty="0" smtClean="0"/>
              <a:t>чек-лист </a:t>
            </a:r>
            <a:r>
              <a:rPr lang="ru-RU" sz="2400" dirty="0"/>
              <a:t>принципов Технической Политики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84" name="Прямоугольник 83"/>
          <p:cNvSpPr/>
          <p:nvPr/>
        </p:nvSpPr>
        <p:spPr>
          <a:xfrm>
            <a:off x="256222" y="968557"/>
            <a:ext cx="92421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Необходимо проверить и зафиксировать </a:t>
            </a:r>
            <a:r>
              <a:rPr lang="ru-RU" sz="1400" b="1" dirty="0">
                <a:solidFill>
                  <a:schemeClr val="tx2"/>
                </a:solidFill>
              </a:rPr>
              <a:t>наличие связи и степень соответствия </a:t>
            </a:r>
            <a:r>
              <a:rPr lang="ru-RU" sz="1400" dirty="0" smtClean="0">
                <a:solidFill>
                  <a:schemeClr val="tx2"/>
                </a:solidFill>
              </a:rPr>
              <a:t/>
            </a:r>
            <a:br>
              <a:rPr lang="ru-RU" sz="1400" dirty="0" smtClean="0">
                <a:solidFill>
                  <a:schemeClr val="tx2"/>
                </a:solidFill>
              </a:rPr>
            </a:br>
            <a:r>
              <a:rPr lang="ru-RU" sz="1400" dirty="0" smtClean="0">
                <a:solidFill>
                  <a:schemeClr val="tx2"/>
                </a:solidFill>
              </a:rPr>
              <a:t>материалов </a:t>
            </a:r>
            <a:r>
              <a:rPr lang="ru-RU" sz="1400" dirty="0">
                <a:solidFill>
                  <a:schemeClr val="tx2"/>
                </a:solidFill>
              </a:rPr>
              <a:t>принципам Технической политики:</a:t>
            </a:r>
          </a:p>
        </p:txBody>
      </p:sp>
      <p:sp>
        <p:nvSpPr>
          <p:cNvPr id="85" name="Прямоугольник 84"/>
          <p:cNvSpPr/>
          <p:nvPr/>
        </p:nvSpPr>
        <p:spPr>
          <a:xfrm>
            <a:off x="256222" y="158062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Базовые принципы технической политики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44233" y="1828765"/>
            <a:ext cx="4486141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связи со стратегией компании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информированности и информирования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</a:t>
            </a:r>
            <a:r>
              <a:rPr lang="ru-RU" sz="1100" dirty="0" err="1">
                <a:solidFill>
                  <a:schemeClr val="tx2"/>
                </a:solidFill>
              </a:rPr>
              <a:t>переиспользования</a:t>
            </a:r>
            <a:endParaRPr lang="ru-RU" sz="1100" dirty="0">
              <a:solidFill>
                <a:schemeClr val="tx2"/>
              </a:solidFill>
            </a:endParaRP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принятия реалистических решений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следования лучшим практикам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вовлечения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итерационного подхода и промежуточных ценностей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56222" y="3161260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Цифровая трансформация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44233" y="3409403"/>
            <a:ext cx="4486141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</a:t>
            </a:r>
            <a:r>
              <a:rPr lang="ru-RU" sz="1100" dirty="0" err="1">
                <a:solidFill>
                  <a:schemeClr val="tx2"/>
                </a:solidFill>
              </a:rPr>
              <a:t>цифровизации</a:t>
            </a:r>
            <a:r>
              <a:rPr lang="ru-RU" sz="1100" dirty="0">
                <a:solidFill>
                  <a:schemeClr val="tx2"/>
                </a:solidFill>
              </a:rPr>
              <a:t> и автоматизации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масштабирования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</a:t>
            </a:r>
            <a:r>
              <a:rPr lang="ru-RU" sz="1100" dirty="0" err="1">
                <a:solidFill>
                  <a:schemeClr val="tx2"/>
                </a:solidFill>
              </a:rPr>
              <a:t>платформизации</a:t>
            </a:r>
            <a:endParaRPr lang="ru-RU" sz="1100" dirty="0">
              <a:solidFill>
                <a:schemeClr val="tx2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56222" y="4017513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 err="1">
                <a:solidFill>
                  <a:schemeClr val="tx2"/>
                </a:solidFill>
              </a:rPr>
              <a:t>Продуктово</a:t>
            </a:r>
            <a:r>
              <a:rPr lang="ru-RU" sz="1400" dirty="0">
                <a:solidFill>
                  <a:schemeClr val="tx2"/>
                </a:solidFill>
              </a:rPr>
              <a:t>-сервисный подход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44233" y="4265656"/>
            <a:ext cx="4486141" cy="80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наличия ценности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подтверждения ценности потреблением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позиционирования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полноты и консолидации ответственности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5662670" y="158062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ИТ-ландшафт и архитектура компании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5950681" y="1828765"/>
            <a:ext cx="4486141" cy="44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наблюдаемости изменений ИТ-ландшафта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заботы об информации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5662670" y="226064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Производственный процесс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5950681" y="2508785"/>
            <a:ext cx="4486141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«</a:t>
            </a:r>
            <a:r>
              <a:rPr lang="ru-RU" sz="1100" dirty="0" err="1">
                <a:solidFill>
                  <a:schemeClr val="tx2"/>
                </a:solidFill>
              </a:rPr>
              <a:t>left-shifting</a:t>
            </a:r>
            <a:r>
              <a:rPr lang="ru-RU" sz="1100" dirty="0">
                <a:solidFill>
                  <a:schemeClr val="tx2"/>
                </a:solidFill>
              </a:rPr>
              <a:t>» этапов процессов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увеличения гибкости процессов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наблюдаемости процессов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5662670" y="3119097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Корпоративная модель данных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5950681" y="3367240"/>
            <a:ext cx="4486141" cy="44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существования модели данных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фокусирования на модели данных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5662670" y="3791214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Технический долг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5950681" y="4039357"/>
            <a:ext cx="4486141" cy="44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наблюдаемости технического долга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предотвращения и минимизации технического долга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256222" y="5055759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Жизненный цикл ИТ-продукта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544233" y="5303902"/>
            <a:ext cx="4486141" cy="44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позиционирования ИТ-продукта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Принцип целевого состояния ИТ-продукта</a:t>
            </a:r>
          </a:p>
        </p:txBody>
      </p:sp>
      <p:sp>
        <p:nvSpPr>
          <p:cNvPr id="36" name="Прямоугольник 35"/>
          <p:cNvSpPr/>
          <p:nvPr/>
        </p:nvSpPr>
        <p:spPr>
          <a:xfrm>
            <a:off x="5662670" y="446813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Проектирование</a:t>
            </a:r>
          </a:p>
        </p:txBody>
      </p:sp>
      <p:sp>
        <p:nvSpPr>
          <p:cNvPr id="37" name="Прямоугольник 36"/>
          <p:cNvSpPr/>
          <p:nvPr/>
        </p:nvSpPr>
        <p:spPr>
          <a:xfrm>
            <a:off x="5950681" y="4716275"/>
            <a:ext cx="448614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>
                <a:solidFill>
                  <a:schemeClr val="tx2"/>
                </a:solidFill>
              </a:rPr>
              <a:t>Принцип </a:t>
            </a:r>
            <a:r>
              <a:rPr lang="en-US" sz="1100">
                <a:solidFill>
                  <a:schemeClr val="tx2"/>
                </a:solidFill>
              </a:rPr>
              <a:t>Mobile First</a:t>
            </a:r>
            <a:endParaRPr lang="ru-RU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679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4489" y="228600"/>
            <a:ext cx="9361487" cy="995363"/>
          </a:xfrm>
        </p:spPr>
        <p:txBody>
          <a:bodyPr/>
          <a:lstStyle/>
          <a:p>
            <a:r>
              <a:rPr lang="ru-RU" sz="2400" dirty="0" smtClean="0"/>
              <a:t>чек-лист </a:t>
            </a:r>
            <a:r>
              <a:rPr lang="ru-RU" sz="2400" dirty="0"/>
              <a:t>концепции продукта/сервиса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84" name="Прямоугольник 83"/>
          <p:cNvSpPr/>
          <p:nvPr/>
        </p:nvSpPr>
        <p:spPr>
          <a:xfrm>
            <a:off x="256222" y="968557"/>
            <a:ext cx="92421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Если материал </a:t>
            </a:r>
            <a:r>
              <a:rPr lang="ru-RU" sz="1400" dirty="0" smtClean="0">
                <a:solidFill>
                  <a:schemeClr val="tx2"/>
                </a:solidFill>
              </a:rPr>
              <a:t>- </a:t>
            </a:r>
            <a:r>
              <a:rPr lang="ru-RU" sz="1400" b="1" dirty="0" smtClean="0">
                <a:solidFill>
                  <a:schemeClr val="tx2"/>
                </a:solidFill>
              </a:rPr>
              <a:t>концепция </a:t>
            </a:r>
            <a:r>
              <a:rPr lang="ru-RU" sz="1400" b="1" dirty="0">
                <a:solidFill>
                  <a:schemeClr val="tx2"/>
                </a:solidFill>
              </a:rPr>
              <a:t>продукта, дополнительно </a:t>
            </a:r>
            <a:r>
              <a:rPr lang="ru-RU" sz="1400" dirty="0">
                <a:solidFill>
                  <a:schemeClr val="tx2"/>
                </a:solidFill>
              </a:rPr>
              <a:t>в материалах есть информация о:</a:t>
            </a:r>
          </a:p>
        </p:txBody>
      </p:sp>
      <p:sp>
        <p:nvSpPr>
          <p:cNvPr id="85" name="Прямоугольник 84"/>
          <p:cNvSpPr/>
          <p:nvPr/>
        </p:nvSpPr>
        <p:spPr>
          <a:xfrm>
            <a:off x="256222" y="158062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Клиентский опыт при работе с продуктом/сервисом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44233" y="1828765"/>
            <a:ext cx="4486141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en-US" sz="1100" dirty="0">
                <a:solidFill>
                  <a:schemeClr val="tx2"/>
                </a:solidFill>
              </a:rPr>
              <a:t>Use cases. (</a:t>
            </a:r>
            <a:r>
              <a:rPr lang="ru-RU" sz="1100" dirty="0">
                <a:solidFill>
                  <a:schemeClr val="tx2"/>
                </a:solidFill>
              </a:rPr>
              <a:t>Действия пользователя)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en-US" sz="1100" dirty="0">
                <a:solidFill>
                  <a:schemeClr val="tx2"/>
                </a:solidFill>
              </a:rPr>
              <a:t>Backend processes reaction (</a:t>
            </a:r>
            <a:r>
              <a:rPr lang="ru-RU" sz="1100" dirty="0">
                <a:solidFill>
                  <a:schemeClr val="tx2"/>
                </a:solidFill>
              </a:rPr>
              <a:t>Реакция ИТ-ландшафта)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en-US" sz="1100" dirty="0">
                <a:solidFill>
                  <a:schemeClr val="tx2"/>
                </a:solidFill>
              </a:rPr>
              <a:t>Customer feeling &amp; emotions (</a:t>
            </a:r>
            <a:r>
              <a:rPr lang="ru-RU" sz="1100" dirty="0">
                <a:solidFill>
                  <a:schemeClr val="tx2"/>
                </a:solidFill>
              </a:rPr>
              <a:t>Ощущения клиента)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56222" y="2470324"/>
            <a:ext cx="478409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Описание продукта/сервиса, предлагаемого клиенту. Его возможности и параметры, значимые для клиента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Бизнес- и техно-возможности, на базе которых построен продукт</a:t>
            </a:r>
          </a:p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Платформы и продукты, реализующие требуемые </a:t>
            </a:r>
            <a:r>
              <a:rPr lang="ru-RU" sz="1400" dirty="0" smtClean="0">
                <a:solidFill>
                  <a:schemeClr val="tx2"/>
                </a:solidFill>
              </a:rPr>
              <a:t>техно-возможности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657203" y="158062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Используемые принципы и модели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5945214" y="1828765"/>
            <a:ext cx="4486141" cy="80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Доменная модель возможностей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Корпоративная модель данных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Архитектурный </a:t>
            </a:r>
            <a:r>
              <a:rPr lang="ru-RU" sz="1100" dirty="0" err="1">
                <a:solidFill>
                  <a:schemeClr val="tx2"/>
                </a:solidFill>
              </a:rPr>
              <a:t>фреймворк</a:t>
            </a:r>
            <a:endParaRPr lang="ru-RU" sz="1100" dirty="0">
              <a:solidFill>
                <a:schemeClr val="tx2"/>
              </a:solidFill>
            </a:endParaRP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Техническая политика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5657203" y="2610431"/>
            <a:ext cx="49884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Модель управления продуктом и матрица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37653639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4489" y="228600"/>
            <a:ext cx="9361487" cy="995363"/>
          </a:xfrm>
        </p:spPr>
        <p:txBody>
          <a:bodyPr/>
          <a:lstStyle/>
          <a:p>
            <a:r>
              <a:rPr lang="ru-RU" sz="2400" dirty="0"/>
              <a:t>чек-лист сложного коммунального элемента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ИТ-ландшафта</a:t>
            </a:r>
            <a:endParaRPr lang="ru-RU" sz="2400" dirty="0"/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84" name="Прямоугольник 83"/>
          <p:cNvSpPr/>
          <p:nvPr/>
        </p:nvSpPr>
        <p:spPr>
          <a:xfrm>
            <a:off x="256222" y="968557"/>
            <a:ext cx="92421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Если материал </a:t>
            </a:r>
            <a:r>
              <a:rPr lang="ru-RU" sz="1400" dirty="0" smtClean="0">
                <a:solidFill>
                  <a:schemeClr val="tx2"/>
                </a:solidFill>
              </a:rPr>
              <a:t>- </a:t>
            </a:r>
            <a:r>
              <a:rPr lang="ru-RU" sz="1400" b="1" dirty="0" smtClean="0">
                <a:solidFill>
                  <a:schemeClr val="tx2"/>
                </a:solidFill>
              </a:rPr>
              <a:t>концепция </a:t>
            </a:r>
            <a:r>
              <a:rPr lang="ru-RU" sz="1400" b="1" dirty="0">
                <a:solidFill>
                  <a:schemeClr val="tx2"/>
                </a:solidFill>
              </a:rPr>
              <a:t>продукта для сложного коммунального элемента ИТ-ландшафта, дополнительно </a:t>
            </a:r>
            <a:r>
              <a:rPr lang="ru-RU" sz="1400" dirty="0">
                <a:solidFill>
                  <a:schemeClr val="tx2"/>
                </a:solidFill>
              </a:rPr>
              <a:t>в материалах есть информация:</a:t>
            </a:r>
          </a:p>
        </p:txBody>
      </p:sp>
      <p:sp>
        <p:nvSpPr>
          <p:cNvPr id="85" name="Прямоугольник 84"/>
          <p:cNvSpPr/>
          <p:nvPr/>
        </p:nvSpPr>
        <p:spPr>
          <a:xfrm>
            <a:off x="256222" y="1580622"/>
            <a:ext cx="47840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Описание продукта по типу архитектуры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Описание связи с БП </a:t>
            </a:r>
            <a:r>
              <a:rPr lang="ru-RU" sz="1400" dirty="0" err="1">
                <a:solidFill>
                  <a:schemeClr val="tx2"/>
                </a:solidFill>
              </a:rPr>
              <a:t>back-end</a:t>
            </a:r>
            <a:r>
              <a:rPr lang="ru-RU" sz="1400" dirty="0">
                <a:solidFill>
                  <a:schemeClr val="tx2"/>
                </a:solidFill>
              </a:rPr>
              <a:t> (если применимо): </a:t>
            </a:r>
            <a:r>
              <a:rPr lang="ru-RU" sz="1400" dirty="0" err="1">
                <a:solidFill>
                  <a:schemeClr val="tx2"/>
                </a:solidFill>
              </a:rPr>
              <a:t>Client</a:t>
            </a:r>
            <a:r>
              <a:rPr lang="ru-RU" sz="1400" dirty="0">
                <a:solidFill>
                  <a:schemeClr val="tx2"/>
                </a:solidFill>
              </a:rPr>
              <a:t> </a:t>
            </a:r>
            <a:r>
              <a:rPr lang="ru-RU" sz="1400" dirty="0" err="1">
                <a:solidFill>
                  <a:schemeClr val="tx2"/>
                </a:solidFill>
              </a:rPr>
              <a:t>mgmt</a:t>
            </a:r>
            <a:r>
              <a:rPr lang="ru-RU" sz="1400" dirty="0">
                <a:solidFill>
                  <a:schemeClr val="tx2"/>
                </a:solidFill>
              </a:rPr>
              <a:t>., </a:t>
            </a:r>
            <a:r>
              <a:rPr lang="ru-RU" sz="1400" dirty="0" err="1">
                <a:solidFill>
                  <a:schemeClr val="tx2"/>
                </a:solidFill>
              </a:rPr>
              <a:t>Product</a:t>
            </a:r>
            <a:r>
              <a:rPr lang="ru-RU" sz="1400" dirty="0">
                <a:solidFill>
                  <a:schemeClr val="tx2"/>
                </a:solidFill>
              </a:rPr>
              <a:t> </a:t>
            </a:r>
            <a:r>
              <a:rPr lang="ru-RU" sz="1400" dirty="0" err="1">
                <a:solidFill>
                  <a:schemeClr val="tx2"/>
                </a:solidFill>
              </a:rPr>
              <a:t>mgmt</a:t>
            </a:r>
            <a:r>
              <a:rPr lang="ru-RU" sz="1400" dirty="0">
                <a:solidFill>
                  <a:schemeClr val="tx2"/>
                </a:solidFill>
              </a:rPr>
              <a:t>., </a:t>
            </a:r>
            <a:r>
              <a:rPr lang="ru-RU" sz="1400" dirty="0" err="1">
                <a:solidFill>
                  <a:schemeClr val="tx2"/>
                </a:solidFill>
              </a:rPr>
              <a:t>Order</a:t>
            </a:r>
            <a:r>
              <a:rPr lang="ru-RU" sz="1400" dirty="0">
                <a:solidFill>
                  <a:schemeClr val="tx2"/>
                </a:solidFill>
              </a:rPr>
              <a:t> </a:t>
            </a:r>
            <a:r>
              <a:rPr lang="ru-RU" sz="1400" dirty="0" err="1">
                <a:solidFill>
                  <a:schemeClr val="tx2"/>
                </a:solidFill>
              </a:rPr>
              <a:t>mgmt</a:t>
            </a:r>
            <a:r>
              <a:rPr lang="ru-RU" sz="1400" dirty="0">
                <a:solidFill>
                  <a:schemeClr val="tx2"/>
                </a:solidFill>
              </a:rPr>
              <a:t>. и др.</a:t>
            </a: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Описание зависимостей от процессов и элементов ИТ-ландшафта: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44233" y="2809691"/>
            <a:ext cx="4486141" cy="44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в части требований к решению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в части требования решений к окружению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5666439" y="158062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Обеспечение показателей качества: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5954450" y="1873369"/>
            <a:ext cx="29188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Производительность </a:t>
            </a:r>
            <a:r>
              <a:rPr lang="ru-RU" sz="1000" dirty="0" smtClean="0">
                <a:solidFill>
                  <a:schemeClr val="tx2"/>
                </a:solidFill>
              </a:rPr>
              <a:t/>
            </a:r>
            <a:br>
              <a:rPr lang="ru-RU" sz="1000" dirty="0" smtClean="0">
                <a:solidFill>
                  <a:schemeClr val="tx2"/>
                </a:solidFill>
              </a:rPr>
            </a:br>
            <a:r>
              <a:rPr lang="ru-RU" sz="1000" dirty="0" smtClean="0">
                <a:solidFill>
                  <a:schemeClr val="tx2"/>
                </a:solidFill>
              </a:rPr>
              <a:t>(</a:t>
            </a:r>
            <a:r>
              <a:rPr lang="en-US" sz="1000" dirty="0">
                <a:solidFill>
                  <a:schemeClr val="tx2"/>
                </a:solidFill>
              </a:rPr>
              <a:t>performance </a:t>
            </a:r>
            <a:r>
              <a:rPr lang="en-US" sz="1000" dirty="0" smtClean="0">
                <a:solidFill>
                  <a:schemeClr val="tx2"/>
                </a:solidFill>
              </a:rPr>
              <a:t>efficiency)</a:t>
            </a:r>
            <a:endParaRPr lang="ru-RU" sz="1000" dirty="0" smtClean="0">
              <a:solidFill>
                <a:schemeClr val="tx2"/>
              </a:solidFill>
            </a:endParaRP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Временные 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характеристики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time </a:t>
            </a:r>
            <a:r>
              <a:rPr lang="en-US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behavio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Использование ресурсов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resource utilization)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Потенциальные возможности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capacity)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Масштабируемость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scalability)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56222" y="3232582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Модель данных: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44233" y="3480725"/>
            <a:ext cx="4486141" cy="612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Используемые элементы КМД (</a:t>
            </a:r>
            <a:r>
              <a:rPr lang="en-US" sz="1100" dirty="0">
                <a:solidFill>
                  <a:schemeClr val="tx2"/>
                </a:solidFill>
              </a:rPr>
              <a:t>Client profile data model, Order data model, Product data model, Event data model </a:t>
            </a:r>
            <a:r>
              <a:rPr lang="ru-RU" sz="1100" dirty="0">
                <a:solidFill>
                  <a:schemeClr val="tx2"/>
                </a:solidFill>
              </a:rPr>
              <a:t>и др.)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Частные (</a:t>
            </a:r>
            <a:r>
              <a:rPr lang="en-US" sz="1100" dirty="0">
                <a:solidFill>
                  <a:schemeClr val="tx2"/>
                </a:solidFill>
              </a:rPr>
              <a:t>custom) </a:t>
            </a:r>
            <a:r>
              <a:rPr lang="ru-RU" sz="1100" dirty="0">
                <a:solidFill>
                  <a:schemeClr val="tx2"/>
                </a:solidFill>
              </a:rPr>
              <a:t>элементы модели данных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56222" y="4075961"/>
            <a:ext cx="478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Архитектурное представления решения: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544233" y="4324104"/>
            <a:ext cx="4486141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Архитектурная схема;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Функциональная схема;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Диаграмма взаимодействия;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Интерфейсы взаимодействия;</a:t>
            </a:r>
          </a:p>
          <a:p>
            <a:pPr marL="285750" indent="-28575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100" dirty="0">
                <a:solidFill>
                  <a:schemeClr val="tx2"/>
                </a:solidFill>
              </a:rPr>
              <a:t>Схема интеграции с элементами ландшафта.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8534691" y="1859189"/>
            <a:ext cx="2499167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Совместимость (</a:t>
            </a:r>
            <a:r>
              <a:rPr lang="en-US" sz="1000" dirty="0">
                <a:solidFill>
                  <a:schemeClr val="tx2"/>
                </a:solidFill>
              </a:rPr>
              <a:t>compatibility</a:t>
            </a:r>
            <a:r>
              <a:rPr lang="en-US" sz="1000" dirty="0" smtClean="0">
                <a:solidFill>
                  <a:schemeClr val="tx2"/>
                </a:solidFill>
              </a:rPr>
              <a:t>)</a:t>
            </a:r>
            <a:endParaRPr lang="ru-RU" sz="1000" dirty="0" smtClean="0">
              <a:solidFill>
                <a:schemeClr val="tx2"/>
              </a:solidFill>
            </a:endParaRP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Сосуществование (</a:t>
            </a: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co-existence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Функциональная совместимость (</a:t>
            </a: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интероперабельность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(</a:t>
            </a: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interoperability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5954450" y="2716872"/>
            <a:ext cx="291882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Удобство использования (</a:t>
            </a:r>
            <a:r>
              <a:rPr lang="en-US" sz="1000" dirty="0">
                <a:solidFill>
                  <a:schemeClr val="tx2"/>
                </a:solidFill>
              </a:rPr>
              <a:t>usability)</a:t>
            </a:r>
            <a:r>
              <a:rPr lang="ru-RU" sz="1000" dirty="0" smtClean="0">
                <a:solidFill>
                  <a:schemeClr val="tx2"/>
                </a:solidFill>
              </a:rPr>
              <a:t>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Управляемость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controllability)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Защищенность от ошибок пользователя </a:t>
            </a:r>
            <a:r>
              <a:rPr lang="ru-RU" sz="7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  <a:br>
              <a:rPr lang="ru-RU" sz="7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ru-RU" sz="7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user error protection)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Эстетика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user interface aesthetics)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534691" y="2716872"/>
            <a:ext cx="252095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Надежность (</a:t>
            </a:r>
            <a:r>
              <a:rPr lang="en-US" sz="1000" dirty="0">
                <a:solidFill>
                  <a:schemeClr val="tx2"/>
                </a:solidFill>
              </a:rPr>
              <a:t>reliability</a:t>
            </a:r>
            <a:r>
              <a:rPr lang="en-US" sz="1000" dirty="0" smtClean="0">
                <a:solidFill>
                  <a:schemeClr val="tx2"/>
                </a:solidFill>
              </a:rPr>
              <a:t>)</a:t>
            </a:r>
            <a:r>
              <a:rPr lang="ru-RU" sz="1000" dirty="0" smtClean="0">
                <a:solidFill>
                  <a:schemeClr val="tx2"/>
                </a:solidFill>
              </a:rPr>
              <a:t>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Отказоустойчивость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fault tolerance)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Восстанавливаемость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recoverability)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Готовность/Доступность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availability)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954450" y="3424952"/>
            <a:ext cx="291882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Защищенность (</a:t>
            </a:r>
            <a:r>
              <a:rPr lang="en-US" sz="1000" dirty="0" smtClean="0">
                <a:solidFill>
                  <a:schemeClr val="tx2"/>
                </a:solidFill>
              </a:rPr>
              <a:t>security)</a:t>
            </a:r>
            <a:r>
              <a:rPr lang="ru-RU" sz="1000" dirty="0" smtClean="0">
                <a:solidFill>
                  <a:schemeClr val="tx2"/>
                </a:solidFill>
              </a:rPr>
              <a:t>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Целостность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integrity)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Неподдельность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non-repudiation)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Отслеживаемость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accountability)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Подлинность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authenticity)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8534690" y="3424952"/>
            <a:ext cx="261778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Сопровождаемость (</a:t>
            </a:r>
            <a:r>
              <a:rPr lang="en-US" sz="1000" dirty="0" smtClean="0">
                <a:solidFill>
                  <a:schemeClr val="tx2"/>
                </a:solidFill>
              </a:rPr>
              <a:t>maintainability)</a:t>
            </a:r>
            <a:r>
              <a:rPr lang="ru-RU" sz="1000" dirty="0" smtClean="0">
                <a:solidFill>
                  <a:schemeClr val="tx2"/>
                </a:solidFill>
              </a:rPr>
              <a:t>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Наблюдаемость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observability)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Анализируемость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analyzability)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Модульность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modularity)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Возможность многократного использования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reusability)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Тестируемость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testability)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5666439" y="5270599"/>
            <a:ext cx="577391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Получение обратной связи, анализ и влияние на </a:t>
            </a:r>
            <a:r>
              <a:rPr lang="ru-RU" sz="1400" dirty="0" err="1">
                <a:solidFill>
                  <a:schemeClr val="tx2"/>
                </a:solidFill>
              </a:rPr>
              <a:t>backlog</a:t>
            </a:r>
            <a:endParaRPr lang="ru-RU" sz="1400" dirty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buFont typeface="Beeline Sans" panose="020B0500040202020204" pitchFamily="34" charset="-52"/>
              <a:buChar char="☐"/>
            </a:pPr>
            <a:r>
              <a:rPr lang="ru-RU" sz="1400" dirty="0">
                <a:solidFill>
                  <a:schemeClr val="tx2"/>
                </a:solidFill>
              </a:rPr>
              <a:t>Компетенции в команде и привлекаемая экспертиза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5954450" y="4399261"/>
            <a:ext cx="2918821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Переносимость (</a:t>
            </a:r>
            <a:r>
              <a:rPr lang="en-US" sz="1000" dirty="0" smtClean="0">
                <a:solidFill>
                  <a:schemeClr val="tx2"/>
                </a:solidFill>
              </a:rPr>
              <a:t>portability)</a:t>
            </a:r>
            <a:r>
              <a:rPr lang="ru-RU" sz="1000" dirty="0" smtClean="0">
                <a:solidFill>
                  <a:schemeClr val="tx2"/>
                </a:solidFill>
              </a:rPr>
              <a:t>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Адаптируемость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adaptability)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Устанавливаемость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installability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Взаимозаменяемость (</a:t>
            </a:r>
            <a:r>
              <a:rPr lang="en-US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replaceability</a:t>
            </a:r>
            <a:r>
              <a:rPr lang="en-US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8534690" y="4399261"/>
            <a:ext cx="261778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spcBef>
                <a:spcPts val="100"/>
              </a:spcBef>
              <a:buFont typeface="Beeline Sans" panose="020B0500040202020204" pitchFamily="34" charset="-52"/>
              <a:buChar char="☐"/>
            </a:pPr>
            <a:r>
              <a:rPr lang="ru-RU" sz="1000" dirty="0">
                <a:solidFill>
                  <a:schemeClr val="tx2"/>
                </a:solidFill>
              </a:rPr>
              <a:t>Организация жизненного цикла</a:t>
            </a:r>
            <a:r>
              <a:rPr lang="ru-RU" sz="1000" dirty="0" smtClean="0">
                <a:solidFill>
                  <a:schemeClr val="tx2"/>
                </a:solidFill>
              </a:rPr>
              <a:t>: 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Общее описание процесса CI/CD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Общее описание решаемых задач </a:t>
            </a: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DevOps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Описание процесса </a:t>
            </a: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task</a:t>
            </a: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mgmt</a:t>
            </a:r>
            <a:endParaRPr lang="ru-RU" sz="7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Описание тестовой модели</a:t>
            </a:r>
          </a:p>
          <a:p>
            <a:pPr marL="396000" indent="-144000">
              <a:buFont typeface="Beeline Sans" panose="020B0500040202020204" pitchFamily="34" charset="-52"/>
              <a:buChar char="☐"/>
            </a:pPr>
            <a:r>
              <a:rPr lang="ru-RU" sz="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Описание процесса поддержки и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40598250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367920" y="2375452"/>
            <a:ext cx="10793793" cy="3299791"/>
          </a:xfrm>
          <a:prstGeom prst="roundRect">
            <a:avLst>
              <a:gd name="adj" fmla="val 7025"/>
            </a:avLst>
          </a:prstGeom>
          <a:solidFill>
            <a:schemeClr val="bg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10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smtClean="0"/>
              <a:t>экспертная </a:t>
            </a:r>
            <a:r>
              <a:rPr lang="ru-RU" sz="2400" dirty="0"/>
              <a:t>оценка проекта решения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7702643" y="223243"/>
            <a:ext cx="350520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слайд </a:t>
            </a:r>
            <a:r>
              <a:rPr lang="ru-RU" sz="1200" b="1" dirty="0">
                <a:solidFill>
                  <a:schemeClr val="tx2"/>
                </a:solidFill>
              </a:rPr>
              <a:t>удалить из итоговой презентации</a:t>
            </a:r>
          </a:p>
        </p:txBody>
      </p:sp>
      <p:sp>
        <p:nvSpPr>
          <p:cNvPr id="61" name="Прямоугольник 60"/>
          <p:cNvSpPr/>
          <p:nvPr/>
        </p:nvSpPr>
        <p:spPr>
          <a:xfrm>
            <a:off x="256221" y="968557"/>
            <a:ext cx="1063706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В рамках подготовки проекта решения к защите на Архитектурном комитете обязательно должна проводиться предварительная экспертная оценка решения. Экспертная оценка проводится группой экспертов в предметной области (домене) решения, в ходе которой привлекаемые эксперты дают общую оценку решения, свои замечания и рекомендации. В рамках экспертной оценки проводится позиционирование решения в ФДМ и согласование изменений в КМД. Результаты экспертной оценки должны быть приложены к проекту решения при выходе на защиту:</a:t>
            </a:r>
          </a:p>
        </p:txBody>
      </p:sp>
      <p:sp>
        <p:nvSpPr>
          <p:cNvPr id="12" name="Полилиния 11"/>
          <p:cNvSpPr/>
          <p:nvPr/>
        </p:nvSpPr>
        <p:spPr>
          <a:xfrm>
            <a:off x="367920" y="2375452"/>
            <a:ext cx="10793793" cy="3067986"/>
          </a:xfrm>
          <a:custGeom>
            <a:avLst/>
            <a:gdLst>
              <a:gd name="connsiteX0" fmla="*/ 231810 w 10793793"/>
              <a:gd name="connsiteY0" fmla="*/ 0 h 3067986"/>
              <a:gd name="connsiteX1" fmla="*/ 10561983 w 10793793"/>
              <a:gd name="connsiteY1" fmla="*/ 0 h 3067986"/>
              <a:gd name="connsiteX2" fmla="*/ 10793793 w 10793793"/>
              <a:gd name="connsiteY2" fmla="*/ 231810 h 3067986"/>
              <a:gd name="connsiteX3" fmla="*/ 10793793 w 10793793"/>
              <a:gd name="connsiteY3" fmla="*/ 734418 h 3067986"/>
              <a:gd name="connsiteX4" fmla="*/ 10775577 w 10793793"/>
              <a:gd name="connsiteY4" fmla="*/ 644192 h 3067986"/>
              <a:gd name="connsiteX5" fmla="*/ 10561984 w 10793793"/>
              <a:gd name="connsiteY5" fmla="*/ 502613 h 3067986"/>
              <a:gd name="connsiteX6" fmla="*/ 231811 w 10793793"/>
              <a:gd name="connsiteY6" fmla="*/ 502613 h 3067986"/>
              <a:gd name="connsiteX7" fmla="*/ 1 w 10793793"/>
              <a:gd name="connsiteY7" fmla="*/ 734423 h 3067986"/>
              <a:gd name="connsiteX8" fmla="*/ 1 w 10793793"/>
              <a:gd name="connsiteY8" fmla="*/ 3067986 h 3067986"/>
              <a:gd name="connsiteX9" fmla="*/ 0 w 10793793"/>
              <a:gd name="connsiteY9" fmla="*/ 3067981 h 3067986"/>
              <a:gd name="connsiteX10" fmla="*/ 0 w 10793793"/>
              <a:gd name="connsiteY10" fmla="*/ 231810 h 3067986"/>
              <a:gd name="connsiteX11" fmla="*/ 231810 w 10793793"/>
              <a:gd name="connsiteY11" fmla="*/ 0 h 3067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793793" h="3067986">
                <a:moveTo>
                  <a:pt x="231810" y="0"/>
                </a:moveTo>
                <a:lnTo>
                  <a:pt x="10561983" y="0"/>
                </a:lnTo>
                <a:cubicBezTo>
                  <a:pt x="10690008" y="0"/>
                  <a:pt x="10793793" y="103785"/>
                  <a:pt x="10793793" y="231810"/>
                </a:cubicBezTo>
                <a:lnTo>
                  <a:pt x="10793793" y="734418"/>
                </a:lnTo>
                <a:lnTo>
                  <a:pt x="10775577" y="644192"/>
                </a:lnTo>
                <a:cubicBezTo>
                  <a:pt x="10740386" y="560992"/>
                  <a:pt x="10658003" y="502613"/>
                  <a:pt x="10561984" y="502613"/>
                </a:cubicBezTo>
                <a:lnTo>
                  <a:pt x="231811" y="502613"/>
                </a:lnTo>
                <a:cubicBezTo>
                  <a:pt x="103786" y="502613"/>
                  <a:pt x="1" y="606398"/>
                  <a:pt x="1" y="734423"/>
                </a:cubicBezTo>
                <a:lnTo>
                  <a:pt x="1" y="3067986"/>
                </a:lnTo>
                <a:lnTo>
                  <a:pt x="0" y="3067981"/>
                </a:lnTo>
                <a:lnTo>
                  <a:pt x="0" y="231810"/>
                </a:lnTo>
                <a:cubicBezTo>
                  <a:pt x="0" y="103785"/>
                  <a:pt x="103785" y="0"/>
                  <a:pt x="231810" y="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  <a:effectLst/>
        </p:spPr>
        <p:txBody>
          <a:bodyPr rot="0" spcFirstLastPara="0" vertOverflow="overflow" horzOverflow="overflow" vert="horz" wrap="squar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817282"/>
              </p:ext>
            </p:extLst>
          </p:nvPr>
        </p:nvGraphicFramePr>
        <p:xfrm>
          <a:off x="728282" y="3032851"/>
          <a:ext cx="10433431" cy="25344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05482">
                  <a:extLst>
                    <a:ext uri="{9D8B030D-6E8A-4147-A177-3AD203B41FA5}">
                      <a16:colId xmlns:a16="http://schemas.microsoft.com/office/drawing/2014/main" val="303196707"/>
                    </a:ext>
                  </a:extLst>
                </a:gridCol>
                <a:gridCol w="3468968">
                  <a:extLst>
                    <a:ext uri="{9D8B030D-6E8A-4147-A177-3AD203B41FA5}">
                      <a16:colId xmlns:a16="http://schemas.microsoft.com/office/drawing/2014/main" val="824440400"/>
                    </a:ext>
                  </a:extLst>
                </a:gridCol>
                <a:gridCol w="3958981">
                  <a:extLst>
                    <a:ext uri="{9D8B030D-6E8A-4147-A177-3AD203B41FA5}">
                      <a16:colId xmlns:a16="http://schemas.microsoft.com/office/drawing/2014/main" val="1727201131"/>
                    </a:ext>
                  </a:extLst>
                </a:gridCol>
              </a:tblGrid>
              <a:tr h="4896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название подразделения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/ 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команды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ФИО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должность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ФИО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должность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819829"/>
                  </a:ext>
                </a:extLst>
              </a:tr>
              <a:tr h="2880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90948"/>
                  </a:ext>
                </a:extLst>
              </a:tr>
              <a:tr h="489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Потребители</a:t>
                      </a:r>
                      <a:r>
                        <a:rPr lang="ru-RU" sz="1300" b="0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: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возможные потребители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если применимо</a:t>
                      </a: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ФИО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должность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ФИО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должность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076157"/>
                  </a:ext>
                </a:extLst>
              </a:tr>
              <a:tr h="2880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382262"/>
                  </a:ext>
                </a:extLst>
              </a:tr>
              <a:tr h="6912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Корпоративная архитектура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предварительная оценка проекта решения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ФИО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должность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ФИО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, 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&lt;</a:t>
                      </a:r>
                      <a:r>
                        <a:rPr lang="ru-RU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должность</a:t>
                      </a:r>
                      <a:r>
                        <a:rPr lang="en-US" sz="13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+mn-cs"/>
                        </a:rPr>
                        <a:t>&gt;</a:t>
                      </a: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043113"/>
                  </a:ext>
                </a:extLst>
              </a:tr>
              <a:tr h="2880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300" b="0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86402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48363"/>
                  </a:ext>
                </a:extLst>
              </a:tr>
            </a:tbl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728282" y="2477072"/>
            <a:ext cx="21242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2"/>
                </a:solidFill>
              </a:rPr>
              <a:t>Подразделение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3739839" y="2477072"/>
            <a:ext cx="29193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2"/>
                </a:solidFill>
              </a:rPr>
              <a:t>Привлекаемые эксперты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7705552" y="2477072"/>
            <a:ext cx="29193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2"/>
                </a:solidFill>
              </a:rPr>
              <a:t>Экспертная оценка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60364" y="3617843"/>
            <a:ext cx="10801349" cy="0"/>
          </a:xfrm>
          <a:prstGeom prst="line">
            <a:avLst/>
          </a:prstGeom>
          <a:ln>
            <a:solidFill>
              <a:schemeClr val="bg1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60364" y="4472608"/>
            <a:ext cx="10801349" cy="0"/>
          </a:xfrm>
          <a:prstGeom prst="line">
            <a:avLst/>
          </a:prstGeom>
          <a:ln>
            <a:solidFill>
              <a:schemeClr val="bg1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60364" y="5665303"/>
            <a:ext cx="10801349" cy="0"/>
          </a:xfrm>
          <a:prstGeom prst="line">
            <a:avLst/>
          </a:prstGeom>
          <a:ln>
            <a:solidFill>
              <a:schemeClr val="bg1">
                <a:lumMod val="8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538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11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название </a:t>
            </a:r>
            <a:r>
              <a:rPr lang="ru-RU" dirty="0"/>
              <a:t>доклада</a:t>
            </a:r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988853"/>
            <a:ext cx="10009112" cy="4349266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hangingPunct="1"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Материалы заседания Архитектурного комитета ПАО </a:t>
            </a: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«ВымпелКом»</a:t>
            </a:r>
            <a:endParaRPr lang="ru-RU" altLang="ru-RU" sz="18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hangingPunct="1"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«</a:t>
            </a:r>
            <a:r>
              <a:rPr lang="en-US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___</a:t>
            </a: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» ________ </a:t>
            </a: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2022 </a:t>
            </a: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года</a:t>
            </a:r>
          </a:p>
          <a:p>
            <a:pPr hangingPunct="1">
              <a:spcBef>
                <a:spcPct val="0"/>
              </a:spcBef>
              <a:buClr>
                <a:srgbClr val="ED1C24"/>
              </a:buClr>
            </a:pPr>
            <a:endParaRPr lang="ru-RU" altLang="ru-RU" sz="18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hangingPunct="1"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 </a:t>
            </a: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вопросу </a:t>
            </a:r>
          </a:p>
          <a:p>
            <a:pPr hangingPunct="1">
              <a:spcBef>
                <a:spcPct val="0"/>
              </a:spcBef>
              <a:buClr>
                <a:srgbClr val="ED1C24"/>
              </a:buClr>
            </a:pPr>
            <a:endParaRPr lang="ru-RU" altLang="ru-RU" sz="1800" dirty="0" smtClean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8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__[название доклада]______повестки </a:t>
            </a:r>
            <a: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дня</a:t>
            </a:r>
            <a:b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endParaRPr lang="ru-RU" altLang="ru-RU" sz="1800" b="1" dirty="0" smtClean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hangingPunct="1">
              <a:spcBef>
                <a:spcPct val="0"/>
              </a:spcBef>
              <a:buClr>
                <a:srgbClr val="ED1C24"/>
              </a:buClr>
            </a:pPr>
            <a:endParaRPr lang="ru-RU" altLang="ru-RU" sz="18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Докладчик: </a:t>
            </a: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b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8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[ФИО</a:t>
            </a:r>
            <a: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]</a:t>
            </a:r>
            <a:b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[должность </a:t>
            </a: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докладчика]</a:t>
            </a:r>
          </a:p>
        </p:txBody>
      </p:sp>
    </p:spTree>
    <p:extLst>
      <p:ext uri="{BB962C8B-B14F-4D97-AF65-F5344CB8AC3E}">
        <p14:creationId xmlns:p14="http://schemas.microsoft.com/office/powerpoint/2010/main" val="14933494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12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запрашиваемый </a:t>
            </a:r>
            <a:r>
              <a:rPr lang="ru-RU" dirty="0"/>
              <a:t>проект решения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5"/>
            <a:ext cx="3701791" cy="53183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Описать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, что предлагается на АК </a:t>
            </a:r>
            <a:r>
              <a:rPr lang="ru-RU" altLang="ru-RU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утвердить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537771"/>
            <a:ext cx="6908654" cy="1944216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Рассмотреть и утвердить концепцию </a:t>
            </a:r>
            <a:r>
              <a:rPr lang="ru-RU" altLang="ru-RU" sz="18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Интеграционного </a:t>
            </a:r>
            <a:r>
              <a:rPr lang="ru-RU" altLang="ru-RU" sz="1800" b="1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Домена</a:t>
            </a: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:</a:t>
            </a:r>
            <a:endParaRPr lang="ru-RU" altLang="ru-RU" sz="18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AC0879D-C166-4619-91D2-178A7E8CFBDE}"/>
              </a:ext>
            </a:extLst>
          </p:cNvPr>
          <p:cNvCxnSpPr/>
          <p:nvPr/>
        </p:nvCxnSpPr>
        <p:spPr>
          <a:xfrm>
            <a:off x="360363" y="3190629"/>
            <a:ext cx="3350450" cy="0"/>
          </a:xfrm>
          <a:prstGeom prst="line">
            <a:avLst/>
          </a:prstGeom>
          <a:ln w="31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AC0879D-C166-4619-91D2-178A7E8CFBDE}"/>
              </a:ext>
            </a:extLst>
          </p:cNvPr>
          <p:cNvCxnSpPr/>
          <p:nvPr/>
        </p:nvCxnSpPr>
        <p:spPr>
          <a:xfrm>
            <a:off x="4085813" y="3190629"/>
            <a:ext cx="3350450" cy="0"/>
          </a:xfrm>
          <a:prstGeom prst="line">
            <a:avLst/>
          </a:prstGeom>
          <a:ln w="31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AC0879D-C166-4619-91D2-178A7E8CFBDE}"/>
              </a:ext>
            </a:extLst>
          </p:cNvPr>
          <p:cNvCxnSpPr/>
          <p:nvPr/>
        </p:nvCxnSpPr>
        <p:spPr>
          <a:xfrm>
            <a:off x="7811263" y="3190629"/>
            <a:ext cx="3350450" cy="0"/>
          </a:xfrm>
          <a:prstGeom prst="line">
            <a:avLst/>
          </a:prstGeom>
          <a:ln w="31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252297" y="2621309"/>
            <a:ext cx="558138" cy="465137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sz="3600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1</a:t>
            </a:r>
            <a:endParaRPr lang="ru-RU" sz="36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3974344" y="2621309"/>
            <a:ext cx="558138" cy="465137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sz="3600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2</a:t>
            </a:r>
            <a:endParaRPr lang="ru-RU" sz="36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7697390" y="2621309"/>
            <a:ext cx="558138" cy="465137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sz="3600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3</a:t>
            </a:r>
            <a:endParaRPr lang="ru-RU" sz="36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3227423"/>
            <a:ext cx="2624989" cy="973439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Утвердить базовые сущности 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7697390" y="3227423"/>
            <a:ext cx="2624989" cy="973439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Утвердить </a:t>
            </a:r>
            <a:b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архитектуру</a:t>
            </a:r>
            <a:endParaRPr lang="ru-RU" altLang="ru-RU" sz="18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3974344" y="3227423"/>
            <a:ext cx="2624989" cy="973439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8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Утвердить </a:t>
            </a: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800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концепцию </a:t>
            </a:r>
            <a:endParaRPr lang="ru-RU" altLang="ru-RU" sz="18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3018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13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</a:t>
            </a:r>
            <a:r>
              <a:rPr lang="ru-RU" dirty="0"/>
              <a:t>задачи и предметной области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5"/>
            <a:ext cx="6391920" cy="53183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Быстро </a:t>
            </a:r>
            <a:r>
              <a:rPr lang="ru-RU" altLang="ru-RU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погрузить слушателя в контекст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и проблематику</a:t>
            </a: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377859" y="1371564"/>
            <a:ext cx="3732323" cy="4511075"/>
          </a:xfrm>
          <a:prstGeom prst="roundRect">
            <a:avLst>
              <a:gd name="adj" fmla="val 7025"/>
            </a:avLst>
          </a:prstGeom>
          <a:solidFill>
            <a:schemeClr val="bg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>
              <a:latin typeface="+mj-lt"/>
            </a:endParaRPr>
          </a:p>
        </p:txBody>
      </p:sp>
      <p:sp>
        <p:nvSpPr>
          <p:cNvPr id="18" name="Полилиния 17"/>
          <p:cNvSpPr/>
          <p:nvPr/>
        </p:nvSpPr>
        <p:spPr>
          <a:xfrm>
            <a:off x="377859" y="5534754"/>
            <a:ext cx="3732323" cy="347886"/>
          </a:xfrm>
          <a:custGeom>
            <a:avLst/>
            <a:gdLst>
              <a:gd name="connsiteX0" fmla="*/ 0 w 3732323"/>
              <a:gd name="connsiteY0" fmla="*/ 0 h 347886"/>
              <a:gd name="connsiteX1" fmla="*/ 262196 w 3732323"/>
              <a:gd name="connsiteY1" fmla="*/ 262196 h 347886"/>
              <a:gd name="connsiteX2" fmla="*/ 3470127 w 3732323"/>
              <a:gd name="connsiteY2" fmla="*/ 262196 h 347886"/>
              <a:gd name="connsiteX3" fmla="*/ 3732323 w 3732323"/>
              <a:gd name="connsiteY3" fmla="*/ 0 h 347886"/>
              <a:gd name="connsiteX4" fmla="*/ 3732323 w 3732323"/>
              <a:gd name="connsiteY4" fmla="*/ 85690 h 347886"/>
              <a:gd name="connsiteX5" fmla="*/ 3470127 w 3732323"/>
              <a:gd name="connsiteY5" fmla="*/ 347886 h 347886"/>
              <a:gd name="connsiteX6" fmla="*/ 262196 w 3732323"/>
              <a:gd name="connsiteY6" fmla="*/ 347886 h 347886"/>
              <a:gd name="connsiteX7" fmla="*/ 0 w 3732323"/>
              <a:gd name="connsiteY7" fmla="*/ 85690 h 34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2323" h="347886">
                <a:moveTo>
                  <a:pt x="0" y="0"/>
                </a:moveTo>
                <a:cubicBezTo>
                  <a:pt x="0" y="144807"/>
                  <a:pt x="117389" y="262196"/>
                  <a:pt x="262196" y="262196"/>
                </a:cubicBezTo>
                <a:lnTo>
                  <a:pt x="3470127" y="262196"/>
                </a:lnTo>
                <a:cubicBezTo>
                  <a:pt x="3614934" y="262196"/>
                  <a:pt x="3732323" y="144807"/>
                  <a:pt x="3732323" y="0"/>
                </a:cubicBezTo>
                <a:lnTo>
                  <a:pt x="3732323" y="85690"/>
                </a:lnTo>
                <a:cubicBezTo>
                  <a:pt x="3732323" y="230497"/>
                  <a:pt x="3614934" y="347886"/>
                  <a:pt x="3470127" y="347886"/>
                </a:cubicBezTo>
                <a:lnTo>
                  <a:pt x="262196" y="347886"/>
                </a:lnTo>
                <a:cubicBezTo>
                  <a:pt x="117389" y="347886"/>
                  <a:pt x="0" y="230497"/>
                  <a:pt x="0" y="8569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  <a:effectLst/>
        </p:spPr>
        <p:txBody>
          <a:bodyPr rot="0" spcFirstLastPara="0" vertOverflow="overflow" horzOverflow="overflow" vert="horz" wrap="square" lIns="0" tIns="44667" rIns="89333" bIns="446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ru-RU" sz="1604" dirty="0" err="1">
              <a:latin typeface="+mj-lt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55331" y="1544154"/>
            <a:ext cx="33773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+mj-lt"/>
                <a:cs typeface="Calibri" panose="020F0502020204030204" pitchFamily="34" charset="0"/>
              </a:rPr>
              <a:t>Общее описание </a:t>
            </a:r>
            <a:r>
              <a:rPr lang="ru-RU" sz="1600" dirty="0" smtClean="0">
                <a:latin typeface="+mj-lt"/>
                <a:cs typeface="Calibri" panose="020F0502020204030204" pitchFamily="34" charset="0"/>
              </a:rPr>
              <a:t>задачи предметной </a:t>
            </a:r>
            <a:r>
              <a:rPr lang="ru-RU" sz="1600" dirty="0">
                <a:latin typeface="+mj-lt"/>
                <a:cs typeface="Calibri" panose="020F0502020204030204" pitchFamily="34" charset="0"/>
              </a:rPr>
              <a:t>области</a:t>
            </a:r>
          </a:p>
          <a:p>
            <a:r>
              <a:rPr lang="ru-RU" sz="1600" dirty="0" smtClean="0">
                <a:latin typeface="+mj-lt"/>
                <a:cs typeface="Calibri" panose="020F0502020204030204" pitchFamily="34" charset="0"/>
              </a:rPr>
              <a:t> </a:t>
            </a:r>
            <a:br>
              <a:rPr lang="ru-RU" sz="1600" dirty="0" smtClean="0">
                <a:latin typeface="+mj-lt"/>
                <a:cs typeface="Calibri" panose="020F0502020204030204" pitchFamily="34" charset="0"/>
              </a:rPr>
            </a:br>
            <a:endParaRPr lang="ru-RU" sz="1600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900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Прямоугольник 52"/>
          <p:cNvSpPr/>
          <p:nvPr/>
        </p:nvSpPr>
        <p:spPr>
          <a:xfrm>
            <a:off x="277238" y="3324765"/>
            <a:ext cx="1869220" cy="913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77238" y="1746493"/>
            <a:ext cx="1138608" cy="913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</a:t>
            </a:r>
            <a:r>
              <a:rPr lang="ru-RU" dirty="0" smtClean="0"/>
              <a:t>азначение </a:t>
            </a:r>
            <a:r>
              <a:rPr lang="ru-RU" dirty="0"/>
              <a:t>и область применения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5"/>
            <a:ext cx="8938630" cy="53183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Описать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, назначение и область применения, чтобы быстро 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спозиционировать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задачу (решение) во всех применимых системах координат, очертить ее место , ответственность и границы относительно других.</a:t>
            </a:r>
          </a:p>
        </p:txBody>
      </p:sp>
      <p:sp>
        <p:nvSpPr>
          <p:cNvPr id="43" name="Прямоугольник 42"/>
          <p:cNvSpPr/>
          <p:nvPr/>
        </p:nvSpPr>
        <p:spPr>
          <a:xfrm>
            <a:off x="271875" y="1616601"/>
            <a:ext cx="4418112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b="1" dirty="0" smtClean="0"/>
              <a:t>назначение:</a:t>
            </a:r>
          </a:p>
          <a:p>
            <a:pPr>
              <a:spcBef>
                <a:spcPts val="600"/>
              </a:spcBef>
            </a:pPr>
            <a:r>
              <a:rPr lang="ru-RU" sz="1600" b="1" dirty="0"/>
              <a:t>Предоставление и обеспечение развития возможностей для осуществления эффективной интеграции ИТ-систем (включая внешние) на ИТ-ландшафте.</a:t>
            </a:r>
          </a:p>
        </p:txBody>
      </p:sp>
      <p:sp>
        <p:nvSpPr>
          <p:cNvPr id="44" name="Прямоугольник 43"/>
          <p:cNvSpPr/>
          <p:nvPr/>
        </p:nvSpPr>
        <p:spPr>
          <a:xfrm>
            <a:off x="271875" y="3196590"/>
            <a:ext cx="4418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b="1" dirty="0" smtClean="0"/>
              <a:t>область применения: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271875" y="3542478"/>
            <a:ext cx="6197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>
                    <a:lumMod val="85000"/>
                  </a:schemeClr>
                </a:solidFill>
              </a:rPr>
              <a:t>O1</a:t>
            </a:r>
            <a:endParaRPr lang="ru-RU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839214" y="3593133"/>
            <a:ext cx="37427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Процессы проектирования (включая согласование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и </a:t>
            </a:r>
            <a:r>
              <a:rPr lang="ru-RU" sz="1050" dirty="0"/>
              <a:t>утверждение архитектуры интеграции), разработки, тестирования, внедрения, эксплуатации, поддержки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и </a:t>
            </a:r>
            <a:r>
              <a:rPr lang="ru-RU" sz="1050" dirty="0"/>
              <a:t>сопровождения ИТ-продуктов. </a:t>
            </a:r>
          </a:p>
        </p:txBody>
      </p:sp>
      <p:sp>
        <p:nvSpPr>
          <p:cNvPr id="49" name="Прямоугольник 48"/>
          <p:cNvSpPr/>
          <p:nvPr/>
        </p:nvSpPr>
        <p:spPr>
          <a:xfrm>
            <a:off x="271875" y="4471874"/>
            <a:ext cx="7220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lang="ru-RU" sz="2800" b="1" dirty="0" smtClean="0">
                <a:solidFill>
                  <a:schemeClr val="bg1">
                    <a:lumMod val="85000"/>
                  </a:schemeClr>
                </a:solidFill>
              </a:rPr>
              <a:t>2</a:t>
            </a:r>
            <a:endParaRPr lang="ru-RU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839214" y="4522529"/>
            <a:ext cx="32358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Технологические среды ИТ-ландшафта: WORKSPACE, TRY, PROD</a:t>
            </a:r>
          </a:p>
        </p:txBody>
      </p:sp>
      <p:sp>
        <p:nvSpPr>
          <p:cNvPr id="51" name="Прямоугольник 50"/>
          <p:cNvSpPr/>
          <p:nvPr/>
        </p:nvSpPr>
        <p:spPr>
          <a:xfrm>
            <a:off x="271875" y="5075696"/>
            <a:ext cx="7220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lang="ru-RU" sz="2800" b="1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ru-RU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839214" y="5126351"/>
            <a:ext cx="323582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Пользователи: Продуктовые команды группы, Бизнес-партнеры (владельцы внешних ИТ-систем), подразделения </a:t>
            </a:r>
            <a:r>
              <a:rPr lang="ru-RU" sz="1050" dirty="0" err="1"/>
              <a:t>Governance</a:t>
            </a:r>
            <a:r>
              <a:rPr lang="ru-RU" sz="1050" dirty="0"/>
              <a:t> (EA, ИБ)</a:t>
            </a:r>
          </a:p>
          <a:p>
            <a:endParaRPr lang="ru-RU" sz="105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948318" y="1616601"/>
            <a:ext cx="5945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7"/>
              </a:spcBef>
            </a:pPr>
            <a:r>
              <a:rPr lang="ru-RU" sz="1400" dirty="0">
                <a:solidFill>
                  <a:schemeClr val="tx2"/>
                </a:solidFill>
              </a:rPr>
              <a:t>Возможности домена, основываются на корпоративном стандарте интеграции, реализуют его требования и </a:t>
            </a:r>
            <a:r>
              <a:rPr lang="ru-RU" sz="1400" b="1" dirty="0">
                <a:solidFill>
                  <a:schemeClr val="tx2"/>
                </a:solidFill>
              </a:rPr>
              <a:t>включают в себя</a:t>
            </a:r>
            <a:r>
              <a:rPr lang="ru-RU" sz="1400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54" name="Прямоугольник 53"/>
          <p:cNvSpPr/>
          <p:nvPr/>
        </p:nvSpPr>
        <p:spPr>
          <a:xfrm>
            <a:off x="4948318" y="3830390"/>
            <a:ext cx="59458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7"/>
              </a:spcBef>
            </a:pPr>
            <a:r>
              <a:rPr lang="ru-RU" sz="1400" dirty="0">
                <a:solidFill>
                  <a:schemeClr val="tx2"/>
                </a:solidFill>
              </a:rPr>
              <a:t>Возможности домена </a:t>
            </a:r>
            <a:r>
              <a:rPr lang="ru-RU" sz="1400" b="1" dirty="0">
                <a:solidFill>
                  <a:schemeClr val="tx2"/>
                </a:solidFill>
              </a:rPr>
              <a:t>НЕ включают</a:t>
            </a:r>
            <a:r>
              <a:rPr lang="ru-RU" sz="1400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56" name="Прямоугольник 55"/>
          <p:cNvSpPr/>
          <p:nvPr/>
        </p:nvSpPr>
        <p:spPr>
          <a:xfrm>
            <a:off x="4948319" y="2616875"/>
            <a:ext cx="289782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Инструменты и ИТ-сервисы для публикации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и </a:t>
            </a:r>
            <a:r>
              <a:rPr lang="ru-RU" sz="1050" dirty="0"/>
              <a:t>получения опубликованных на ИТ-ландшафте возможностей (в виде API,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данных</a:t>
            </a:r>
            <a:r>
              <a:rPr lang="ru-RU" sz="1050" dirty="0"/>
              <a:t>, инструментов, сервисов и т.п.)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во </a:t>
            </a:r>
            <a:r>
              <a:rPr lang="ru-RU" sz="1050" dirty="0"/>
              <a:t>всех технологических средах.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5016434" y="2266824"/>
            <a:ext cx="328257" cy="328257"/>
            <a:chOff x="5016434" y="2424362"/>
            <a:chExt cx="366379" cy="366379"/>
          </a:xfrm>
        </p:grpSpPr>
        <p:sp>
          <p:nvSpPr>
            <p:cNvPr id="11" name="Овал 10"/>
            <p:cNvSpPr/>
            <p:nvPr/>
          </p:nvSpPr>
          <p:spPr>
            <a:xfrm>
              <a:off x="5016434" y="2424362"/>
              <a:ext cx="366379" cy="366379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60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112331" y="2541037"/>
              <a:ext cx="174584" cy="133028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65" name="Прямоугольник 64"/>
          <p:cNvSpPr/>
          <p:nvPr/>
        </p:nvSpPr>
        <p:spPr>
          <a:xfrm>
            <a:off x="8172590" y="2616875"/>
            <a:ext cx="28978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Инструменты для наблюдения и контроля интеграционных взаимодействий, включая интеграции с внешними по отношению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к </a:t>
            </a:r>
            <a:r>
              <a:rPr lang="ru-RU" sz="1050" dirty="0"/>
              <a:t>ИТ-ландшафту компании системами.</a:t>
            </a:r>
          </a:p>
        </p:txBody>
      </p:sp>
      <p:grpSp>
        <p:nvGrpSpPr>
          <p:cNvPr id="66" name="Группа 65"/>
          <p:cNvGrpSpPr/>
          <p:nvPr/>
        </p:nvGrpSpPr>
        <p:grpSpPr>
          <a:xfrm>
            <a:off x="8240705" y="2266824"/>
            <a:ext cx="328257" cy="328257"/>
            <a:chOff x="5016434" y="2424362"/>
            <a:chExt cx="366379" cy="366379"/>
          </a:xfrm>
        </p:grpSpPr>
        <p:sp>
          <p:nvSpPr>
            <p:cNvPr id="67" name="Овал 66"/>
            <p:cNvSpPr/>
            <p:nvPr/>
          </p:nvSpPr>
          <p:spPr>
            <a:xfrm>
              <a:off x="5016434" y="2424362"/>
              <a:ext cx="366379" cy="366379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68" name="Полилиния: фигура 40">
              <a:extLst>
                <a:ext uri="{FF2B5EF4-FFF2-40B4-BE49-F238E27FC236}">
                  <a16:creationId xmlns:a16="http://schemas.microsoft.com/office/drawing/2014/main" id="{70280C5A-8076-4EA7-BB14-1636CF981E74}"/>
                </a:ext>
              </a:extLst>
            </p:cNvPr>
            <p:cNvSpPr/>
            <p:nvPr/>
          </p:nvSpPr>
          <p:spPr>
            <a:xfrm>
              <a:off x="5112331" y="2541037"/>
              <a:ext cx="174584" cy="133028"/>
            </a:xfrm>
            <a:custGeom>
              <a:avLst/>
              <a:gdLst>
                <a:gd name="connsiteX0" fmla="*/ 211794 w 225203"/>
                <a:gd name="connsiteY0" fmla="*/ 32 h 171599"/>
                <a:gd name="connsiteX1" fmla="*/ 218842 w 225203"/>
                <a:gd name="connsiteY1" fmla="*/ 1751 h 171599"/>
                <a:gd name="connsiteX2" fmla="*/ 223484 w 225203"/>
                <a:gd name="connsiteY2" fmla="*/ 6565 h 171599"/>
                <a:gd name="connsiteX3" fmla="*/ 225203 w 225203"/>
                <a:gd name="connsiteY3" fmla="*/ 14129 h 171599"/>
                <a:gd name="connsiteX4" fmla="*/ 224172 w 225203"/>
                <a:gd name="connsiteY4" fmla="*/ 20318 h 171599"/>
                <a:gd name="connsiteX5" fmla="*/ 153000 w 225203"/>
                <a:gd name="connsiteY5" fmla="*/ 96990 h 171599"/>
                <a:gd name="connsiteX6" fmla="*/ 82001 w 225203"/>
                <a:gd name="connsiteY6" fmla="*/ 171599 h 171599"/>
                <a:gd name="connsiteX7" fmla="*/ 41774 w 225203"/>
                <a:gd name="connsiteY7" fmla="*/ 131200 h 171599"/>
                <a:gd name="connsiteX8" fmla="*/ 1375 w 225203"/>
                <a:gd name="connsiteY8" fmla="*/ 89082 h 171599"/>
                <a:gd name="connsiteX9" fmla="*/ 0 w 225203"/>
                <a:gd name="connsiteY9" fmla="*/ 83925 h 171599"/>
                <a:gd name="connsiteX10" fmla="*/ 172 w 225203"/>
                <a:gd name="connsiteY10" fmla="*/ 80315 h 171599"/>
                <a:gd name="connsiteX11" fmla="*/ 1547 w 225203"/>
                <a:gd name="connsiteY11" fmla="*/ 76704 h 171599"/>
                <a:gd name="connsiteX12" fmla="*/ 8596 w 225203"/>
                <a:gd name="connsiteY12" fmla="*/ 70000 h 171599"/>
                <a:gd name="connsiteX13" fmla="*/ 18395 w 225203"/>
                <a:gd name="connsiteY13" fmla="*/ 69484 h 171599"/>
                <a:gd name="connsiteX14" fmla="*/ 25442 w 225203"/>
                <a:gd name="connsiteY14" fmla="*/ 74813 h 171599"/>
                <a:gd name="connsiteX15" fmla="*/ 51401 w 225203"/>
                <a:gd name="connsiteY15" fmla="*/ 100600 h 171599"/>
                <a:gd name="connsiteX16" fmla="*/ 81486 w 225203"/>
                <a:gd name="connsiteY16" fmla="*/ 131028 h 171599"/>
                <a:gd name="connsiteX17" fmla="*/ 141482 w 225203"/>
                <a:gd name="connsiteY17" fmla="*/ 67077 h 171599"/>
                <a:gd name="connsiteX18" fmla="*/ 204230 w 225203"/>
                <a:gd name="connsiteY18" fmla="*/ 1579 h 171599"/>
                <a:gd name="connsiteX19" fmla="*/ 211794 w 225203"/>
                <a:gd name="connsiteY19" fmla="*/ 32 h 17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203" h="171599">
                  <a:moveTo>
                    <a:pt x="211794" y="32"/>
                  </a:moveTo>
                  <a:cubicBezTo>
                    <a:pt x="214544" y="204"/>
                    <a:pt x="216951" y="720"/>
                    <a:pt x="218842" y="1751"/>
                  </a:cubicBezTo>
                  <a:cubicBezTo>
                    <a:pt x="220733" y="2783"/>
                    <a:pt x="222280" y="4330"/>
                    <a:pt x="223484" y="6565"/>
                  </a:cubicBezTo>
                  <a:cubicBezTo>
                    <a:pt x="224687" y="8800"/>
                    <a:pt x="225203" y="11206"/>
                    <a:pt x="225203" y="14129"/>
                  </a:cubicBezTo>
                  <a:cubicBezTo>
                    <a:pt x="225203" y="17051"/>
                    <a:pt x="224859" y="18942"/>
                    <a:pt x="224172" y="20318"/>
                  </a:cubicBezTo>
                  <a:cubicBezTo>
                    <a:pt x="223484" y="21693"/>
                    <a:pt x="199760" y="47136"/>
                    <a:pt x="153000" y="96990"/>
                  </a:cubicBezTo>
                  <a:cubicBezTo>
                    <a:pt x="106241" y="146844"/>
                    <a:pt x="82517" y="171599"/>
                    <a:pt x="82001" y="171599"/>
                  </a:cubicBezTo>
                  <a:cubicBezTo>
                    <a:pt x="81486" y="171599"/>
                    <a:pt x="68077" y="158190"/>
                    <a:pt x="41774" y="131200"/>
                  </a:cubicBezTo>
                  <a:cubicBezTo>
                    <a:pt x="15472" y="104210"/>
                    <a:pt x="2063" y="90285"/>
                    <a:pt x="1375" y="89082"/>
                  </a:cubicBezTo>
                  <a:cubicBezTo>
                    <a:pt x="688" y="87879"/>
                    <a:pt x="344" y="86159"/>
                    <a:pt x="0" y="83925"/>
                  </a:cubicBezTo>
                  <a:cubicBezTo>
                    <a:pt x="0" y="82377"/>
                    <a:pt x="0" y="81174"/>
                    <a:pt x="172" y="80315"/>
                  </a:cubicBezTo>
                  <a:cubicBezTo>
                    <a:pt x="344" y="79455"/>
                    <a:pt x="688" y="78252"/>
                    <a:pt x="1547" y="76704"/>
                  </a:cubicBezTo>
                  <a:cubicBezTo>
                    <a:pt x="3266" y="73610"/>
                    <a:pt x="5673" y="71375"/>
                    <a:pt x="8596" y="70000"/>
                  </a:cubicBezTo>
                  <a:cubicBezTo>
                    <a:pt x="11518" y="68625"/>
                    <a:pt x="14784" y="68453"/>
                    <a:pt x="18395" y="69484"/>
                  </a:cubicBezTo>
                  <a:cubicBezTo>
                    <a:pt x="19598" y="69656"/>
                    <a:pt x="22005" y="71547"/>
                    <a:pt x="25442" y="74813"/>
                  </a:cubicBezTo>
                  <a:cubicBezTo>
                    <a:pt x="28881" y="78080"/>
                    <a:pt x="37648" y="86675"/>
                    <a:pt x="51401" y="100600"/>
                  </a:cubicBezTo>
                  <a:lnTo>
                    <a:pt x="81486" y="131028"/>
                  </a:lnTo>
                  <a:lnTo>
                    <a:pt x="141482" y="67077"/>
                  </a:lnTo>
                  <a:cubicBezTo>
                    <a:pt x="181538" y="24444"/>
                    <a:pt x="202339" y="2611"/>
                    <a:pt x="204230" y="1579"/>
                  </a:cubicBezTo>
                  <a:cubicBezTo>
                    <a:pt x="206465" y="376"/>
                    <a:pt x="208871" y="-140"/>
                    <a:pt x="211794" y="3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69" name="Прямоугольник 68"/>
          <p:cNvSpPr/>
          <p:nvPr/>
        </p:nvSpPr>
        <p:spPr>
          <a:xfrm>
            <a:off x="4948319" y="4702111"/>
            <a:ext cx="268528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Сами возможности интегрируемых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ИТ-систем </a:t>
            </a:r>
            <a:r>
              <a:rPr lang="ru-RU" sz="1050" dirty="0"/>
              <a:t>– как из ИТ-ландшафта, </a:t>
            </a:r>
            <a:r>
              <a:rPr lang="ru-RU" sz="1050" dirty="0" smtClean="0"/>
              <a:t/>
            </a:r>
            <a:br>
              <a:rPr lang="ru-RU" sz="1050" dirty="0" smtClean="0"/>
            </a:br>
            <a:r>
              <a:rPr lang="ru-RU" sz="1050" dirty="0" smtClean="0"/>
              <a:t>так </a:t>
            </a:r>
            <a:r>
              <a:rPr lang="ru-RU" sz="1050" dirty="0"/>
              <a:t>и внешних по отношению к нему.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5016434" y="4352060"/>
            <a:ext cx="328257" cy="328257"/>
            <a:chOff x="5016434" y="4352060"/>
            <a:chExt cx="328257" cy="328257"/>
          </a:xfrm>
        </p:grpSpPr>
        <p:sp>
          <p:nvSpPr>
            <p:cNvPr id="71" name="Овал 70"/>
            <p:cNvSpPr/>
            <p:nvPr/>
          </p:nvSpPr>
          <p:spPr>
            <a:xfrm>
              <a:off x="5016434" y="4352060"/>
              <a:ext cx="328257" cy="3282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61" name="Полилиния: фигура 45">
              <a:extLst>
                <a:ext uri="{FF2B5EF4-FFF2-40B4-BE49-F238E27FC236}">
                  <a16:creationId xmlns:a16="http://schemas.microsoft.com/office/drawing/2014/main" id="{5A83095E-FF8E-495D-87AA-D07391690E47}"/>
                </a:ext>
              </a:extLst>
            </p:cNvPr>
            <p:cNvSpPr/>
            <p:nvPr/>
          </p:nvSpPr>
          <p:spPr>
            <a:xfrm>
              <a:off x="5109975" y="4451636"/>
              <a:ext cx="132886" cy="132830"/>
            </a:xfrm>
            <a:custGeom>
              <a:avLst/>
              <a:gdLst>
                <a:gd name="connsiteX0" fmla="*/ 11602 w 196921"/>
                <a:gd name="connsiteY0" fmla="*/ 172 h 196837"/>
                <a:gd name="connsiteX1" fmla="*/ 15728 w 196921"/>
                <a:gd name="connsiteY1" fmla="*/ 860 h 196837"/>
                <a:gd name="connsiteX2" fmla="*/ 25011 w 196921"/>
                <a:gd name="connsiteY2" fmla="*/ 8596 h 196837"/>
                <a:gd name="connsiteX3" fmla="*/ 58190 w 196921"/>
                <a:gd name="connsiteY3" fmla="*/ 41259 h 196837"/>
                <a:gd name="connsiteX4" fmla="*/ 98245 w 196921"/>
                <a:gd name="connsiteY4" fmla="*/ 81314 h 196837"/>
                <a:gd name="connsiteX5" fmla="*/ 167181 w 196921"/>
                <a:gd name="connsiteY5" fmla="*/ 12378 h 196837"/>
                <a:gd name="connsiteX6" fmla="*/ 179559 w 196921"/>
                <a:gd name="connsiteY6" fmla="*/ 1547 h 196837"/>
                <a:gd name="connsiteX7" fmla="*/ 184544 w 196921"/>
                <a:gd name="connsiteY7" fmla="*/ 0 h 196837"/>
                <a:gd name="connsiteX8" fmla="*/ 188326 w 196921"/>
                <a:gd name="connsiteY8" fmla="*/ 1031 h 196837"/>
                <a:gd name="connsiteX9" fmla="*/ 192452 w 196921"/>
                <a:gd name="connsiteY9" fmla="*/ 3266 h 196837"/>
                <a:gd name="connsiteX10" fmla="*/ 195546 w 196921"/>
                <a:gd name="connsiteY10" fmla="*/ 7220 h 196837"/>
                <a:gd name="connsiteX11" fmla="*/ 196922 w 196921"/>
                <a:gd name="connsiteY11" fmla="*/ 11862 h 196837"/>
                <a:gd name="connsiteX12" fmla="*/ 195374 w 196921"/>
                <a:gd name="connsiteY12" fmla="*/ 17191 h 196837"/>
                <a:gd name="connsiteX13" fmla="*/ 185404 w 196921"/>
                <a:gd name="connsiteY13" fmla="*/ 28709 h 196837"/>
                <a:gd name="connsiteX14" fmla="*/ 115780 w 196921"/>
                <a:gd name="connsiteY14" fmla="*/ 98333 h 196837"/>
                <a:gd name="connsiteX15" fmla="*/ 185404 w 196921"/>
                <a:gd name="connsiteY15" fmla="*/ 167957 h 196837"/>
                <a:gd name="connsiteX16" fmla="*/ 195374 w 196921"/>
                <a:gd name="connsiteY16" fmla="*/ 179475 h 196837"/>
                <a:gd name="connsiteX17" fmla="*/ 196922 w 196921"/>
                <a:gd name="connsiteY17" fmla="*/ 184804 h 196837"/>
                <a:gd name="connsiteX18" fmla="*/ 195546 w 196921"/>
                <a:gd name="connsiteY18" fmla="*/ 189446 h 196837"/>
                <a:gd name="connsiteX19" fmla="*/ 192452 w 196921"/>
                <a:gd name="connsiteY19" fmla="*/ 193571 h 196837"/>
                <a:gd name="connsiteX20" fmla="*/ 188326 w 196921"/>
                <a:gd name="connsiteY20" fmla="*/ 195806 h 196837"/>
                <a:gd name="connsiteX21" fmla="*/ 184544 w 196921"/>
                <a:gd name="connsiteY21" fmla="*/ 196838 h 196837"/>
                <a:gd name="connsiteX22" fmla="*/ 179559 w 196921"/>
                <a:gd name="connsiteY22" fmla="*/ 195291 h 196837"/>
                <a:gd name="connsiteX23" fmla="*/ 167181 w 196921"/>
                <a:gd name="connsiteY23" fmla="*/ 184460 h 196837"/>
                <a:gd name="connsiteX24" fmla="*/ 98245 w 196921"/>
                <a:gd name="connsiteY24" fmla="*/ 115524 h 196837"/>
                <a:gd name="connsiteX25" fmla="*/ 58190 w 196921"/>
                <a:gd name="connsiteY25" fmla="*/ 155579 h 196837"/>
                <a:gd name="connsiteX26" fmla="*/ 24324 w 196921"/>
                <a:gd name="connsiteY26" fmla="*/ 189102 h 196837"/>
                <a:gd name="connsiteX27" fmla="*/ 15556 w 196921"/>
                <a:gd name="connsiteY27" fmla="*/ 195978 h 196837"/>
                <a:gd name="connsiteX28" fmla="*/ 3694 w 196921"/>
                <a:gd name="connsiteY28" fmla="*/ 192884 h 196837"/>
                <a:gd name="connsiteX29" fmla="*/ 600 w 196921"/>
                <a:gd name="connsiteY29" fmla="*/ 181022 h 196837"/>
                <a:gd name="connsiteX30" fmla="*/ 7476 w 196921"/>
                <a:gd name="connsiteY30" fmla="*/ 171911 h 196837"/>
                <a:gd name="connsiteX31" fmla="*/ 40999 w 196921"/>
                <a:gd name="connsiteY31" fmla="*/ 138216 h 196837"/>
                <a:gd name="connsiteX32" fmla="*/ 81054 w 196921"/>
                <a:gd name="connsiteY32" fmla="*/ 98161 h 196837"/>
                <a:gd name="connsiteX33" fmla="*/ 40999 w 196921"/>
                <a:gd name="connsiteY33" fmla="*/ 58106 h 196837"/>
                <a:gd name="connsiteX34" fmla="*/ 7476 w 196921"/>
                <a:gd name="connsiteY34" fmla="*/ 24239 h 196837"/>
                <a:gd name="connsiteX35" fmla="*/ 600 w 196921"/>
                <a:gd name="connsiteY35" fmla="*/ 15472 h 196837"/>
                <a:gd name="connsiteX36" fmla="*/ 1288 w 196921"/>
                <a:gd name="connsiteY36" fmla="*/ 6705 h 196837"/>
                <a:gd name="connsiteX37" fmla="*/ 8164 w 196921"/>
                <a:gd name="connsiteY37" fmla="*/ 516 h 196837"/>
                <a:gd name="connsiteX38" fmla="*/ 11602 w 196921"/>
                <a:gd name="connsiteY38" fmla="*/ 172 h 19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6921" h="196837">
                  <a:moveTo>
                    <a:pt x="11602" y="172"/>
                  </a:moveTo>
                  <a:cubicBezTo>
                    <a:pt x="12462" y="172"/>
                    <a:pt x="13837" y="344"/>
                    <a:pt x="15728" y="860"/>
                  </a:cubicBezTo>
                  <a:cubicBezTo>
                    <a:pt x="16759" y="1031"/>
                    <a:pt x="19854" y="3610"/>
                    <a:pt x="25011" y="8596"/>
                  </a:cubicBezTo>
                  <a:cubicBezTo>
                    <a:pt x="30168" y="13409"/>
                    <a:pt x="41170" y="24411"/>
                    <a:pt x="58190" y="41259"/>
                  </a:cubicBezTo>
                  <a:lnTo>
                    <a:pt x="98245" y="81314"/>
                  </a:lnTo>
                  <a:lnTo>
                    <a:pt x="167181" y="12378"/>
                  </a:lnTo>
                  <a:cubicBezTo>
                    <a:pt x="173026" y="6705"/>
                    <a:pt x="177152" y="3094"/>
                    <a:pt x="179559" y="1547"/>
                  </a:cubicBezTo>
                  <a:cubicBezTo>
                    <a:pt x="181106" y="516"/>
                    <a:pt x="182825" y="0"/>
                    <a:pt x="184544" y="0"/>
                  </a:cubicBezTo>
                  <a:cubicBezTo>
                    <a:pt x="185575" y="0"/>
                    <a:pt x="186779" y="344"/>
                    <a:pt x="188326" y="1031"/>
                  </a:cubicBezTo>
                  <a:cubicBezTo>
                    <a:pt x="189873" y="1719"/>
                    <a:pt x="191249" y="2407"/>
                    <a:pt x="192452" y="3266"/>
                  </a:cubicBezTo>
                  <a:cubicBezTo>
                    <a:pt x="193655" y="4126"/>
                    <a:pt x="194687" y="5501"/>
                    <a:pt x="195546" y="7220"/>
                  </a:cubicBezTo>
                  <a:cubicBezTo>
                    <a:pt x="196406" y="9111"/>
                    <a:pt x="196922" y="10487"/>
                    <a:pt x="196922" y="11862"/>
                  </a:cubicBezTo>
                  <a:cubicBezTo>
                    <a:pt x="196922" y="13925"/>
                    <a:pt x="196406" y="15644"/>
                    <a:pt x="195374" y="17191"/>
                  </a:cubicBezTo>
                  <a:cubicBezTo>
                    <a:pt x="193999" y="19254"/>
                    <a:pt x="190733" y="23036"/>
                    <a:pt x="185404" y="28709"/>
                  </a:cubicBezTo>
                  <a:lnTo>
                    <a:pt x="115780" y="98333"/>
                  </a:lnTo>
                  <a:lnTo>
                    <a:pt x="185404" y="167957"/>
                  </a:lnTo>
                  <a:cubicBezTo>
                    <a:pt x="190733" y="173630"/>
                    <a:pt x="194171" y="177412"/>
                    <a:pt x="195374" y="179475"/>
                  </a:cubicBezTo>
                  <a:cubicBezTo>
                    <a:pt x="196406" y="181022"/>
                    <a:pt x="196922" y="182741"/>
                    <a:pt x="196922" y="184804"/>
                  </a:cubicBezTo>
                  <a:cubicBezTo>
                    <a:pt x="196922" y="186007"/>
                    <a:pt x="196406" y="187555"/>
                    <a:pt x="195546" y="189446"/>
                  </a:cubicBezTo>
                  <a:cubicBezTo>
                    <a:pt x="194687" y="191337"/>
                    <a:pt x="193655" y="192540"/>
                    <a:pt x="192452" y="193571"/>
                  </a:cubicBezTo>
                  <a:cubicBezTo>
                    <a:pt x="191249" y="194431"/>
                    <a:pt x="189873" y="195291"/>
                    <a:pt x="188326" y="195806"/>
                  </a:cubicBezTo>
                  <a:cubicBezTo>
                    <a:pt x="186779" y="196322"/>
                    <a:pt x="185575" y="196838"/>
                    <a:pt x="184544" y="196838"/>
                  </a:cubicBezTo>
                  <a:cubicBezTo>
                    <a:pt x="182825" y="196838"/>
                    <a:pt x="181106" y="196322"/>
                    <a:pt x="179559" y="195291"/>
                  </a:cubicBezTo>
                  <a:cubicBezTo>
                    <a:pt x="177324" y="193743"/>
                    <a:pt x="173198" y="190133"/>
                    <a:pt x="167181" y="184460"/>
                  </a:cubicBezTo>
                  <a:lnTo>
                    <a:pt x="98245" y="115524"/>
                  </a:lnTo>
                  <a:lnTo>
                    <a:pt x="58190" y="155579"/>
                  </a:lnTo>
                  <a:cubicBezTo>
                    <a:pt x="40311" y="173458"/>
                    <a:pt x="28965" y="184632"/>
                    <a:pt x="24324" y="189102"/>
                  </a:cubicBezTo>
                  <a:cubicBezTo>
                    <a:pt x="19682" y="193571"/>
                    <a:pt x="16759" y="195806"/>
                    <a:pt x="15556" y="195978"/>
                  </a:cubicBezTo>
                  <a:cubicBezTo>
                    <a:pt x="10915" y="197182"/>
                    <a:pt x="6960" y="196150"/>
                    <a:pt x="3694" y="192884"/>
                  </a:cubicBezTo>
                  <a:cubicBezTo>
                    <a:pt x="428" y="189618"/>
                    <a:pt x="-604" y="185492"/>
                    <a:pt x="600" y="181022"/>
                  </a:cubicBezTo>
                  <a:cubicBezTo>
                    <a:pt x="771" y="179819"/>
                    <a:pt x="3178" y="176724"/>
                    <a:pt x="7476" y="171911"/>
                  </a:cubicBezTo>
                  <a:cubicBezTo>
                    <a:pt x="11774" y="167097"/>
                    <a:pt x="22948" y="155923"/>
                    <a:pt x="40999" y="138216"/>
                  </a:cubicBezTo>
                  <a:lnTo>
                    <a:pt x="81054" y="98161"/>
                  </a:lnTo>
                  <a:lnTo>
                    <a:pt x="40999" y="58106"/>
                  </a:lnTo>
                  <a:cubicBezTo>
                    <a:pt x="23120" y="40227"/>
                    <a:pt x="11946" y="28881"/>
                    <a:pt x="7476" y="24239"/>
                  </a:cubicBezTo>
                  <a:cubicBezTo>
                    <a:pt x="3006" y="19598"/>
                    <a:pt x="771" y="16675"/>
                    <a:pt x="600" y="15472"/>
                  </a:cubicBezTo>
                  <a:cubicBezTo>
                    <a:pt x="-432" y="12378"/>
                    <a:pt x="-88" y="9455"/>
                    <a:pt x="1288" y="6705"/>
                  </a:cubicBezTo>
                  <a:cubicBezTo>
                    <a:pt x="2835" y="3782"/>
                    <a:pt x="5069" y="1891"/>
                    <a:pt x="8164" y="516"/>
                  </a:cubicBezTo>
                  <a:cubicBezTo>
                    <a:pt x="9539" y="516"/>
                    <a:pt x="10742" y="172"/>
                    <a:pt x="11602" y="17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3601295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предпосылки </a:t>
            </a:r>
            <a:r>
              <a:rPr lang="ru-RU" dirty="0"/>
              <a:t>и история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5"/>
            <a:ext cx="8938630" cy="53183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Предпосылки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и история (если необходимо)</a:t>
            </a:r>
          </a:p>
          <a:p>
            <a:pPr>
              <a:spcBef>
                <a:spcPct val="0"/>
              </a:spcBef>
              <a:buClr>
                <a:srgbClr val="ED1C24"/>
              </a:buClr>
            </a:pPr>
            <a:endParaRPr lang="ru-RU" alt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1535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соответствие </a:t>
            </a:r>
            <a:r>
              <a:rPr lang="ru-RU" dirty="0"/>
              <a:t>стратегическим целям Компании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5"/>
            <a:ext cx="8938630" cy="53183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Соответствие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стратегическим </a:t>
            </a:r>
            <a:r>
              <a:rPr lang="ru-RU" altLang="ru-RU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целям Компании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(если необходимо)</a:t>
            </a:r>
          </a:p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Корпоративная </a:t>
            </a:r>
            <a:r>
              <a:rPr lang="ru-RU" altLang="ru-RU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стратегия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(утвержденные бизнес-стратегии, если необходимо), ИТ Стратегия</a:t>
            </a:r>
          </a:p>
          <a:p>
            <a:pPr>
              <a:spcBef>
                <a:spcPct val="0"/>
              </a:spcBef>
              <a:buClr>
                <a:srgbClr val="ED1C24"/>
              </a:buClr>
            </a:pPr>
            <a:endParaRPr lang="ru-RU" alt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44323" y="2118263"/>
            <a:ext cx="6300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b="1" dirty="0"/>
              <a:t>Сокращение </a:t>
            </a:r>
            <a:r>
              <a:rPr lang="en-US" b="1" dirty="0" smtClean="0"/>
              <a:t>time </a:t>
            </a:r>
            <a:r>
              <a:rPr lang="en-US" b="1" dirty="0"/>
              <a:t>to market </a:t>
            </a:r>
            <a:r>
              <a:rPr lang="ru-RU" b="1" dirty="0"/>
              <a:t>(</a:t>
            </a:r>
            <a:r>
              <a:rPr lang="en-US" b="1" dirty="0"/>
              <a:t>TTM</a:t>
            </a:r>
            <a:r>
              <a:rPr lang="ru-RU" b="1" dirty="0" smtClean="0"/>
              <a:t>)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372663" y="1749937"/>
            <a:ext cx="653542" cy="352809"/>
            <a:chOff x="372663" y="1464419"/>
            <a:chExt cx="653542" cy="352809"/>
          </a:xfrm>
        </p:grpSpPr>
        <p:sp>
          <p:nvSpPr>
            <p:cNvPr id="11" name="Полилиния: фигура 19">
              <a:extLst>
                <a:ext uri="{FF2B5EF4-FFF2-40B4-BE49-F238E27FC236}">
                  <a16:creationId xmlns:a16="http://schemas.microsoft.com/office/drawing/2014/main" id="{1F4C3AB9-F77F-49CB-8082-DA244B8C9E30}"/>
                </a:ext>
              </a:extLst>
            </p:cNvPr>
            <p:cNvSpPr/>
            <p:nvPr/>
          </p:nvSpPr>
          <p:spPr>
            <a:xfrm>
              <a:off x="804894" y="1566390"/>
              <a:ext cx="221311" cy="229353"/>
            </a:xfrm>
            <a:custGeom>
              <a:avLst/>
              <a:gdLst>
                <a:gd name="connsiteX0" fmla="*/ 110806 w 221344"/>
                <a:gd name="connsiteY0" fmla="*/ 60 h 229388"/>
                <a:gd name="connsiteX1" fmla="*/ 121121 w 221344"/>
                <a:gd name="connsiteY1" fmla="*/ 6593 h 229388"/>
                <a:gd name="connsiteX2" fmla="*/ 122668 w 221344"/>
                <a:gd name="connsiteY2" fmla="*/ 9343 h 229388"/>
                <a:gd name="connsiteX3" fmla="*/ 122668 w 221344"/>
                <a:gd name="connsiteY3" fmla="*/ 187099 h 229388"/>
                <a:gd name="connsiteX4" fmla="*/ 162379 w 221344"/>
                <a:gd name="connsiteY4" fmla="*/ 147387 h 229388"/>
                <a:gd name="connsiteX5" fmla="*/ 195902 w 221344"/>
                <a:gd name="connsiteY5" fmla="*/ 114552 h 229388"/>
                <a:gd name="connsiteX6" fmla="*/ 205529 w 221344"/>
                <a:gd name="connsiteY6" fmla="*/ 106816 h 229388"/>
                <a:gd name="connsiteX7" fmla="*/ 208623 w 221344"/>
                <a:gd name="connsiteY7" fmla="*/ 106301 h 229388"/>
                <a:gd name="connsiteX8" fmla="*/ 212061 w 221344"/>
                <a:gd name="connsiteY8" fmla="*/ 106645 h 229388"/>
                <a:gd name="connsiteX9" fmla="*/ 218594 w 221344"/>
                <a:gd name="connsiteY9" fmla="*/ 111286 h 229388"/>
                <a:gd name="connsiteX10" fmla="*/ 221345 w 221344"/>
                <a:gd name="connsiteY10" fmla="*/ 118678 h 229388"/>
                <a:gd name="connsiteX11" fmla="*/ 219970 w 221344"/>
                <a:gd name="connsiteY11" fmla="*/ 123664 h 229388"/>
                <a:gd name="connsiteX12" fmla="*/ 167364 w 221344"/>
                <a:gd name="connsiteY12" fmla="*/ 177128 h 229388"/>
                <a:gd name="connsiteX13" fmla="*/ 125075 w 221344"/>
                <a:gd name="connsiteY13" fmla="*/ 219246 h 229388"/>
                <a:gd name="connsiteX14" fmla="*/ 113385 w 221344"/>
                <a:gd name="connsiteY14" fmla="*/ 228873 h 229388"/>
                <a:gd name="connsiteX15" fmla="*/ 110290 w 221344"/>
                <a:gd name="connsiteY15" fmla="*/ 229389 h 229388"/>
                <a:gd name="connsiteX16" fmla="*/ 107024 w 221344"/>
                <a:gd name="connsiteY16" fmla="*/ 228873 h 229388"/>
                <a:gd name="connsiteX17" fmla="*/ 95506 w 221344"/>
                <a:gd name="connsiteY17" fmla="*/ 219246 h 229388"/>
                <a:gd name="connsiteX18" fmla="*/ 53216 w 221344"/>
                <a:gd name="connsiteY18" fmla="*/ 177472 h 229388"/>
                <a:gd name="connsiteX19" fmla="*/ 1299 w 221344"/>
                <a:gd name="connsiteY19" fmla="*/ 124351 h 229388"/>
                <a:gd name="connsiteX20" fmla="*/ 268 w 221344"/>
                <a:gd name="connsiteY20" fmla="*/ 115928 h 229388"/>
                <a:gd name="connsiteX21" fmla="*/ 4221 w 221344"/>
                <a:gd name="connsiteY21" fmla="*/ 109051 h 229388"/>
                <a:gd name="connsiteX22" fmla="*/ 15052 w 221344"/>
                <a:gd name="connsiteY22" fmla="*/ 106816 h 229388"/>
                <a:gd name="connsiteX23" fmla="*/ 23991 w 221344"/>
                <a:gd name="connsiteY23" fmla="*/ 113865 h 229388"/>
                <a:gd name="connsiteX24" fmla="*/ 57857 w 221344"/>
                <a:gd name="connsiteY24" fmla="*/ 147559 h 229388"/>
                <a:gd name="connsiteX25" fmla="*/ 97913 w 221344"/>
                <a:gd name="connsiteY25" fmla="*/ 187271 h 229388"/>
                <a:gd name="connsiteX26" fmla="*/ 97913 w 221344"/>
                <a:gd name="connsiteY26" fmla="*/ 98393 h 229388"/>
                <a:gd name="connsiteX27" fmla="*/ 98429 w 221344"/>
                <a:gd name="connsiteY27" fmla="*/ 23268 h 229388"/>
                <a:gd name="connsiteX28" fmla="*/ 98944 w 221344"/>
                <a:gd name="connsiteY28" fmla="*/ 7108 h 229388"/>
                <a:gd name="connsiteX29" fmla="*/ 105133 w 221344"/>
                <a:gd name="connsiteY29" fmla="*/ 919 h 229388"/>
                <a:gd name="connsiteX30" fmla="*/ 110806 w 221344"/>
                <a:gd name="connsiteY30" fmla="*/ 60 h 22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1344" h="229388">
                  <a:moveTo>
                    <a:pt x="110806" y="60"/>
                  </a:moveTo>
                  <a:cubicBezTo>
                    <a:pt x="115620" y="404"/>
                    <a:pt x="119058" y="2467"/>
                    <a:pt x="121121" y="6593"/>
                  </a:cubicBezTo>
                  <a:lnTo>
                    <a:pt x="122668" y="9343"/>
                  </a:lnTo>
                  <a:lnTo>
                    <a:pt x="122668" y="187099"/>
                  </a:lnTo>
                  <a:lnTo>
                    <a:pt x="162379" y="147387"/>
                  </a:lnTo>
                  <a:cubicBezTo>
                    <a:pt x="179570" y="130196"/>
                    <a:pt x="190745" y="119194"/>
                    <a:pt x="195902" y="114552"/>
                  </a:cubicBezTo>
                  <a:cubicBezTo>
                    <a:pt x="201059" y="109911"/>
                    <a:pt x="204326" y="107160"/>
                    <a:pt x="205529" y="106816"/>
                  </a:cubicBezTo>
                  <a:cubicBezTo>
                    <a:pt x="206904" y="106473"/>
                    <a:pt x="207764" y="106301"/>
                    <a:pt x="208623" y="106301"/>
                  </a:cubicBezTo>
                  <a:cubicBezTo>
                    <a:pt x="209483" y="106301"/>
                    <a:pt x="210514" y="106473"/>
                    <a:pt x="212061" y="106645"/>
                  </a:cubicBezTo>
                  <a:cubicBezTo>
                    <a:pt x="214640" y="107332"/>
                    <a:pt x="216875" y="108879"/>
                    <a:pt x="218594" y="111286"/>
                  </a:cubicBezTo>
                  <a:cubicBezTo>
                    <a:pt x="220313" y="113693"/>
                    <a:pt x="221345" y="116100"/>
                    <a:pt x="221345" y="118678"/>
                  </a:cubicBezTo>
                  <a:cubicBezTo>
                    <a:pt x="221345" y="120225"/>
                    <a:pt x="220829" y="121945"/>
                    <a:pt x="219970" y="123664"/>
                  </a:cubicBezTo>
                  <a:cubicBezTo>
                    <a:pt x="219110" y="125383"/>
                    <a:pt x="201575" y="143262"/>
                    <a:pt x="167364" y="177128"/>
                  </a:cubicBezTo>
                  <a:cubicBezTo>
                    <a:pt x="145532" y="199133"/>
                    <a:pt x="131435" y="213229"/>
                    <a:pt x="125075" y="219246"/>
                  </a:cubicBezTo>
                  <a:cubicBezTo>
                    <a:pt x="118714" y="225263"/>
                    <a:pt x="114760" y="228529"/>
                    <a:pt x="113385" y="228873"/>
                  </a:cubicBezTo>
                  <a:cubicBezTo>
                    <a:pt x="112010" y="229217"/>
                    <a:pt x="110978" y="229389"/>
                    <a:pt x="110290" y="229389"/>
                  </a:cubicBezTo>
                  <a:cubicBezTo>
                    <a:pt x="109603" y="229389"/>
                    <a:pt x="108571" y="229217"/>
                    <a:pt x="107024" y="228873"/>
                  </a:cubicBezTo>
                  <a:cubicBezTo>
                    <a:pt x="105477" y="228529"/>
                    <a:pt x="101695" y="225263"/>
                    <a:pt x="95506" y="219246"/>
                  </a:cubicBezTo>
                  <a:cubicBezTo>
                    <a:pt x="89317" y="213229"/>
                    <a:pt x="75221" y="199304"/>
                    <a:pt x="53216" y="177472"/>
                  </a:cubicBezTo>
                  <a:cubicBezTo>
                    <a:pt x="19350" y="143605"/>
                    <a:pt x="1986" y="125899"/>
                    <a:pt x="1299" y="124351"/>
                  </a:cubicBezTo>
                  <a:cubicBezTo>
                    <a:pt x="-76" y="121773"/>
                    <a:pt x="-249" y="119022"/>
                    <a:pt x="268" y="115928"/>
                  </a:cubicBezTo>
                  <a:cubicBezTo>
                    <a:pt x="955" y="112833"/>
                    <a:pt x="2331" y="110598"/>
                    <a:pt x="4221" y="109051"/>
                  </a:cubicBezTo>
                  <a:cubicBezTo>
                    <a:pt x="7488" y="106473"/>
                    <a:pt x="11098" y="105785"/>
                    <a:pt x="15052" y="106816"/>
                  </a:cubicBezTo>
                  <a:cubicBezTo>
                    <a:pt x="16427" y="107332"/>
                    <a:pt x="19350" y="109739"/>
                    <a:pt x="23991" y="113865"/>
                  </a:cubicBezTo>
                  <a:cubicBezTo>
                    <a:pt x="28633" y="117991"/>
                    <a:pt x="39807" y="129337"/>
                    <a:pt x="57857" y="147559"/>
                  </a:cubicBezTo>
                  <a:lnTo>
                    <a:pt x="97913" y="187271"/>
                  </a:lnTo>
                  <a:lnTo>
                    <a:pt x="97913" y="98393"/>
                  </a:lnTo>
                  <a:cubicBezTo>
                    <a:pt x="98084" y="58166"/>
                    <a:pt x="98429" y="33067"/>
                    <a:pt x="98429" y="23268"/>
                  </a:cubicBezTo>
                  <a:cubicBezTo>
                    <a:pt x="98600" y="13469"/>
                    <a:pt x="98772" y="8140"/>
                    <a:pt x="98944" y="7108"/>
                  </a:cubicBezTo>
                  <a:cubicBezTo>
                    <a:pt x="100148" y="4530"/>
                    <a:pt x="102211" y="2467"/>
                    <a:pt x="105133" y="919"/>
                  </a:cubicBezTo>
                  <a:cubicBezTo>
                    <a:pt x="106680" y="60"/>
                    <a:pt x="108571" y="-112"/>
                    <a:pt x="110806" y="60"/>
                  </a:cubicBezTo>
                  <a:close/>
                </a:path>
              </a:pathLst>
            </a:custGeom>
            <a:solidFill>
              <a:schemeClr val="accent1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2" name="Полилиния: фигура 44">
              <a:extLst>
                <a:ext uri="{FF2B5EF4-FFF2-40B4-BE49-F238E27FC236}">
                  <a16:creationId xmlns:a16="http://schemas.microsoft.com/office/drawing/2014/main" id="{4380657E-4304-4D93-BA69-0C864E6B2AE0}"/>
                </a:ext>
              </a:extLst>
            </p:cNvPr>
            <p:cNvSpPr/>
            <p:nvPr/>
          </p:nvSpPr>
          <p:spPr>
            <a:xfrm>
              <a:off x="372663" y="1464419"/>
              <a:ext cx="352967" cy="352809"/>
            </a:xfrm>
            <a:custGeom>
              <a:avLst/>
              <a:gdLst>
                <a:gd name="connsiteX0" fmla="*/ 180960 w 353021"/>
                <a:gd name="connsiteY0" fmla="*/ 103 h 352863"/>
                <a:gd name="connsiteX1" fmla="*/ 199183 w 353021"/>
                <a:gd name="connsiteY1" fmla="*/ 1306 h 352863"/>
                <a:gd name="connsiteX2" fmla="*/ 266915 w 353021"/>
                <a:gd name="connsiteY2" fmla="*/ 25030 h 352863"/>
                <a:gd name="connsiteX3" fmla="*/ 319520 w 353021"/>
                <a:gd name="connsiteY3" fmla="*/ 73165 h 352863"/>
                <a:gd name="connsiteX4" fmla="*/ 348917 w 353021"/>
                <a:gd name="connsiteY4" fmla="*/ 138491 h 352863"/>
                <a:gd name="connsiteX5" fmla="*/ 346682 w 353021"/>
                <a:gd name="connsiteY5" fmla="*/ 223415 h 352863"/>
                <a:gd name="connsiteX6" fmla="*/ 305423 w 353021"/>
                <a:gd name="connsiteY6" fmla="*/ 297165 h 352863"/>
                <a:gd name="connsiteX7" fmla="*/ 196432 w 353021"/>
                <a:gd name="connsiteY7" fmla="*/ 352176 h 352863"/>
                <a:gd name="connsiteX8" fmla="*/ 175287 w 353021"/>
                <a:gd name="connsiteY8" fmla="*/ 352864 h 352863"/>
                <a:gd name="connsiteX9" fmla="*/ 154142 w 353021"/>
                <a:gd name="connsiteY9" fmla="*/ 351660 h 352863"/>
                <a:gd name="connsiteX10" fmla="*/ 81252 w 353021"/>
                <a:gd name="connsiteY10" fmla="*/ 325186 h 352863"/>
                <a:gd name="connsiteX11" fmla="*/ 26928 w 353021"/>
                <a:gd name="connsiteY11" fmla="*/ 270518 h 352863"/>
                <a:gd name="connsiteX12" fmla="*/ 1313 w 353021"/>
                <a:gd name="connsiteY12" fmla="*/ 198660 h 352863"/>
                <a:gd name="connsiteX13" fmla="*/ 8189 w 353021"/>
                <a:gd name="connsiteY13" fmla="*/ 123363 h 352863"/>
                <a:gd name="connsiteX14" fmla="*/ 45838 w 353021"/>
                <a:gd name="connsiteY14" fmla="*/ 57521 h 352863"/>
                <a:gd name="connsiteX15" fmla="*/ 98787 w 353021"/>
                <a:gd name="connsiteY15" fmla="*/ 17810 h 352863"/>
                <a:gd name="connsiteX16" fmla="*/ 162566 w 353021"/>
                <a:gd name="connsiteY16" fmla="*/ 447 h 352863"/>
                <a:gd name="connsiteX17" fmla="*/ 180960 w 353021"/>
                <a:gd name="connsiteY17" fmla="*/ 103 h 352863"/>
                <a:gd name="connsiteX18" fmla="*/ 176147 w 353021"/>
                <a:gd name="connsiteY18" fmla="*/ 24686 h 352863"/>
                <a:gd name="connsiteX19" fmla="*/ 159643 w 353021"/>
                <a:gd name="connsiteY19" fmla="*/ 25374 h 352863"/>
                <a:gd name="connsiteX20" fmla="*/ 118213 w 353021"/>
                <a:gd name="connsiteY20" fmla="*/ 36204 h 352863"/>
                <a:gd name="connsiteX21" fmla="*/ 81424 w 353021"/>
                <a:gd name="connsiteY21" fmla="*/ 58209 h 352863"/>
                <a:gd name="connsiteX22" fmla="*/ 68702 w 353021"/>
                <a:gd name="connsiteY22" fmla="*/ 69383 h 352863"/>
                <a:gd name="connsiteX23" fmla="*/ 57872 w 353021"/>
                <a:gd name="connsiteY23" fmla="*/ 81245 h 352863"/>
                <a:gd name="connsiteX24" fmla="*/ 36039 w 353021"/>
                <a:gd name="connsiteY24" fmla="*/ 118549 h 352863"/>
                <a:gd name="connsiteX25" fmla="*/ 25381 w 353021"/>
                <a:gd name="connsiteY25" fmla="*/ 160152 h 352863"/>
                <a:gd name="connsiteX26" fmla="*/ 24693 w 353021"/>
                <a:gd name="connsiteY26" fmla="*/ 176311 h 352863"/>
                <a:gd name="connsiteX27" fmla="*/ 25381 w 353021"/>
                <a:gd name="connsiteY27" fmla="*/ 192471 h 352863"/>
                <a:gd name="connsiteX28" fmla="*/ 36211 w 353021"/>
                <a:gd name="connsiteY28" fmla="*/ 234589 h 352863"/>
                <a:gd name="connsiteX29" fmla="*/ 58560 w 353021"/>
                <a:gd name="connsiteY29" fmla="*/ 271722 h 352863"/>
                <a:gd name="connsiteX30" fmla="*/ 111680 w 353021"/>
                <a:gd name="connsiteY30" fmla="*/ 313668 h 352863"/>
                <a:gd name="connsiteX31" fmla="*/ 177350 w 353021"/>
                <a:gd name="connsiteY31" fmla="*/ 328108 h 352863"/>
                <a:gd name="connsiteX32" fmla="*/ 243020 w 353021"/>
                <a:gd name="connsiteY32" fmla="*/ 312465 h 352863"/>
                <a:gd name="connsiteX33" fmla="*/ 284278 w 353021"/>
                <a:gd name="connsiteY33" fmla="*/ 282896 h 352863"/>
                <a:gd name="connsiteX34" fmla="*/ 326569 w 353021"/>
                <a:gd name="connsiteY34" fmla="*/ 199347 h 352863"/>
                <a:gd name="connsiteX35" fmla="*/ 328116 w 353021"/>
                <a:gd name="connsiteY35" fmla="*/ 180265 h 352863"/>
                <a:gd name="connsiteX36" fmla="*/ 327772 w 353021"/>
                <a:gd name="connsiteY36" fmla="*/ 160839 h 352863"/>
                <a:gd name="connsiteX37" fmla="*/ 300953 w 353021"/>
                <a:gd name="connsiteY37" fmla="*/ 89496 h 352863"/>
                <a:gd name="connsiteX38" fmla="*/ 243020 w 353021"/>
                <a:gd name="connsiteY38" fmla="*/ 39986 h 352863"/>
                <a:gd name="connsiteX39" fmla="*/ 192650 w 353021"/>
                <a:gd name="connsiteY39" fmla="*/ 25374 h 352863"/>
                <a:gd name="connsiteX40" fmla="*/ 176147 w 353021"/>
                <a:gd name="connsiteY40" fmla="*/ 24686 h 352863"/>
                <a:gd name="connsiteX41" fmla="*/ 176147 w 353021"/>
                <a:gd name="connsiteY41" fmla="*/ 65601 h 352863"/>
                <a:gd name="connsiteX42" fmla="*/ 183711 w 353021"/>
                <a:gd name="connsiteY42" fmla="*/ 67836 h 352863"/>
                <a:gd name="connsiteX43" fmla="*/ 188524 w 353021"/>
                <a:gd name="connsiteY43" fmla="*/ 74368 h 352863"/>
                <a:gd name="connsiteX44" fmla="*/ 188868 w 353021"/>
                <a:gd name="connsiteY44" fmla="*/ 120612 h 352863"/>
                <a:gd name="connsiteX45" fmla="*/ 188868 w 353021"/>
                <a:gd name="connsiteY45" fmla="*/ 164106 h 352863"/>
                <a:gd name="connsiteX46" fmla="*/ 232361 w 353021"/>
                <a:gd name="connsiteY46" fmla="*/ 164106 h 352863"/>
                <a:gd name="connsiteX47" fmla="*/ 278605 w 353021"/>
                <a:gd name="connsiteY47" fmla="*/ 164449 h 352863"/>
                <a:gd name="connsiteX48" fmla="*/ 285654 w 353021"/>
                <a:gd name="connsiteY48" fmla="*/ 170466 h 352863"/>
                <a:gd name="connsiteX49" fmla="*/ 287029 w 353021"/>
                <a:gd name="connsiteY49" fmla="*/ 179921 h 352863"/>
                <a:gd name="connsiteX50" fmla="*/ 283762 w 353021"/>
                <a:gd name="connsiteY50" fmla="*/ 185079 h 352863"/>
                <a:gd name="connsiteX51" fmla="*/ 278605 w 353021"/>
                <a:gd name="connsiteY51" fmla="*/ 188173 h 352863"/>
                <a:gd name="connsiteX52" fmla="*/ 225829 w 353021"/>
                <a:gd name="connsiteY52" fmla="*/ 188689 h 352863"/>
                <a:gd name="connsiteX53" fmla="*/ 173052 w 353021"/>
                <a:gd name="connsiteY53" fmla="*/ 188173 h 352863"/>
                <a:gd name="connsiteX54" fmla="*/ 167895 w 353021"/>
                <a:gd name="connsiteY54" fmla="*/ 185079 h 352863"/>
                <a:gd name="connsiteX55" fmla="*/ 164800 w 353021"/>
                <a:gd name="connsiteY55" fmla="*/ 179921 h 352863"/>
                <a:gd name="connsiteX56" fmla="*/ 164113 w 353021"/>
                <a:gd name="connsiteY56" fmla="*/ 127145 h 352863"/>
                <a:gd name="connsiteX57" fmla="*/ 164628 w 353021"/>
                <a:gd name="connsiteY57" fmla="*/ 74368 h 352863"/>
                <a:gd name="connsiteX58" fmla="*/ 167723 w 353021"/>
                <a:gd name="connsiteY58" fmla="*/ 69383 h 352863"/>
                <a:gd name="connsiteX59" fmla="*/ 172365 w 353021"/>
                <a:gd name="connsiteY59" fmla="*/ 66288 h 352863"/>
                <a:gd name="connsiteX60" fmla="*/ 176147 w 353021"/>
                <a:gd name="connsiteY60" fmla="*/ 65601 h 35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53021" h="352863">
                  <a:moveTo>
                    <a:pt x="180960" y="103"/>
                  </a:moveTo>
                  <a:cubicBezTo>
                    <a:pt x="188524" y="447"/>
                    <a:pt x="194541" y="790"/>
                    <a:pt x="199183" y="1306"/>
                  </a:cubicBezTo>
                  <a:cubicBezTo>
                    <a:pt x="223594" y="4573"/>
                    <a:pt x="246114" y="12480"/>
                    <a:pt x="266915" y="25030"/>
                  </a:cubicBezTo>
                  <a:cubicBezTo>
                    <a:pt x="287717" y="37407"/>
                    <a:pt x="305251" y="53567"/>
                    <a:pt x="319520" y="73165"/>
                  </a:cubicBezTo>
                  <a:cubicBezTo>
                    <a:pt x="333788" y="92763"/>
                    <a:pt x="343587" y="114595"/>
                    <a:pt x="348917" y="138491"/>
                  </a:cubicBezTo>
                  <a:cubicBezTo>
                    <a:pt x="355106" y="166684"/>
                    <a:pt x="354246" y="195050"/>
                    <a:pt x="346682" y="223415"/>
                  </a:cubicBezTo>
                  <a:cubicBezTo>
                    <a:pt x="338946" y="251780"/>
                    <a:pt x="325193" y="276363"/>
                    <a:pt x="305423" y="297165"/>
                  </a:cubicBezTo>
                  <a:cubicBezTo>
                    <a:pt x="275683" y="328452"/>
                    <a:pt x="239410" y="346847"/>
                    <a:pt x="196432" y="352176"/>
                  </a:cubicBezTo>
                  <a:cubicBezTo>
                    <a:pt x="191618" y="352692"/>
                    <a:pt x="184570" y="352864"/>
                    <a:pt x="175287" y="352864"/>
                  </a:cubicBezTo>
                  <a:cubicBezTo>
                    <a:pt x="166004" y="352864"/>
                    <a:pt x="158956" y="352520"/>
                    <a:pt x="154142" y="351660"/>
                  </a:cubicBezTo>
                  <a:cubicBezTo>
                    <a:pt x="127668" y="348050"/>
                    <a:pt x="103428" y="339283"/>
                    <a:pt x="81252" y="325186"/>
                  </a:cubicBezTo>
                  <a:cubicBezTo>
                    <a:pt x="59075" y="311089"/>
                    <a:pt x="41025" y="292867"/>
                    <a:pt x="26928" y="270518"/>
                  </a:cubicBezTo>
                  <a:cubicBezTo>
                    <a:pt x="13003" y="248170"/>
                    <a:pt x="4407" y="224274"/>
                    <a:pt x="1313" y="198660"/>
                  </a:cubicBezTo>
                  <a:cubicBezTo>
                    <a:pt x="-1781" y="173045"/>
                    <a:pt x="625" y="148118"/>
                    <a:pt x="8189" y="123363"/>
                  </a:cubicBezTo>
                  <a:cubicBezTo>
                    <a:pt x="15926" y="98780"/>
                    <a:pt x="28475" y="76775"/>
                    <a:pt x="45838" y="57521"/>
                  </a:cubicBezTo>
                  <a:cubicBezTo>
                    <a:pt x="61310" y="40846"/>
                    <a:pt x="78845" y="27609"/>
                    <a:pt x="98787" y="17810"/>
                  </a:cubicBezTo>
                  <a:cubicBezTo>
                    <a:pt x="118728" y="8011"/>
                    <a:pt x="139873" y="2338"/>
                    <a:pt x="162566" y="447"/>
                  </a:cubicBezTo>
                  <a:cubicBezTo>
                    <a:pt x="167207" y="-69"/>
                    <a:pt x="173396" y="-69"/>
                    <a:pt x="180960" y="103"/>
                  </a:cubicBezTo>
                  <a:close/>
                  <a:moveTo>
                    <a:pt x="176147" y="24686"/>
                  </a:moveTo>
                  <a:cubicBezTo>
                    <a:pt x="168755" y="24686"/>
                    <a:pt x="163253" y="24858"/>
                    <a:pt x="159643" y="25374"/>
                  </a:cubicBezTo>
                  <a:cubicBezTo>
                    <a:pt x="145547" y="26921"/>
                    <a:pt x="131793" y="30531"/>
                    <a:pt x="118213" y="36204"/>
                  </a:cubicBezTo>
                  <a:cubicBezTo>
                    <a:pt x="104804" y="41877"/>
                    <a:pt x="92426" y="49097"/>
                    <a:pt x="81424" y="58209"/>
                  </a:cubicBezTo>
                  <a:cubicBezTo>
                    <a:pt x="77642" y="61131"/>
                    <a:pt x="73344" y="64741"/>
                    <a:pt x="68702" y="69383"/>
                  </a:cubicBezTo>
                  <a:cubicBezTo>
                    <a:pt x="64060" y="74024"/>
                    <a:pt x="60451" y="77978"/>
                    <a:pt x="57872" y="81245"/>
                  </a:cubicBezTo>
                  <a:cubicBezTo>
                    <a:pt x="48933" y="92591"/>
                    <a:pt x="41712" y="104968"/>
                    <a:pt x="36039" y="118549"/>
                  </a:cubicBezTo>
                  <a:cubicBezTo>
                    <a:pt x="30538" y="132130"/>
                    <a:pt x="26928" y="146055"/>
                    <a:pt x="25381" y="160152"/>
                  </a:cubicBezTo>
                  <a:cubicBezTo>
                    <a:pt x="24865" y="164278"/>
                    <a:pt x="24693" y="169607"/>
                    <a:pt x="24693" y="176311"/>
                  </a:cubicBezTo>
                  <a:cubicBezTo>
                    <a:pt x="24693" y="183016"/>
                    <a:pt x="24865" y="188345"/>
                    <a:pt x="25381" y="192471"/>
                  </a:cubicBezTo>
                  <a:cubicBezTo>
                    <a:pt x="26928" y="206911"/>
                    <a:pt x="30538" y="220836"/>
                    <a:pt x="36211" y="234589"/>
                  </a:cubicBezTo>
                  <a:cubicBezTo>
                    <a:pt x="41884" y="248342"/>
                    <a:pt x="49276" y="260719"/>
                    <a:pt x="58560" y="271722"/>
                  </a:cubicBezTo>
                  <a:cubicBezTo>
                    <a:pt x="73172" y="289944"/>
                    <a:pt x="90879" y="303869"/>
                    <a:pt x="111680" y="313668"/>
                  </a:cubicBezTo>
                  <a:cubicBezTo>
                    <a:pt x="132481" y="323467"/>
                    <a:pt x="154314" y="328280"/>
                    <a:pt x="177350" y="328108"/>
                  </a:cubicBezTo>
                  <a:cubicBezTo>
                    <a:pt x="200386" y="327937"/>
                    <a:pt x="222219" y="322779"/>
                    <a:pt x="243020" y="312465"/>
                  </a:cubicBezTo>
                  <a:cubicBezTo>
                    <a:pt x="258491" y="305072"/>
                    <a:pt x="272073" y="295102"/>
                    <a:pt x="284278" y="282896"/>
                  </a:cubicBezTo>
                  <a:cubicBezTo>
                    <a:pt x="307315" y="259516"/>
                    <a:pt x="321411" y="231667"/>
                    <a:pt x="326569" y="199347"/>
                  </a:cubicBezTo>
                  <a:cubicBezTo>
                    <a:pt x="327256" y="195050"/>
                    <a:pt x="327772" y="188689"/>
                    <a:pt x="328116" y="180265"/>
                  </a:cubicBezTo>
                  <a:cubicBezTo>
                    <a:pt x="328288" y="172014"/>
                    <a:pt x="328288" y="165481"/>
                    <a:pt x="327772" y="160839"/>
                  </a:cubicBezTo>
                  <a:cubicBezTo>
                    <a:pt x="324849" y="134709"/>
                    <a:pt x="316082" y="110813"/>
                    <a:pt x="300953" y="89496"/>
                  </a:cubicBezTo>
                  <a:cubicBezTo>
                    <a:pt x="285997" y="68008"/>
                    <a:pt x="266571" y="51504"/>
                    <a:pt x="243020" y="39986"/>
                  </a:cubicBezTo>
                  <a:cubicBezTo>
                    <a:pt x="227032" y="32078"/>
                    <a:pt x="210357" y="27093"/>
                    <a:pt x="192650" y="25374"/>
                  </a:cubicBezTo>
                  <a:cubicBezTo>
                    <a:pt x="189040" y="25030"/>
                    <a:pt x="183539" y="24686"/>
                    <a:pt x="176147" y="24686"/>
                  </a:cubicBezTo>
                  <a:close/>
                  <a:moveTo>
                    <a:pt x="176147" y="65601"/>
                  </a:moveTo>
                  <a:cubicBezTo>
                    <a:pt x="178725" y="65429"/>
                    <a:pt x="181132" y="66117"/>
                    <a:pt x="183711" y="67836"/>
                  </a:cubicBezTo>
                  <a:cubicBezTo>
                    <a:pt x="186117" y="69555"/>
                    <a:pt x="187836" y="71790"/>
                    <a:pt x="188524" y="74368"/>
                  </a:cubicBezTo>
                  <a:cubicBezTo>
                    <a:pt x="188696" y="75915"/>
                    <a:pt x="188868" y="91387"/>
                    <a:pt x="188868" y="120612"/>
                  </a:cubicBezTo>
                  <a:lnTo>
                    <a:pt x="188868" y="164106"/>
                  </a:lnTo>
                  <a:lnTo>
                    <a:pt x="232361" y="164106"/>
                  </a:lnTo>
                  <a:cubicBezTo>
                    <a:pt x="261586" y="164106"/>
                    <a:pt x="277058" y="164278"/>
                    <a:pt x="278605" y="164449"/>
                  </a:cubicBezTo>
                  <a:cubicBezTo>
                    <a:pt x="281700" y="165481"/>
                    <a:pt x="284107" y="167544"/>
                    <a:pt x="285654" y="170466"/>
                  </a:cubicBezTo>
                  <a:cubicBezTo>
                    <a:pt x="287373" y="173389"/>
                    <a:pt x="287717" y="176655"/>
                    <a:pt x="287029" y="179921"/>
                  </a:cubicBezTo>
                  <a:cubicBezTo>
                    <a:pt x="286513" y="181641"/>
                    <a:pt x="285482" y="183532"/>
                    <a:pt x="283762" y="185079"/>
                  </a:cubicBezTo>
                  <a:cubicBezTo>
                    <a:pt x="282044" y="186798"/>
                    <a:pt x="280324" y="187829"/>
                    <a:pt x="278605" y="188173"/>
                  </a:cubicBezTo>
                  <a:cubicBezTo>
                    <a:pt x="276886" y="188517"/>
                    <a:pt x="259179" y="188689"/>
                    <a:pt x="225829" y="188689"/>
                  </a:cubicBezTo>
                  <a:cubicBezTo>
                    <a:pt x="192478" y="188689"/>
                    <a:pt x="174943" y="188517"/>
                    <a:pt x="173052" y="188173"/>
                  </a:cubicBezTo>
                  <a:cubicBezTo>
                    <a:pt x="171161" y="187829"/>
                    <a:pt x="169442" y="186798"/>
                    <a:pt x="167895" y="185079"/>
                  </a:cubicBezTo>
                  <a:cubicBezTo>
                    <a:pt x="166175" y="183360"/>
                    <a:pt x="165144" y="181641"/>
                    <a:pt x="164800" y="179921"/>
                  </a:cubicBezTo>
                  <a:cubicBezTo>
                    <a:pt x="164457" y="178202"/>
                    <a:pt x="164113" y="160496"/>
                    <a:pt x="164113" y="127145"/>
                  </a:cubicBezTo>
                  <a:cubicBezTo>
                    <a:pt x="163941" y="93794"/>
                    <a:pt x="164113" y="76259"/>
                    <a:pt x="164628" y="74368"/>
                  </a:cubicBezTo>
                  <a:cubicBezTo>
                    <a:pt x="165144" y="72649"/>
                    <a:pt x="166175" y="70930"/>
                    <a:pt x="167723" y="69383"/>
                  </a:cubicBezTo>
                  <a:cubicBezTo>
                    <a:pt x="169270" y="67836"/>
                    <a:pt x="170817" y="66804"/>
                    <a:pt x="172365" y="66288"/>
                  </a:cubicBezTo>
                  <a:cubicBezTo>
                    <a:pt x="174084" y="65773"/>
                    <a:pt x="175287" y="65601"/>
                    <a:pt x="176147" y="65601"/>
                  </a:cubicBezTo>
                  <a:close/>
                </a:path>
              </a:pathLst>
            </a:custGeom>
            <a:solidFill>
              <a:schemeClr val="accent1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>
                <a:solidFill>
                  <a:schemeClr val="bg1"/>
                </a:solidFill>
              </a:endParaRPr>
            </a:p>
          </p:txBody>
        </p:sp>
      </p:grpSp>
      <p:sp>
        <p:nvSpPr>
          <p:cNvPr id="13" name="Прямоугольник 12"/>
          <p:cNvSpPr/>
          <p:nvPr/>
        </p:nvSpPr>
        <p:spPr>
          <a:xfrm>
            <a:off x="244323" y="3429034"/>
            <a:ext cx="4790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b="1" dirty="0"/>
              <a:t>Сокращение </a:t>
            </a:r>
            <a:r>
              <a:rPr lang="ru-RU" b="1" dirty="0" smtClean="0"/>
              <a:t>стоимости </a:t>
            </a:r>
            <a:r>
              <a:rPr lang="ru-RU" b="1" dirty="0"/>
              <a:t>владения (</a:t>
            </a:r>
            <a:r>
              <a:rPr lang="en-US" b="1" dirty="0" smtClean="0"/>
              <a:t>TCO)</a:t>
            </a:r>
            <a:endParaRPr lang="ru-RU" b="1" dirty="0" smtClean="0"/>
          </a:p>
        </p:txBody>
      </p:sp>
      <p:sp>
        <p:nvSpPr>
          <p:cNvPr id="14" name="Полилиния: фигура 19">
            <a:extLst>
              <a:ext uri="{FF2B5EF4-FFF2-40B4-BE49-F238E27FC236}">
                <a16:creationId xmlns:a16="http://schemas.microsoft.com/office/drawing/2014/main" id="{1F4C3AB9-F77F-49CB-8082-DA244B8C9E30}"/>
              </a:ext>
            </a:extLst>
          </p:cNvPr>
          <p:cNvSpPr/>
          <p:nvPr/>
        </p:nvSpPr>
        <p:spPr>
          <a:xfrm>
            <a:off x="804894" y="3093276"/>
            <a:ext cx="221311" cy="229353"/>
          </a:xfrm>
          <a:custGeom>
            <a:avLst/>
            <a:gdLst>
              <a:gd name="connsiteX0" fmla="*/ 110806 w 221344"/>
              <a:gd name="connsiteY0" fmla="*/ 60 h 229388"/>
              <a:gd name="connsiteX1" fmla="*/ 121121 w 221344"/>
              <a:gd name="connsiteY1" fmla="*/ 6593 h 229388"/>
              <a:gd name="connsiteX2" fmla="*/ 122668 w 221344"/>
              <a:gd name="connsiteY2" fmla="*/ 9343 h 229388"/>
              <a:gd name="connsiteX3" fmla="*/ 122668 w 221344"/>
              <a:gd name="connsiteY3" fmla="*/ 187099 h 229388"/>
              <a:gd name="connsiteX4" fmla="*/ 162379 w 221344"/>
              <a:gd name="connsiteY4" fmla="*/ 147387 h 229388"/>
              <a:gd name="connsiteX5" fmla="*/ 195902 w 221344"/>
              <a:gd name="connsiteY5" fmla="*/ 114552 h 229388"/>
              <a:gd name="connsiteX6" fmla="*/ 205529 w 221344"/>
              <a:gd name="connsiteY6" fmla="*/ 106816 h 229388"/>
              <a:gd name="connsiteX7" fmla="*/ 208623 w 221344"/>
              <a:gd name="connsiteY7" fmla="*/ 106301 h 229388"/>
              <a:gd name="connsiteX8" fmla="*/ 212061 w 221344"/>
              <a:gd name="connsiteY8" fmla="*/ 106645 h 229388"/>
              <a:gd name="connsiteX9" fmla="*/ 218594 w 221344"/>
              <a:gd name="connsiteY9" fmla="*/ 111286 h 229388"/>
              <a:gd name="connsiteX10" fmla="*/ 221345 w 221344"/>
              <a:gd name="connsiteY10" fmla="*/ 118678 h 229388"/>
              <a:gd name="connsiteX11" fmla="*/ 219970 w 221344"/>
              <a:gd name="connsiteY11" fmla="*/ 123664 h 229388"/>
              <a:gd name="connsiteX12" fmla="*/ 167364 w 221344"/>
              <a:gd name="connsiteY12" fmla="*/ 177128 h 229388"/>
              <a:gd name="connsiteX13" fmla="*/ 125075 w 221344"/>
              <a:gd name="connsiteY13" fmla="*/ 219246 h 229388"/>
              <a:gd name="connsiteX14" fmla="*/ 113385 w 221344"/>
              <a:gd name="connsiteY14" fmla="*/ 228873 h 229388"/>
              <a:gd name="connsiteX15" fmla="*/ 110290 w 221344"/>
              <a:gd name="connsiteY15" fmla="*/ 229389 h 229388"/>
              <a:gd name="connsiteX16" fmla="*/ 107024 w 221344"/>
              <a:gd name="connsiteY16" fmla="*/ 228873 h 229388"/>
              <a:gd name="connsiteX17" fmla="*/ 95506 w 221344"/>
              <a:gd name="connsiteY17" fmla="*/ 219246 h 229388"/>
              <a:gd name="connsiteX18" fmla="*/ 53216 w 221344"/>
              <a:gd name="connsiteY18" fmla="*/ 177472 h 229388"/>
              <a:gd name="connsiteX19" fmla="*/ 1299 w 221344"/>
              <a:gd name="connsiteY19" fmla="*/ 124351 h 229388"/>
              <a:gd name="connsiteX20" fmla="*/ 268 w 221344"/>
              <a:gd name="connsiteY20" fmla="*/ 115928 h 229388"/>
              <a:gd name="connsiteX21" fmla="*/ 4221 w 221344"/>
              <a:gd name="connsiteY21" fmla="*/ 109051 h 229388"/>
              <a:gd name="connsiteX22" fmla="*/ 15052 w 221344"/>
              <a:gd name="connsiteY22" fmla="*/ 106816 h 229388"/>
              <a:gd name="connsiteX23" fmla="*/ 23991 w 221344"/>
              <a:gd name="connsiteY23" fmla="*/ 113865 h 229388"/>
              <a:gd name="connsiteX24" fmla="*/ 57857 w 221344"/>
              <a:gd name="connsiteY24" fmla="*/ 147559 h 229388"/>
              <a:gd name="connsiteX25" fmla="*/ 97913 w 221344"/>
              <a:gd name="connsiteY25" fmla="*/ 187271 h 229388"/>
              <a:gd name="connsiteX26" fmla="*/ 97913 w 221344"/>
              <a:gd name="connsiteY26" fmla="*/ 98393 h 229388"/>
              <a:gd name="connsiteX27" fmla="*/ 98429 w 221344"/>
              <a:gd name="connsiteY27" fmla="*/ 23268 h 229388"/>
              <a:gd name="connsiteX28" fmla="*/ 98944 w 221344"/>
              <a:gd name="connsiteY28" fmla="*/ 7108 h 229388"/>
              <a:gd name="connsiteX29" fmla="*/ 105133 w 221344"/>
              <a:gd name="connsiteY29" fmla="*/ 919 h 229388"/>
              <a:gd name="connsiteX30" fmla="*/ 110806 w 221344"/>
              <a:gd name="connsiteY30" fmla="*/ 60 h 2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21344" h="229388">
                <a:moveTo>
                  <a:pt x="110806" y="60"/>
                </a:moveTo>
                <a:cubicBezTo>
                  <a:pt x="115620" y="404"/>
                  <a:pt x="119058" y="2467"/>
                  <a:pt x="121121" y="6593"/>
                </a:cubicBezTo>
                <a:lnTo>
                  <a:pt x="122668" y="9343"/>
                </a:lnTo>
                <a:lnTo>
                  <a:pt x="122668" y="187099"/>
                </a:lnTo>
                <a:lnTo>
                  <a:pt x="162379" y="147387"/>
                </a:lnTo>
                <a:cubicBezTo>
                  <a:pt x="179570" y="130196"/>
                  <a:pt x="190745" y="119194"/>
                  <a:pt x="195902" y="114552"/>
                </a:cubicBezTo>
                <a:cubicBezTo>
                  <a:pt x="201059" y="109911"/>
                  <a:pt x="204326" y="107160"/>
                  <a:pt x="205529" y="106816"/>
                </a:cubicBezTo>
                <a:cubicBezTo>
                  <a:pt x="206904" y="106473"/>
                  <a:pt x="207764" y="106301"/>
                  <a:pt x="208623" y="106301"/>
                </a:cubicBezTo>
                <a:cubicBezTo>
                  <a:pt x="209483" y="106301"/>
                  <a:pt x="210514" y="106473"/>
                  <a:pt x="212061" y="106645"/>
                </a:cubicBezTo>
                <a:cubicBezTo>
                  <a:pt x="214640" y="107332"/>
                  <a:pt x="216875" y="108879"/>
                  <a:pt x="218594" y="111286"/>
                </a:cubicBezTo>
                <a:cubicBezTo>
                  <a:pt x="220313" y="113693"/>
                  <a:pt x="221345" y="116100"/>
                  <a:pt x="221345" y="118678"/>
                </a:cubicBezTo>
                <a:cubicBezTo>
                  <a:pt x="221345" y="120225"/>
                  <a:pt x="220829" y="121945"/>
                  <a:pt x="219970" y="123664"/>
                </a:cubicBezTo>
                <a:cubicBezTo>
                  <a:pt x="219110" y="125383"/>
                  <a:pt x="201575" y="143262"/>
                  <a:pt x="167364" y="177128"/>
                </a:cubicBezTo>
                <a:cubicBezTo>
                  <a:pt x="145532" y="199133"/>
                  <a:pt x="131435" y="213229"/>
                  <a:pt x="125075" y="219246"/>
                </a:cubicBezTo>
                <a:cubicBezTo>
                  <a:pt x="118714" y="225263"/>
                  <a:pt x="114760" y="228529"/>
                  <a:pt x="113385" y="228873"/>
                </a:cubicBezTo>
                <a:cubicBezTo>
                  <a:pt x="112010" y="229217"/>
                  <a:pt x="110978" y="229389"/>
                  <a:pt x="110290" y="229389"/>
                </a:cubicBezTo>
                <a:cubicBezTo>
                  <a:pt x="109603" y="229389"/>
                  <a:pt x="108571" y="229217"/>
                  <a:pt x="107024" y="228873"/>
                </a:cubicBezTo>
                <a:cubicBezTo>
                  <a:pt x="105477" y="228529"/>
                  <a:pt x="101695" y="225263"/>
                  <a:pt x="95506" y="219246"/>
                </a:cubicBezTo>
                <a:cubicBezTo>
                  <a:pt x="89317" y="213229"/>
                  <a:pt x="75221" y="199304"/>
                  <a:pt x="53216" y="177472"/>
                </a:cubicBezTo>
                <a:cubicBezTo>
                  <a:pt x="19350" y="143605"/>
                  <a:pt x="1986" y="125899"/>
                  <a:pt x="1299" y="124351"/>
                </a:cubicBezTo>
                <a:cubicBezTo>
                  <a:pt x="-76" y="121773"/>
                  <a:pt x="-249" y="119022"/>
                  <a:pt x="268" y="115928"/>
                </a:cubicBezTo>
                <a:cubicBezTo>
                  <a:pt x="955" y="112833"/>
                  <a:pt x="2331" y="110598"/>
                  <a:pt x="4221" y="109051"/>
                </a:cubicBezTo>
                <a:cubicBezTo>
                  <a:pt x="7488" y="106473"/>
                  <a:pt x="11098" y="105785"/>
                  <a:pt x="15052" y="106816"/>
                </a:cubicBezTo>
                <a:cubicBezTo>
                  <a:pt x="16427" y="107332"/>
                  <a:pt x="19350" y="109739"/>
                  <a:pt x="23991" y="113865"/>
                </a:cubicBezTo>
                <a:cubicBezTo>
                  <a:pt x="28633" y="117991"/>
                  <a:pt x="39807" y="129337"/>
                  <a:pt x="57857" y="147559"/>
                </a:cubicBezTo>
                <a:lnTo>
                  <a:pt x="97913" y="187271"/>
                </a:lnTo>
                <a:lnTo>
                  <a:pt x="97913" y="98393"/>
                </a:lnTo>
                <a:cubicBezTo>
                  <a:pt x="98084" y="58166"/>
                  <a:pt x="98429" y="33067"/>
                  <a:pt x="98429" y="23268"/>
                </a:cubicBezTo>
                <a:cubicBezTo>
                  <a:pt x="98600" y="13469"/>
                  <a:pt x="98772" y="8140"/>
                  <a:pt x="98944" y="7108"/>
                </a:cubicBezTo>
                <a:cubicBezTo>
                  <a:pt x="100148" y="4530"/>
                  <a:pt x="102211" y="2467"/>
                  <a:pt x="105133" y="919"/>
                </a:cubicBezTo>
                <a:cubicBezTo>
                  <a:pt x="106680" y="60"/>
                  <a:pt x="108571" y="-112"/>
                  <a:pt x="110806" y="60"/>
                </a:cubicBez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Полилиния: фигура 218">
            <a:extLst>
              <a:ext uri="{FF2B5EF4-FFF2-40B4-BE49-F238E27FC236}">
                <a16:creationId xmlns:a16="http://schemas.microsoft.com/office/drawing/2014/main" id="{36E3DC22-A9E4-47A9-B24A-0182304809C9}"/>
              </a:ext>
            </a:extLst>
          </p:cNvPr>
          <p:cNvSpPr/>
          <p:nvPr/>
        </p:nvSpPr>
        <p:spPr>
          <a:xfrm>
            <a:off x="448959" y="3037310"/>
            <a:ext cx="229628" cy="291570"/>
          </a:xfrm>
          <a:custGeom>
            <a:avLst/>
            <a:gdLst>
              <a:gd name="connsiteX0" fmla="*/ 146124 w 181022"/>
              <a:gd name="connsiteY0" fmla="*/ 8946 h 229851"/>
              <a:gd name="connsiteX1" fmla="*/ 171567 w 181022"/>
              <a:gd name="connsiteY1" fmla="*/ 33358 h 229851"/>
              <a:gd name="connsiteX2" fmla="*/ 181022 w 181022"/>
              <a:gd name="connsiteY2" fmla="*/ 67052 h 229851"/>
              <a:gd name="connsiteX3" fmla="*/ 171567 w 181022"/>
              <a:gd name="connsiteY3" fmla="*/ 100918 h 229851"/>
              <a:gd name="connsiteX4" fmla="*/ 146296 w 181022"/>
              <a:gd name="connsiteY4" fmla="*/ 125502 h 229851"/>
              <a:gd name="connsiteX5" fmla="*/ 111570 w 181022"/>
              <a:gd name="connsiteY5" fmla="*/ 134613 h 229851"/>
              <a:gd name="connsiteX6" fmla="*/ 54152 w 181022"/>
              <a:gd name="connsiteY6" fmla="*/ 134613 h 229851"/>
              <a:gd name="connsiteX7" fmla="*/ 54152 w 181022"/>
              <a:gd name="connsiteY7" fmla="*/ 163494 h 229851"/>
              <a:gd name="connsiteX8" fmla="*/ 111570 w 181022"/>
              <a:gd name="connsiteY8" fmla="*/ 163494 h 229851"/>
              <a:gd name="connsiteX9" fmla="*/ 120853 w 181022"/>
              <a:gd name="connsiteY9" fmla="*/ 167276 h 229851"/>
              <a:gd name="connsiteX10" fmla="*/ 124635 w 181022"/>
              <a:gd name="connsiteY10" fmla="*/ 176387 h 229851"/>
              <a:gd name="connsiteX11" fmla="*/ 120853 w 181022"/>
              <a:gd name="connsiteY11" fmla="*/ 185155 h 229851"/>
              <a:gd name="connsiteX12" fmla="*/ 111570 w 181022"/>
              <a:gd name="connsiteY12" fmla="*/ 188765 h 229851"/>
              <a:gd name="connsiteX13" fmla="*/ 54152 w 181022"/>
              <a:gd name="connsiteY13" fmla="*/ 188765 h 229851"/>
              <a:gd name="connsiteX14" fmla="*/ 54152 w 181022"/>
              <a:gd name="connsiteY14" fmla="*/ 217302 h 229851"/>
              <a:gd name="connsiteX15" fmla="*/ 50370 w 181022"/>
              <a:gd name="connsiteY15" fmla="*/ 226069 h 229851"/>
              <a:gd name="connsiteX16" fmla="*/ 41087 w 181022"/>
              <a:gd name="connsiteY16" fmla="*/ 229851 h 229851"/>
              <a:gd name="connsiteX17" fmla="*/ 31804 w 181022"/>
              <a:gd name="connsiteY17" fmla="*/ 226069 h 229851"/>
              <a:gd name="connsiteX18" fmla="*/ 28022 w 181022"/>
              <a:gd name="connsiteY18" fmla="*/ 217302 h 229851"/>
              <a:gd name="connsiteX19" fmla="*/ 28022 w 181022"/>
              <a:gd name="connsiteY19" fmla="*/ 188765 h 229851"/>
              <a:gd name="connsiteX20" fmla="*/ 13065 w 181022"/>
              <a:gd name="connsiteY20" fmla="*/ 188765 h 229851"/>
              <a:gd name="connsiteX21" fmla="*/ 3782 w 181022"/>
              <a:gd name="connsiteY21" fmla="*/ 185155 h 229851"/>
              <a:gd name="connsiteX22" fmla="*/ 0 w 181022"/>
              <a:gd name="connsiteY22" fmla="*/ 176387 h 229851"/>
              <a:gd name="connsiteX23" fmla="*/ 3782 w 181022"/>
              <a:gd name="connsiteY23" fmla="*/ 167276 h 229851"/>
              <a:gd name="connsiteX24" fmla="*/ 13065 w 181022"/>
              <a:gd name="connsiteY24" fmla="*/ 163494 h 229851"/>
              <a:gd name="connsiteX25" fmla="*/ 28022 w 181022"/>
              <a:gd name="connsiteY25" fmla="*/ 163494 h 229851"/>
              <a:gd name="connsiteX26" fmla="*/ 28022 w 181022"/>
              <a:gd name="connsiteY26" fmla="*/ 134613 h 229851"/>
              <a:gd name="connsiteX27" fmla="*/ 13065 w 181022"/>
              <a:gd name="connsiteY27" fmla="*/ 134613 h 229851"/>
              <a:gd name="connsiteX28" fmla="*/ 3782 w 181022"/>
              <a:gd name="connsiteY28" fmla="*/ 130831 h 229851"/>
              <a:gd name="connsiteX29" fmla="*/ 0 w 181022"/>
              <a:gd name="connsiteY29" fmla="*/ 121720 h 229851"/>
              <a:gd name="connsiteX30" fmla="*/ 3782 w 181022"/>
              <a:gd name="connsiteY30" fmla="*/ 112952 h 229851"/>
              <a:gd name="connsiteX31" fmla="*/ 13065 w 181022"/>
              <a:gd name="connsiteY31" fmla="*/ 109342 h 229851"/>
              <a:gd name="connsiteX32" fmla="*/ 28022 w 181022"/>
              <a:gd name="connsiteY32" fmla="*/ 109342 h 229851"/>
              <a:gd name="connsiteX33" fmla="*/ 28022 w 181022"/>
              <a:gd name="connsiteY33" fmla="*/ 12728 h 229851"/>
              <a:gd name="connsiteX34" fmla="*/ 31804 w 181022"/>
              <a:gd name="connsiteY34" fmla="*/ 3789 h 229851"/>
              <a:gd name="connsiteX35" fmla="*/ 41087 w 181022"/>
              <a:gd name="connsiteY35" fmla="*/ 7 h 229851"/>
              <a:gd name="connsiteX36" fmla="*/ 111570 w 181022"/>
              <a:gd name="connsiteY36" fmla="*/ 7 h 229851"/>
              <a:gd name="connsiteX37" fmla="*/ 146124 w 181022"/>
              <a:gd name="connsiteY37" fmla="*/ 8946 h 229851"/>
              <a:gd name="connsiteX38" fmla="*/ 133059 w 181022"/>
              <a:gd name="connsiteY38" fmla="*/ 103325 h 229851"/>
              <a:gd name="connsiteX39" fmla="*/ 148875 w 181022"/>
              <a:gd name="connsiteY39" fmla="*/ 88197 h 229851"/>
              <a:gd name="connsiteX40" fmla="*/ 154892 w 181022"/>
              <a:gd name="connsiteY40" fmla="*/ 67224 h 229851"/>
              <a:gd name="connsiteX41" fmla="*/ 148875 w 181022"/>
              <a:gd name="connsiteY41" fmla="*/ 46079 h 229851"/>
              <a:gd name="connsiteX42" fmla="*/ 133059 w 181022"/>
              <a:gd name="connsiteY42" fmla="*/ 30951 h 229851"/>
              <a:gd name="connsiteX43" fmla="*/ 111742 w 181022"/>
              <a:gd name="connsiteY43" fmla="*/ 25278 h 229851"/>
              <a:gd name="connsiteX44" fmla="*/ 54324 w 181022"/>
              <a:gd name="connsiteY44" fmla="*/ 25278 h 229851"/>
              <a:gd name="connsiteX45" fmla="*/ 54324 w 181022"/>
              <a:gd name="connsiteY45" fmla="*/ 109170 h 229851"/>
              <a:gd name="connsiteX46" fmla="*/ 111742 w 181022"/>
              <a:gd name="connsiteY46" fmla="*/ 109170 h 229851"/>
              <a:gd name="connsiteX47" fmla="*/ 133059 w 181022"/>
              <a:gd name="connsiteY47" fmla="*/ 103325 h 2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81022" h="229851">
                <a:moveTo>
                  <a:pt x="146124" y="8946"/>
                </a:moveTo>
                <a:cubicBezTo>
                  <a:pt x="156783" y="14963"/>
                  <a:pt x="165206" y="23043"/>
                  <a:pt x="171567" y="33358"/>
                </a:cubicBezTo>
                <a:cubicBezTo>
                  <a:pt x="177928" y="43672"/>
                  <a:pt x="181022" y="54846"/>
                  <a:pt x="181022" y="67052"/>
                </a:cubicBezTo>
                <a:cubicBezTo>
                  <a:pt x="181022" y="79258"/>
                  <a:pt x="177928" y="90604"/>
                  <a:pt x="171567" y="100918"/>
                </a:cubicBezTo>
                <a:cubicBezTo>
                  <a:pt x="165206" y="111233"/>
                  <a:pt x="156955" y="119485"/>
                  <a:pt x="146296" y="125502"/>
                </a:cubicBezTo>
                <a:cubicBezTo>
                  <a:pt x="135810" y="131518"/>
                  <a:pt x="124292" y="134613"/>
                  <a:pt x="111570" y="134613"/>
                </a:cubicBezTo>
                <a:lnTo>
                  <a:pt x="54152" y="134613"/>
                </a:lnTo>
                <a:lnTo>
                  <a:pt x="54152" y="163494"/>
                </a:lnTo>
                <a:lnTo>
                  <a:pt x="111570" y="163494"/>
                </a:lnTo>
                <a:cubicBezTo>
                  <a:pt x="115180" y="163494"/>
                  <a:pt x="118275" y="164698"/>
                  <a:pt x="120853" y="167276"/>
                </a:cubicBezTo>
                <a:cubicBezTo>
                  <a:pt x="123432" y="169855"/>
                  <a:pt x="124635" y="172777"/>
                  <a:pt x="124635" y="176387"/>
                </a:cubicBezTo>
                <a:cubicBezTo>
                  <a:pt x="124635" y="179826"/>
                  <a:pt x="123260" y="182748"/>
                  <a:pt x="120853" y="185155"/>
                </a:cubicBezTo>
                <a:cubicBezTo>
                  <a:pt x="118275" y="187561"/>
                  <a:pt x="115180" y="188765"/>
                  <a:pt x="111570" y="188765"/>
                </a:cubicBezTo>
                <a:lnTo>
                  <a:pt x="54152" y="188765"/>
                </a:lnTo>
                <a:lnTo>
                  <a:pt x="54152" y="217302"/>
                </a:lnTo>
                <a:cubicBezTo>
                  <a:pt x="54152" y="220569"/>
                  <a:pt x="52777" y="223663"/>
                  <a:pt x="50370" y="226069"/>
                </a:cubicBezTo>
                <a:cubicBezTo>
                  <a:pt x="47791" y="228648"/>
                  <a:pt x="44697" y="229851"/>
                  <a:pt x="41087" y="229851"/>
                </a:cubicBezTo>
                <a:cubicBezTo>
                  <a:pt x="37477" y="229851"/>
                  <a:pt x="34382" y="228648"/>
                  <a:pt x="31804" y="226069"/>
                </a:cubicBezTo>
                <a:cubicBezTo>
                  <a:pt x="29225" y="223491"/>
                  <a:pt x="28022" y="220569"/>
                  <a:pt x="28022" y="217302"/>
                </a:cubicBezTo>
                <a:lnTo>
                  <a:pt x="28022" y="188765"/>
                </a:lnTo>
                <a:lnTo>
                  <a:pt x="13065" y="188765"/>
                </a:lnTo>
                <a:cubicBezTo>
                  <a:pt x="9455" y="188765"/>
                  <a:pt x="6361" y="187561"/>
                  <a:pt x="3782" y="185155"/>
                </a:cubicBezTo>
                <a:cubicBezTo>
                  <a:pt x="1204" y="182748"/>
                  <a:pt x="0" y="179826"/>
                  <a:pt x="0" y="176387"/>
                </a:cubicBezTo>
                <a:cubicBezTo>
                  <a:pt x="0" y="172949"/>
                  <a:pt x="1204" y="169855"/>
                  <a:pt x="3782" y="167276"/>
                </a:cubicBezTo>
                <a:cubicBezTo>
                  <a:pt x="6361" y="164698"/>
                  <a:pt x="9455" y="163494"/>
                  <a:pt x="13065" y="163494"/>
                </a:cubicBezTo>
                <a:lnTo>
                  <a:pt x="28022" y="163494"/>
                </a:lnTo>
                <a:lnTo>
                  <a:pt x="28022" y="134613"/>
                </a:lnTo>
                <a:lnTo>
                  <a:pt x="13065" y="134613"/>
                </a:lnTo>
                <a:cubicBezTo>
                  <a:pt x="9455" y="134613"/>
                  <a:pt x="6361" y="133410"/>
                  <a:pt x="3782" y="130831"/>
                </a:cubicBezTo>
                <a:cubicBezTo>
                  <a:pt x="1204" y="128253"/>
                  <a:pt x="0" y="125158"/>
                  <a:pt x="0" y="121720"/>
                </a:cubicBezTo>
                <a:cubicBezTo>
                  <a:pt x="0" y="118281"/>
                  <a:pt x="1204" y="115359"/>
                  <a:pt x="3782" y="112952"/>
                </a:cubicBezTo>
                <a:cubicBezTo>
                  <a:pt x="6361" y="110545"/>
                  <a:pt x="9455" y="109342"/>
                  <a:pt x="13065" y="109342"/>
                </a:cubicBezTo>
                <a:lnTo>
                  <a:pt x="28022" y="109342"/>
                </a:lnTo>
                <a:lnTo>
                  <a:pt x="28022" y="12728"/>
                </a:lnTo>
                <a:cubicBezTo>
                  <a:pt x="28022" y="9462"/>
                  <a:pt x="29225" y="6368"/>
                  <a:pt x="31804" y="3789"/>
                </a:cubicBezTo>
                <a:cubicBezTo>
                  <a:pt x="34382" y="1210"/>
                  <a:pt x="37477" y="7"/>
                  <a:pt x="41087" y="7"/>
                </a:cubicBezTo>
                <a:lnTo>
                  <a:pt x="111570" y="7"/>
                </a:lnTo>
                <a:cubicBezTo>
                  <a:pt x="123948" y="-165"/>
                  <a:pt x="135466" y="2929"/>
                  <a:pt x="146124" y="8946"/>
                </a:cubicBezTo>
                <a:close/>
                <a:moveTo>
                  <a:pt x="133059" y="103325"/>
                </a:moveTo>
                <a:cubicBezTo>
                  <a:pt x="139592" y="99543"/>
                  <a:pt x="144921" y="94386"/>
                  <a:pt x="148875" y="88197"/>
                </a:cubicBezTo>
                <a:cubicBezTo>
                  <a:pt x="152829" y="81836"/>
                  <a:pt x="154892" y="74960"/>
                  <a:pt x="154892" y="67224"/>
                </a:cubicBezTo>
                <a:cubicBezTo>
                  <a:pt x="154892" y="59488"/>
                  <a:pt x="152829" y="52440"/>
                  <a:pt x="148875" y="46079"/>
                </a:cubicBezTo>
                <a:cubicBezTo>
                  <a:pt x="144921" y="39718"/>
                  <a:pt x="139592" y="34561"/>
                  <a:pt x="133059" y="30951"/>
                </a:cubicBezTo>
                <a:cubicBezTo>
                  <a:pt x="126526" y="27169"/>
                  <a:pt x="119478" y="25278"/>
                  <a:pt x="111742" y="25278"/>
                </a:cubicBezTo>
                <a:lnTo>
                  <a:pt x="54324" y="25278"/>
                </a:lnTo>
                <a:lnTo>
                  <a:pt x="54324" y="109170"/>
                </a:lnTo>
                <a:lnTo>
                  <a:pt x="111742" y="109170"/>
                </a:lnTo>
                <a:cubicBezTo>
                  <a:pt x="119306" y="109170"/>
                  <a:pt x="126354" y="107279"/>
                  <a:pt x="133059" y="103325"/>
                </a:cubicBez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244323" y="4832942"/>
            <a:ext cx="4790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b="1" dirty="0"/>
              <a:t>Увеличение </a:t>
            </a:r>
            <a:r>
              <a:rPr lang="en-US" b="1" dirty="0"/>
              <a:t>CLTV</a:t>
            </a:r>
            <a:endParaRPr lang="ru-RU" b="1" dirty="0" smtClean="0"/>
          </a:p>
        </p:txBody>
      </p:sp>
      <p:sp>
        <p:nvSpPr>
          <p:cNvPr id="25" name="Полилиния: фигура 19">
            <a:extLst>
              <a:ext uri="{FF2B5EF4-FFF2-40B4-BE49-F238E27FC236}">
                <a16:creationId xmlns:a16="http://schemas.microsoft.com/office/drawing/2014/main" id="{1F4C3AB9-F77F-49CB-8082-DA244B8C9E30}"/>
              </a:ext>
            </a:extLst>
          </p:cNvPr>
          <p:cNvSpPr/>
          <p:nvPr/>
        </p:nvSpPr>
        <p:spPr>
          <a:xfrm flipV="1">
            <a:off x="804894" y="4497184"/>
            <a:ext cx="221311" cy="229353"/>
          </a:xfrm>
          <a:custGeom>
            <a:avLst/>
            <a:gdLst>
              <a:gd name="connsiteX0" fmla="*/ 110806 w 221344"/>
              <a:gd name="connsiteY0" fmla="*/ 60 h 229388"/>
              <a:gd name="connsiteX1" fmla="*/ 121121 w 221344"/>
              <a:gd name="connsiteY1" fmla="*/ 6593 h 229388"/>
              <a:gd name="connsiteX2" fmla="*/ 122668 w 221344"/>
              <a:gd name="connsiteY2" fmla="*/ 9343 h 229388"/>
              <a:gd name="connsiteX3" fmla="*/ 122668 w 221344"/>
              <a:gd name="connsiteY3" fmla="*/ 187099 h 229388"/>
              <a:gd name="connsiteX4" fmla="*/ 162379 w 221344"/>
              <a:gd name="connsiteY4" fmla="*/ 147387 h 229388"/>
              <a:gd name="connsiteX5" fmla="*/ 195902 w 221344"/>
              <a:gd name="connsiteY5" fmla="*/ 114552 h 229388"/>
              <a:gd name="connsiteX6" fmla="*/ 205529 w 221344"/>
              <a:gd name="connsiteY6" fmla="*/ 106816 h 229388"/>
              <a:gd name="connsiteX7" fmla="*/ 208623 w 221344"/>
              <a:gd name="connsiteY7" fmla="*/ 106301 h 229388"/>
              <a:gd name="connsiteX8" fmla="*/ 212061 w 221344"/>
              <a:gd name="connsiteY8" fmla="*/ 106645 h 229388"/>
              <a:gd name="connsiteX9" fmla="*/ 218594 w 221344"/>
              <a:gd name="connsiteY9" fmla="*/ 111286 h 229388"/>
              <a:gd name="connsiteX10" fmla="*/ 221345 w 221344"/>
              <a:gd name="connsiteY10" fmla="*/ 118678 h 229388"/>
              <a:gd name="connsiteX11" fmla="*/ 219970 w 221344"/>
              <a:gd name="connsiteY11" fmla="*/ 123664 h 229388"/>
              <a:gd name="connsiteX12" fmla="*/ 167364 w 221344"/>
              <a:gd name="connsiteY12" fmla="*/ 177128 h 229388"/>
              <a:gd name="connsiteX13" fmla="*/ 125075 w 221344"/>
              <a:gd name="connsiteY13" fmla="*/ 219246 h 229388"/>
              <a:gd name="connsiteX14" fmla="*/ 113385 w 221344"/>
              <a:gd name="connsiteY14" fmla="*/ 228873 h 229388"/>
              <a:gd name="connsiteX15" fmla="*/ 110290 w 221344"/>
              <a:gd name="connsiteY15" fmla="*/ 229389 h 229388"/>
              <a:gd name="connsiteX16" fmla="*/ 107024 w 221344"/>
              <a:gd name="connsiteY16" fmla="*/ 228873 h 229388"/>
              <a:gd name="connsiteX17" fmla="*/ 95506 w 221344"/>
              <a:gd name="connsiteY17" fmla="*/ 219246 h 229388"/>
              <a:gd name="connsiteX18" fmla="*/ 53216 w 221344"/>
              <a:gd name="connsiteY18" fmla="*/ 177472 h 229388"/>
              <a:gd name="connsiteX19" fmla="*/ 1299 w 221344"/>
              <a:gd name="connsiteY19" fmla="*/ 124351 h 229388"/>
              <a:gd name="connsiteX20" fmla="*/ 268 w 221344"/>
              <a:gd name="connsiteY20" fmla="*/ 115928 h 229388"/>
              <a:gd name="connsiteX21" fmla="*/ 4221 w 221344"/>
              <a:gd name="connsiteY21" fmla="*/ 109051 h 229388"/>
              <a:gd name="connsiteX22" fmla="*/ 15052 w 221344"/>
              <a:gd name="connsiteY22" fmla="*/ 106816 h 229388"/>
              <a:gd name="connsiteX23" fmla="*/ 23991 w 221344"/>
              <a:gd name="connsiteY23" fmla="*/ 113865 h 229388"/>
              <a:gd name="connsiteX24" fmla="*/ 57857 w 221344"/>
              <a:gd name="connsiteY24" fmla="*/ 147559 h 229388"/>
              <a:gd name="connsiteX25" fmla="*/ 97913 w 221344"/>
              <a:gd name="connsiteY25" fmla="*/ 187271 h 229388"/>
              <a:gd name="connsiteX26" fmla="*/ 97913 w 221344"/>
              <a:gd name="connsiteY26" fmla="*/ 98393 h 229388"/>
              <a:gd name="connsiteX27" fmla="*/ 98429 w 221344"/>
              <a:gd name="connsiteY27" fmla="*/ 23268 h 229388"/>
              <a:gd name="connsiteX28" fmla="*/ 98944 w 221344"/>
              <a:gd name="connsiteY28" fmla="*/ 7108 h 229388"/>
              <a:gd name="connsiteX29" fmla="*/ 105133 w 221344"/>
              <a:gd name="connsiteY29" fmla="*/ 919 h 229388"/>
              <a:gd name="connsiteX30" fmla="*/ 110806 w 221344"/>
              <a:gd name="connsiteY30" fmla="*/ 60 h 2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21344" h="229388">
                <a:moveTo>
                  <a:pt x="110806" y="60"/>
                </a:moveTo>
                <a:cubicBezTo>
                  <a:pt x="115620" y="404"/>
                  <a:pt x="119058" y="2467"/>
                  <a:pt x="121121" y="6593"/>
                </a:cubicBezTo>
                <a:lnTo>
                  <a:pt x="122668" y="9343"/>
                </a:lnTo>
                <a:lnTo>
                  <a:pt x="122668" y="187099"/>
                </a:lnTo>
                <a:lnTo>
                  <a:pt x="162379" y="147387"/>
                </a:lnTo>
                <a:cubicBezTo>
                  <a:pt x="179570" y="130196"/>
                  <a:pt x="190745" y="119194"/>
                  <a:pt x="195902" y="114552"/>
                </a:cubicBezTo>
                <a:cubicBezTo>
                  <a:pt x="201059" y="109911"/>
                  <a:pt x="204326" y="107160"/>
                  <a:pt x="205529" y="106816"/>
                </a:cubicBezTo>
                <a:cubicBezTo>
                  <a:pt x="206904" y="106473"/>
                  <a:pt x="207764" y="106301"/>
                  <a:pt x="208623" y="106301"/>
                </a:cubicBezTo>
                <a:cubicBezTo>
                  <a:pt x="209483" y="106301"/>
                  <a:pt x="210514" y="106473"/>
                  <a:pt x="212061" y="106645"/>
                </a:cubicBezTo>
                <a:cubicBezTo>
                  <a:pt x="214640" y="107332"/>
                  <a:pt x="216875" y="108879"/>
                  <a:pt x="218594" y="111286"/>
                </a:cubicBezTo>
                <a:cubicBezTo>
                  <a:pt x="220313" y="113693"/>
                  <a:pt x="221345" y="116100"/>
                  <a:pt x="221345" y="118678"/>
                </a:cubicBezTo>
                <a:cubicBezTo>
                  <a:pt x="221345" y="120225"/>
                  <a:pt x="220829" y="121945"/>
                  <a:pt x="219970" y="123664"/>
                </a:cubicBezTo>
                <a:cubicBezTo>
                  <a:pt x="219110" y="125383"/>
                  <a:pt x="201575" y="143262"/>
                  <a:pt x="167364" y="177128"/>
                </a:cubicBezTo>
                <a:cubicBezTo>
                  <a:pt x="145532" y="199133"/>
                  <a:pt x="131435" y="213229"/>
                  <a:pt x="125075" y="219246"/>
                </a:cubicBezTo>
                <a:cubicBezTo>
                  <a:pt x="118714" y="225263"/>
                  <a:pt x="114760" y="228529"/>
                  <a:pt x="113385" y="228873"/>
                </a:cubicBezTo>
                <a:cubicBezTo>
                  <a:pt x="112010" y="229217"/>
                  <a:pt x="110978" y="229389"/>
                  <a:pt x="110290" y="229389"/>
                </a:cubicBezTo>
                <a:cubicBezTo>
                  <a:pt x="109603" y="229389"/>
                  <a:pt x="108571" y="229217"/>
                  <a:pt x="107024" y="228873"/>
                </a:cubicBezTo>
                <a:cubicBezTo>
                  <a:pt x="105477" y="228529"/>
                  <a:pt x="101695" y="225263"/>
                  <a:pt x="95506" y="219246"/>
                </a:cubicBezTo>
                <a:cubicBezTo>
                  <a:pt x="89317" y="213229"/>
                  <a:pt x="75221" y="199304"/>
                  <a:pt x="53216" y="177472"/>
                </a:cubicBezTo>
                <a:cubicBezTo>
                  <a:pt x="19350" y="143605"/>
                  <a:pt x="1986" y="125899"/>
                  <a:pt x="1299" y="124351"/>
                </a:cubicBezTo>
                <a:cubicBezTo>
                  <a:pt x="-76" y="121773"/>
                  <a:pt x="-249" y="119022"/>
                  <a:pt x="268" y="115928"/>
                </a:cubicBezTo>
                <a:cubicBezTo>
                  <a:pt x="955" y="112833"/>
                  <a:pt x="2331" y="110598"/>
                  <a:pt x="4221" y="109051"/>
                </a:cubicBezTo>
                <a:cubicBezTo>
                  <a:pt x="7488" y="106473"/>
                  <a:pt x="11098" y="105785"/>
                  <a:pt x="15052" y="106816"/>
                </a:cubicBezTo>
                <a:cubicBezTo>
                  <a:pt x="16427" y="107332"/>
                  <a:pt x="19350" y="109739"/>
                  <a:pt x="23991" y="113865"/>
                </a:cubicBezTo>
                <a:cubicBezTo>
                  <a:pt x="28633" y="117991"/>
                  <a:pt x="39807" y="129337"/>
                  <a:pt x="57857" y="147559"/>
                </a:cubicBezTo>
                <a:lnTo>
                  <a:pt x="97913" y="187271"/>
                </a:lnTo>
                <a:lnTo>
                  <a:pt x="97913" y="98393"/>
                </a:lnTo>
                <a:cubicBezTo>
                  <a:pt x="98084" y="58166"/>
                  <a:pt x="98429" y="33067"/>
                  <a:pt x="98429" y="23268"/>
                </a:cubicBezTo>
                <a:cubicBezTo>
                  <a:pt x="98600" y="13469"/>
                  <a:pt x="98772" y="8140"/>
                  <a:pt x="98944" y="7108"/>
                </a:cubicBezTo>
                <a:cubicBezTo>
                  <a:pt x="100148" y="4530"/>
                  <a:pt x="102211" y="2467"/>
                  <a:pt x="105133" y="919"/>
                </a:cubicBezTo>
                <a:cubicBezTo>
                  <a:pt x="106680" y="60"/>
                  <a:pt x="108571" y="-112"/>
                  <a:pt x="110806" y="60"/>
                </a:cubicBez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9" name="Полилиния: фигура 121">
            <a:extLst>
              <a:ext uri="{FF2B5EF4-FFF2-40B4-BE49-F238E27FC236}">
                <a16:creationId xmlns:a16="http://schemas.microsoft.com/office/drawing/2014/main" id="{DCD91D1D-5F4E-4D39-9E96-D8F9979C4889}"/>
              </a:ext>
            </a:extLst>
          </p:cNvPr>
          <p:cNvSpPr/>
          <p:nvPr/>
        </p:nvSpPr>
        <p:spPr>
          <a:xfrm>
            <a:off x="364173" y="4459797"/>
            <a:ext cx="385993" cy="304125"/>
          </a:xfrm>
          <a:custGeom>
            <a:avLst/>
            <a:gdLst>
              <a:gd name="connsiteX0" fmla="*/ 300156 w 386052"/>
              <a:gd name="connsiteY0" fmla="*/ 928 h 304172"/>
              <a:gd name="connsiteX1" fmla="*/ 316660 w 386052"/>
              <a:gd name="connsiteY1" fmla="*/ 5570 h 304172"/>
              <a:gd name="connsiteX2" fmla="*/ 335398 w 386052"/>
              <a:gd name="connsiteY2" fmla="*/ 18463 h 304172"/>
              <a:gd name="connsiteX3" fmla="*/ 348291 w 386052"/>
              <a:gd name="connsiteY3" fmla="*/ 37545 h 304172"/>
              <a:gd name="connsiteX4" fmla="*/ 353277 w 386052"/>
              <a:gd name="connsiteY4" fmla="*/ 61785 h 304172"/>
              <a:gd name="connsiteX5" fmla="*/ 348291 w 386052"/>
              <a:gd name="connsiteY5" fmla="*/ 86024 h 304172"/>
              <a:gd name="connsiteX6" fmla="*/ 336773 w 386052"/>
              <a:gd name="connsiteY6" fmla="*/ 103731 h 304172"/>
              <a:gd name="connsiteX7" fmla="*/ 336429 w 386052"/>
              <a:gd name="connsiteY7" fmla="*/ 104075 h 304172"/>
              <a:gd name="connsiteX8" fmla="*/ 333679 w 386052"/>
              <a:gd name="connsiteY8" fmla="*/ 107857 h 304172"/>
              <a:gd name="connsiteX9" fmla="*/ 336773 w 386052"/>
              <a:gd name="connsiteY9" fmla="*/ 110092 h 304172"/>
              <a:gd name="connsiteX10" fmla="*/ 337461 w 386052"/>
              <a:gd name="connsiteY10" fmla="*/ 110436 h 304172"/>
              <a:gd name="connsiteX11" fmla="*/ 350870 w 386052"/>
              <a:gd name="connsiteY11" fmla="*/ 119719 h 304172"/>
              <a:gd name="connsiteX12" fmla="*/ 363247 w 386052"/>
              <a:gd name="connsiteY12" fmla="*/ 131237 h 304172"/>
              <a:gd name="connsiteX13" fmla="*/ 379751 w 386052"/>
              <a:gd name="connsiteY13" fmla="*/ 159086 h 304172"/>
              <a:gd name="connsiteX14" fmla="*/ 385940 w 386052"/>
              <a:gd name="connsiteY14" fmla="*/ 191234 h 304172"/>
              <a:gd name="connsiteX15" fmla="*/ 385768 w 386052"/>
              <a:gd name="connsiteY15" fmla="*/ 202923 h 304172"/>
              <a:gd name="connsiteX16" fmla="*/ 382845 w 386052"/>
              <a:gd name="connsiteY16" fmla="*/ 208940 h 304172"/>
              <a:gd name="connsiteX17" fmla="*/ 373734 w 386052"/>
              <a:gd name="connsiteY17" fmla="*/ 213238 h 304172"/>
              <a:gd name="connsiteX18" fmla="*/ 364623 w 386052"/>
              <a:gd name="connsiteY18" fmla="*/ 208940 h 304172"/>
              <a:gd name="connsiteX19" fmla="*/ 361700 w 386052"/>
              <a:gd name="connsiteY19" fmla="*/ 203783 h 304172"/>
              <a:gd name="connsiteX20" fmla="*/ 361184 w 386052"/>
              <a:gd name="connsiteY20" fmla="*/ 194328 h 304172"/>
              <a:gd name="connsiteX21" fmla="*/ 359981 w 386052"/>
              <a:gd name="connsiteY21" fmla="*/ 180919 h 304172"/>
              <a:gd name="connsiteX22" fmla="*/ 347432 w 386052"/>
              <a:gd name="connsiteY22" fmla="*/ 151350 h 304172"/>
              <a:gd name="connsiteX23" fmla="*/ 323020 w 386052"/>
              <a:gd name="connsiteY23" fmla="*/ 130721 h 304172"/>
              <a:gd name="connsiteX24" fmla="*/ 291904 w 386052"/>
              <a:gd name="connsiteY24" fmla="*/ 123157 h 304172"/>
              <a:gd name="connsiteX25" fmla="*/ 260960 w 386052"/>
              <a:gd name="connsiteY25" fmla="*/ 130549 h 304172"/>
              <a:gd name="connsiteX26" fmla="*/ 236549 w 386052"/>
              <a:gd name="connsiteY26" fmla="*/ 150319 h 304172"/>
              <a:gd name="connsiteX27" fmla="*/ 223484 w 386052"/>
              <a:gd name="connsiteY27" fmla="*/ 179028 h 304172"/>
              <a:gd name="connsiteX28" fmla="*/ 222109 w 386052"/>
              <a:gd name="connsiteY28" fmla="*/ 188483 h 304172"/>
              <a:gd name="connsiteX29" fmla="*/ 225719 w 386052"/>
              <a:gd name="connsiteY29" fmla="*/ 194500 h 304172"/>
              <a:gd name="connsiteX30" fmla="*/ 244973 w 386052"/>
              <a:gd name="connsiteY30" fmla="*/ 227163 h 304172"/>
              <a:gd name="connsiteX31" fmla="*/ 254256 w 386052"/>
              <a:gd name="connsiteY31" fmla="*/ 264467 h 304172"/>
              <a:gd name="connsiteX32" fmla="*/ 254600 w 386052"/>
              <a:gd name="connsiteY32" fmla="*/ 282002 h 304172"/>
              <a:gd name="connsiteX33" fmla="*/ 254256 w 386052"/>
              <a:gd name="connsiteY33" fmla="*/ 294896 h 304172"/>
              <a:gd name="connsiteX34" fmla="*/ 246004 w 386052"/>
              <a:gd name="connsiteY34" fmla="*/ 303319 h 304172"/>
              <a:gd name="connsiteX35" fmla="*/ 234658 w 386052"/>
              <a:gd name="connsiteY35" fmla="*/ 301084 h 304172"/>
              <a:gd name="connsiteX36" fmla="*/ 231564 w 386052"/>
              <a:gd name="connsiteY36" fmla="*/ 297646 h 304172"/>
              <a:gd name="connsiteX37" fmla="*/ 230360 w 386052"/>
              <a:gd name="connsiteY37" fmla="*/ 291801 h 304172"/>
              <a:gd name="connsiteX38" fmla="*/ 229673 w 386052"/>
              <a:gd name="connsiteY38" fmla="*/ 278392 h 304172"/>
              <a:gd name="connsiteX39" fmla="*/ 227438 w 386052"/>
              <a:gd name="connsiteY39" fmla="*/ 252090 h 304172"/>
              <a:gd name="connsiteX40" fmla="*/ 219702 w 386052"/>
              <a:gd name="connsiteY40" fmla="*/ 230773 h 304172"/>
              <a:gd name="connsiteX41" fmla="*/ 211450 w 386052"/>
              <a:gd name="connsiteY41" fmla="*/ 216333 h 304172"/>
              <a:gd name="connsiteX42" fmla="*/ 199760 w 386052"/>
              <a:gd name="connsiteY42" fmla="*/ 203095 h 304172"/>
              <a:gd name="connsiteX43" fmla="*/ 176037 w 386052"/>
              <a:gd name="connsiteY43" fmla="*/ 185045 h 304172"/>
              <a:gd name="connsiteX44" fmla="*/ 147671 w 386052"/>
              <a:gd name="connsiteY44" fmla="*/ 174558 h 304172"/>
              <a:gd name="connsiteX45" fmla="*/ 139763 w 386052"/>
              <a:gd name="connsiteY45" fmla="*/ 173355 h 304172"/>
              <a:gd name="connsiteX46" fmla="*/ 127386 w 386052"/>
              <a:gd name="connsiteY46" fmla="*/ 173011 h 304172"/>
              <a:gd name="connsiteX47" fmla="*/ 115008 w 386052"/>
              <a:gd name="connsiteY47" fmla="*/ 173355 h 304172"/>
              <a:gd name="connsiteX48" fmla="*/ 107100 w 386052"/>
              <a:gd name="connsiteY48" fmla="*/ 174558 h 304172"/>
              <a:gd name="connsiteX49" fmla="*/ 55183 w 386052"/>
              <a:gd name="connsiteY49" fmla="*/ 203095 h 304172"/>
              <a:gd name="connsiteX50" fmla="*/ 36789 w 386052"/>
              <a:gd name="connsiteY50" fmla="*/ 226991 h 304172"/>
              <a:gd name="connsiteX51" fmla="*/ 26818 w 386052"/>
              <a:gd name="connsiteY51" fmla="*/ 255013 h 304172"/>
              <a:gd name="connsiteX52" fmla="*/ 24927 w 386052"/>
              <a:gd name="connsiteY52" fmla="*/ 278564 h 304172"/>
              <a:gd name="connsiteX53" fmla="*/ 24583 w 386052"/>
              <a:gd name="connsiteY53" fmla="*/ 291973 h 304172"/>
              <a:gd name="connsiteX54" fmla="*/ 23380 w 386052"/>
              <a:gd name="connsiteY54" fmla="*/ 297818 h 304172"/>
              <a:gd name="connsiteX55" fmla="*/ 20285 w 386052"/>
              <a:gd name="connsiteY55" fmla="*/ 301256 h 304172"/>
              <a:gd name="connsiteX56" fmla="*/ 8939 w 386052"/>
              <a:gd name="connsiteY56" fmla="*/ 303491 h 304172"/>
              <a:gd name="connsiteX57" fmla="*/ 688 w 386052"/>
              <a:gd name="connsiteY57" fmla="*/ 295067 h 304172"/>
              <a:gd name="connsiteX58" fmla="*/ 0 w 386052"/>
              <a:gd name="connsiteY58" fmla="*/ 282174 h 304172"/>
              <a:gd name="connsiteX59" fmla="*/ 688 w 386052"/>
              <a:gd name="connsiteY59" fmla="*/ 264639 h 304172"/>
              <a:gd name="connsiteX60" fmla="*/ 7564 w 386052"/>
              <a:gd name="connsiteY60" fmla="*/ 233180 h 304172"/>
              <a:gd name="connsiteX61" fmla="*/ 21489 w 386052"/>
              <a:gd name="connsiteY61" fmla="*/ 204814 h 304172"/>
              <a:gd name="connsiteX62" fmla="*/ 73062 w 386052"/>
              <a:gd name="connsiteY62" fmla="*/ 160118 h 304172"/>
              <a:gd name="connsiteX63" fmla="*/ 79938 w 386052"/>
              <a:gd name="connsiteY63" fmla="*/ 156680 h 304172"/>
              <a:gd name="connsiteX64" fmla="*/ 73062 w 386052"/>
              <a:gd name="connsiteY64" fmla="*/ 149803 h 304172"/>
              <a:gd name="connsiteX65" fmla="*/ 64123 w 386052"/>
              <a:gd name="connsiteY65" fmla="*/ 139832 h 304172"/>
              <a:gd name="connsiteX66" fmla="*/ 57934 w 386052"/>
              <a:gd name="connsiteY66" fmla="*/ 129518 h 304172"/>
              <a:gd name="connsiteX67" fmla="*/ 49510 w 386052"/>
              <a:gd name="connsiteY67" fmla="*/ 94448 h 304172"/>
              <a:gd name="connsiteX68" fmla="*/ 53292 w 386052"/>
              <a:gd name="connsiteY68" fmla="*/ 70552 h 304172"/>
              <a:gd name="connsiteX69" fmla="*/ 60856 w 386052"/>
              <a:gd name="connsiteY69" fmla="*/ 54049 h 304172"/>
              <a:gd name="connsiteX70" fmla="*/ 72546 w 386052"/>
              <a:gd name="connsiteY70" fmla="*/ 39780 h 304172"/>
              <a:gd name="connsiteX71" fmla="*/ 82173 w 386052"/>
              <a:gd name="connsiteY71" fmla="*/ 31357 h 304172"/>
              <a:gd name="connsiteX72" fmla="*/ 92144 w 386052"/>
              <a:gd name="connsiteY72" fmla="*/ 25168 h 304172"/>
              <a:gd name="connsiteX73" fmla="*/ 127214 w 386052"/>
              <a:gd name="connsiteY73" fmla="*/ 16744 h 304172"/>
              <a:gd name="connsiteX74" fmla="*/ 161424 w 386052"/>
              <a:gd name="connsiteY74" fmla="*/ 24480 h 304172"/>
              <a:gd name="connsiteX75" fmla="*/ 172426 w 386052"/>
              <a:gd name="connsiteY75" fmla="*/ 31013 h 304172"/>
              <a:gd name="connsiteX76" fmla="*/ 182225 w 386052"/>
              <a:gd name="connsiteY76" fmla="*/ 39608 h 304172"/>
              <a:gd name="connsiteX77" fmla="*/ 190649 w 386052"/>
              <a:gd name="connsiteY77" fmla="*/ 49407 h 304172"/>
              <a:gd name="connsiteX78" fmla="*/ 196838 w 386052"/>
              <a:gd name="connsiteY78" fmla="*/ 59378 h 304172"/>
              <a:gd name="connsiteX79" fmla="*/ 204918 w 386052"/>
              <a:gd name="connsiteY79" fmla="*/ 94620 h 304172"/>
              <a:gd name="connsiteX80" fmla="*/ 196838 w 386052"/>
              <a:gd name="connsiteY80" fmla="*/ 129518 h 304172"/>
              <a:gd name="connsiteX81" fmla="*/ 190649 w 386052"/>
              <a:gd name="connsiteY81" fmla="*/ 139832 h 304172"/>
              <a:gd name="connsiteX82" fmla="*/ 181710 w 386052"/>
              <a:gd name="connsiteY82" fmla="*/ 149803 h 304172"/>
              <a:gd name="connsiteX83" fmla="*/ 174833 w 386052"/>
              <a:gd name="connsiteY83" fmla="*/ 156680 h 304172"/>
              <a:gd name="connsiteX84" fmla="*/ 181366 w 386052"/>
              <a:gd name="connsiteY84" fmla="*/ 160118 h 304172"/>
              <a:gd name="connsiteX85" fmla="*/ 194087 w 386052"/>
              <a:gd name="connsiteY85" fmla="*/ 166822 h 304172"/>
              <a:gd name="connsiteX86" fmla="*/ 199932 w 386052"/>
              <a:gd name="connsiteY86" fmla="*/ 169745 h 304172"/>
              <a:gd name="connsiteX87" fmla="*/ 201823 w 386052"/>
              <a:gd name="connsiteY87" fmla="*/ 163900 h 304172"/>
              <a:gd name="connsiteX88" fmla="*/ 206637 w 386052"/>
              <a:gd name="connsiteY88" fmla="*/ 152038 h 304172"/>
              <a:gd name="connsiteX89" fmla="*/ 212654 w 386052"/>
              <a:gd name="connsiteY89" fmla="*/ 140864 h 304172"/>
              <a:gd name="connsiteX90" fmla="*/ 228469 w 386052"/>
              <a:gd name="connsiteY90" fmla="*/ 122985 h 304172"/>
              <a:gd name="connsiteX91" fmla="*/ 246864 w 386052"/>
              <a:gd name="connsiteY91" fmla="*/ 110092 h 304172"/>
              <a:gd name="connsiteX92" fmla="*/ 249958 w 386052"/>
              <a:gd name="connsiteY92" fmla="*/ 107857 h 304172"/>
              <a:gd name="connsiteX93" fmla="*/ 246520 w 386052"/>
              <a:gd name="connsiteY93" fmla="*/ 103559 h 304172"/>
              <a:gd name="connsiteX94" fmla="*/ 230360 w 386052"/>
              <a:gd name="connsiteY94" fmla="*/ 61613 h 304172"/>
              <a:gd name="connsiteX95" fmla="*/ 248067 w 386052"/>
              <a:gd name="connsiteY95" fmla="*/ 18119 h 304172"/>
              <a:gd name="connsiteX96" fmla="*/ 283481 w 386052"/>
              <a:gd name="connsiteY96" fmla="*/ 413 h 304172"/>
              <a:gd name="connsiteX97" fmla="*/ 300156 w 386052"/>
              <a:gd name="connsiteY97" fmla="*/ 928 h 304172"/>
              <a:gd name="connsiteX98" fmla="*/ 137185 w 386052"/>
              <a:gd name="connsiteY98" fmla="*/ 42015 h 304172"/>
              <a:gd name="connsiteX99" fmla="*/ 129277 w 386052"/>
              <a:gd name="connsiteY99" fmla="*/ 41671 h 304172"/>
              <a:gd name="connsiteX100" fmla="*/ 117931 w 386052"/>
              <a:gd name="connsiteY100" fmla="*/ 42015 h 304172"/>
              <a:gd name="connsiteX101" fmla="*/ 107788 w 386052"/>
              <a:gd name="connsiteY101" fmla="*/ 45109 h 304172"/>
              <a:gd name="connsiteX102" fmla="*/ 89050 w 386052"/>
              <a:gd name="connsiteY102" fmla="*/ 57831 h 304172"/>
              <a:gd name="connsiteX103" fmla="*/ 76844 w 386052"/>
              <a:gd name="connsiteY103" fmla="*/ 78288 h 304172"/>
              <a:gd name="connsiteX104" fmla="*/ 74953 w 386052"/>
              <a:gd name="connsiteY104" fmla="*/ 84821 h 304172"/>
              <a:gd name="connsiteX105" fmla="*/ 74609 w 386052"/>
              <a:gd name="connsiteY105" fmla="*/ 94448 h 304172"/>
              <a:gd name="connsiteX106" fmla="*/ 74953 w 386052"/>
              <a:gd name="connsiteY106" fmla="*/ 104075 h 304172"/>
              <a:gd name="connsiteX107" fmla="*/ 76844 w 386052"/>
              <a:gd name="connsiteY107" fmla="*/ 110951 h 304172"/>
              <a:gd name="connsiteX108" fmla="*/ 82001 w 386052"/>
              <a:gd name="connsiteY108" fmla="*/ 122297 h 304172"/>
              <a:gd name="connsiteX109" fmla="*/ 89909 w 386052"/>
              <a:gd name="connsiteY109" fmla="*/ 132096 h 304172"/>
              <a:gd name="connsiteX110" fmla="*/ 99708 w 386052"/>
              <a:gd name="connsiteY110" fmla="*/ 140004 h 304172"/>
              <a:gd name="connsiteX111" fmla="*/ 111054 w 386052"/>
              <a:gd name="connsiteY111" fmla="*/ 145161 h 304172"/>
              <a:gd name="connsiteX112" fmla="*/ 117587 w 386052"/>
              <a:gd name="connsiteY112" fmla="*/ 147052 h 304172"/>
              <a:gd name="connsiteX113" fmla="*/ 127214 w 386052"/>
              <a:gd name="connsiteY113" fmla="*/ 147396 h 304172"/>
              <a:gd name="connsiteX114" fmla="*/ 136841 w 386052"/>
              <a:gd name="connsiteY114" fmla="*/ 147052 h 304172"/>
              <a:gd name="connsiteX115" fmla="*/ 143717 w 386052"/>
              <a:gd name="connsiteY115" fmla="*/ 145161 h 304172"/>
              <a:gd name="connsiteX116" fmla="*/ 155063 w 386052"/>
              <a:gd name="connsiteY116" fmla="*/ 140004 h 304172"/>
              <a:gd name="connsiteX117" fmla="*/ 164862 w 386052"/>
              <a:gd name="connsiteY117" fmla="*/ 132096 h 304172"/>
              <a:gd name="connsiteX118" fmla="*/ 172770 w 386052"/>
              <a:gd name="connsiteY118" fmla="*/ 122297 h 304172"/>
              <a:gd name="connsiteX119" fmla="*/ 177928 w 386052"/>
              <a:gd name="connsiteY119" fmla="*/ 110951 h 304172"/>
              <a:gd name="connsiteX120" fmla="*/ 179819 w 386052"/>
              <a:gd name="connsiteY120" fmla="*/ 104075 h 304172"/>
              <a:gd name="connsiteX121" fmla="*/ 180162 w 386052"/>
              <a:gd name="connsiteY121" fmla="*/ 94448 h 304172"/>
              <a:gd name="connsiteX122" fmla="*/ 179819 w 386052"/>
              <a:gd name="connsiteY122" fmla="*/ 84821 h 304172"/>
              <a:gd name="connsiteX123" fmla="*/ 177928 w 386052"/>
              <a:gd name="connsiteY123" fmla="*/ 78288 h 304172"/>
              <a:gd name="connsiteX124" fmla="*/ 172770 w 386052"/>
              <a:gd name="connsiteY124" fmla="*/ 66942 h 304172"/>
              <a:gd name="connsiteX125" fmla="*/ 164862 w 386052"/>
              <a:gd name="connsiteY125" fmla="*/ 57143 h 304172"/>
              <a:gd name="connsiteX126" fmla="*/ 155063 w 386052"/>
              <a:gd name="connsiteY126" fmla="*/ 49063 h 304172"/>
              <a:gd name="connsiteX127" fmla="*/ 143717 w 386052"/>
              <a:gd name="connsiteY127" fmla="*/ 44078 h 304172"/>
              <a:gd name="connsiteX128" fmla="*/ 137185 w 386052"/>
              <a:gd name="connsiteY128" fmla="*/ 42015 h 304172"/>
              <a:gd name="connsiteX129" fmla="*/ 291561 w 386052"/>
              <a:gd name="connsiteY129" fmla="*/ 25168 h 304172"/>
              <a:gd name="connsiteX130" fmla="*/ 282449 w 386052"/>
              <a:gd name="connsiteY130" fmla="*/ 25856 h 304172"/>
              <a:gd name="connsiteX131" fmla="*/ 265946 w 386052"/>
              <a:gd name="connsiteY131" fmla="*/ 35482 h 304172"/>
              <a:gd name="connsiteX132" fmla="*/ 256319 w 386052"/>
              <a:gd name="connsiteY132" fmla="*/ 51642 h 304172"/>
              <a:gd name="connsiteX133" fmla="*/ 255975 w 386052"/>
              <a:gd name="connsiteY133" fmla="*/ 70552 h 304172"/>
              <a:gd name="connsiteX134" fmla="*/ 265258 w 386052"/>
              <a:gd name="connsiteY134" fmla="*/ 87227 h 304172"/>
              <a:gd name="connsiteX135" fmla="*/ 281590 w 386052"/>
              <a:gd name="connsiteY135" fmla="*/ 97027 h 304172"/>
              <a:gd name="connsiteX136" fmla="*/ 300672 w 386052"/>
              <a:gd name="connsiteY136" fmla="*/ 97370 h 304172"/>
              <a:gd name="connsiteX137" fmla="*/ 317347 w 386052"/>
              <a:gd name="connsiteY137" fmla="*/ 88087 h 304172"/>
              <a:gd name="connsiteX138" fmla="*/ 327146 w 386052"/>
              <a:gd name="connsiteY138" fmla="*/ 71756 h 304172"/>
              <a:gd name="connsiteX139" fmla="*/ 327490 w 386052"/>
              <a:gd name="connsiteY139" fmla="*/ 52501 h 304172"/>
              <a:gd name="connsiteX140" fmla="*/ 317863 w 386052"/>
              <a:gd name="connsiteY140" fmla="*/ 35310 h 304172"/>
              <a:gd name="connsiteX141" fmla="*/ 300500 w 386052"/>
              <a:gd name="connsiteY141" fmla="*/ 25683 h 304172"/>
              <a:gd name="connsiteX142" fmla="*/ 291561 w 386052"/>
              <a:gd name="connsiteY142" fmla="*/ 25168 h 30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386052" h="304172">
                <a:moveTo>
                  <a:pt x="300156" y="928"/>
                </a:moveTo>
                <a:cubicBezTo>
                  <a:pt x="306517" y="1960"/>
                  <a:pt x="312018" y="3507"/>
                  <a:pt x="316660" y="5570"/>
                </a:cubicBezTo>
                <a:cubicBezTo>
                  <a:pt x="323364" y="8321"/>
                  <a:pt x="329553" y="12618"/>
                  <a:pt x="335398" y="18463"/>
                </a:cubicBezTo>
                <a:cubicBezTo>
                  <a:pt x="341243" y="24308"/>
                  <a:pt x="345541" y="30669"/>
                  <a:pt x="348291" y="37545"/>
                </a:cubicBezTo>
                <a:cubicBezTo>
                  <a:pt x="351557" y="45281"/>
                  <a:pt x="353277" y="53361"/>
                  <a:pt x="353277" y="61785"/>
                </a:cubicBezTo>
                <a:cubicBezTo>
                  <a:pt x="353277" y="70209"/>
                  <a:pt x="351557" y="78288"/>
                  <a:pt x="348291" y="86024"/>
                </a:cubicBezTo>
                <a:cubicBezTo>
                  <a:pt x="345541" y="92385"/>
                  <a:pt x="341587" y="98402"/>
                  <a:pt x="336773" y="103731"/>
                </a:cubicBezTo>
                <a:lnTo>
                  <a:pt x="336429" y="104075"/>
                </a:lnTo>
                <a:cubicBezTo>
                  <a:pt x="334710" y="106138"/>
                  <a:pt x="333679" y="107341"/>
                  <a:pt x="333679" y="107857"/>
                </a:cubicBezTo>
                <a:cubicBezTo>
                  <a:pt x="333679" y="108372"/>
                  <a:pt x="334710" y="109060"/>
                  <a:pt x="336773" y="110092"/>
                </a:cubicBezTo>
                <a:lnTo>
                  <a:pt x="337461" y="110436"/>
                </a:lnTo>
                <a:cubicBezTo>
                  <a:pt x="341587" y="112498"/>
                  <a:pt x="346056" y="115593"/>
                  <a:pt x="350870" y="119719"/>
                </a:cubicBezTo>
                <a:cubicBezTo>
                  <a:pt x="355683" y="123845"/>
                  <a:pt x="359809" y="127627"/>
                  <a:pt x="363247" y="131237"/>
                </a:cubicBezTo>
                <a:cubicBezTo>
                  <a:pt x="370640" y="140176"/>
                  <a:pt x="376141" y="149459"/>
                  <a:pt x="379751" y="159086"/>
                </a:cubicBezTo>
                <a:cubicBezTo>
                  <a:pt x="383361" y="168713"/>
                  <a:pt x="385424" y="179372"/>
                  <a:pt x="385940" y="191234"/>
                </a:cubicBezTo>
                <a:cubicBezTo>
                  <a:pt x="386112" y="196907"/>
                  <a:pt x="386112" y="200860"/>
                  <a:pt x="385768" y="202923"/>
                </a:cubicBezTo>
                <a:cubicBezTo>
                  <a:pt x="385424" y="204986"/>
                  <a:pt x="384392" y="207049"/>
                  <a:pt x="382845" y="208940"/>
                </a:cubicBezTo>
                <a:cubicBezTo>
                  <a:pt x="380267" y="211691"/>
                  <a:pt x="377344" y="213238"/>
                  <a:pt x="373734" y="213238"/>
                </a:cubicBezTo>
                <a:cubicBezTo>
                  <a:pt x="370296" y="213238"/>
                  <a:pt x="367201" y="211863"/>
                  <a:pt x="364623" y="208940"/>
                </a:cubicBezTo>
                <a:cubicBezTo>
                  <a:pt x="363075" y="207393"/>
                  <a:pt x="362044" y="205674"/>
                  <a:pt x="361700" y="203783"/>
                </a:cubicBezTo>
                <a:cubicBezTo>
                  <a:pt x="361356" y="201892"/>
                  <a:pt x="361184" y="198798"/>
                  <a:pt x="361184" y="194328"/>
                </a:cubicBezTo>
                <a:cubicBezTo>
                  <a:pt x="361184" y="189171"/>
                  <a:pt x="360841" y="184701"/>
                  <a:pt x="359981" y="180919"/>
                </a:cubicBezTo>
                <a:cubicBezTo>
                  <a:pt x="358262" y="169917"/>
                  <a:pt x="353964" y="159946"/>
                  <a:pt x="347432" y="151350"/>
                </a:cubicBezTo>
                <a:cubicBezTo>
                  <a:pt x="340899" y="142583"/>
                  <a:pt x="332819" y="135706"/>
                  <a:pt x="323020" y="130721"/>
                </a:cubicBezTo>
                <a:cubicBezTo>
                  <a:pt x="313221" y="125736"/>
                  <a:pt x="302907" y="123157"/>
                  <a:pt x="291904" y="123157"/>
                </a:cubicBezTo>
                <a:cubicBezTo>
                  <a:pt x="280902" y="123157"/>
                  <a:pt x="270587" y="125564"/>
                  <a:pt x="260960" y="130549"/>
                </a:cubicBezTo>
                <a:cubicBezTo>
                  <a:pt x="251333" y="135363"/>
                  <a:pt x="243254" y="142067"/>
                  <a:pt x="236549" y="150319"/>
                </a:cubicBezTo>
                <a:cubicBezTo>
                  <a:pt x="229845" y="158742"/>
                  <a:pt x="225547" y="168198"/>
                  <a:pt x="223484" y="179028"/>
                </a:cubicBezTo>
                <a:cubicBezTo>
                  <a:pt x="222452" y="183841"/>
                  <a:pt x="221937" y="187108"/>
                  <a:pt x="222109" y="188483"/>
                </a:cubicBezTo>
                <a:cubicBezTo>
                  <a:pt x="222281" y="189858"/>
                  <a:pt x="223484" y="191921"/>
                  <a:pt x="225719" y="194500"/>
                </a:cubicBezTo>
                <a:cubicBezTo>
                  <a:pt x="233627" y="204299"/>
                  <a:pt x="240159" y="215129"/>
                  <a:pt x="244973" y="227163"/>
                </a:cubicBezTo>
                <a:cubicBezTo>
                  <a:pt x="249786" y="239197"/>
                  <a:pt x="252881" y="251746"/>
                  <a:pt x="254256" y="264467"/>
                </a:cubicBezTo>
                <a:cubicBezTo>
                  <a:pt x="254428" y="269109"/>
                  <a:pt x="254600" y="274954"/>
                  <a:pt x="254600" y="282002"/>
                </a:cubicBezTo>
                <a:cubicBezTo>
                  <a:pt x="254600" y="289051"/>
                  <a:pt x="254428" y="293349"/>
                  <a:pt x="254256" y="294896"/>
                </a:cubicBezTo>
                <a:cubicBezTo>
                  <a:pt x="252881" y="299193"/>
                  <a:pt x="250130" y="302116"/>
                  <a:pt x="246004" y="303319"/>
                </a:cubicBezTo>
                <a:cubicBezTo>
                  <a:pt x="241706" y="304523"/>
                  <a:pt x="237924" y="303835"/>
                  <a:pt x="234658" y="301084"/>
                </a:cubicBezTo>
                <a:cubicBezTo>
                  <a:pt x="233111" y="299881"/>
                  <a:pt x="232079" y="298678"/>
                  <a:pt x="231564" y="297646"/>
                </a:cubicBezTo>
                <a:cubicBezTo>
                  <a:pt x="231048" y="296615"/>
                  <a:pt x="230704" y="294724"/>
                  <a:pt x="230360" y="291801"/>
                </a:cubicBezTo>
                <a:cubicBezTo>
                  <a:pt x="230188" y="289566"/>
                  <a:pt x="229845" y="284925"/>
                  <a:pt x="229673" y="278392"/>
                </a:cubicBezTo>
                <a:cubicBezTo>
                  <a:pt x="229329" y="267046"/>
                  <a:pt x="228641" y="258279"/>
                  <a:pt x="227438" y="252090"/>
                </a:cubicBezTo>
                <a:cubicBezTo>
                  <a:pt x="226063" y="245729"/>
                  <a:pt x="223656" y="238681"/>
                  <a:pt x="219702" y="230773"/>
                </a:cubicBezTo>
                <a:cubicBezTo>
                  <a:pt x="217123" y="225444"/>
                  <a:pt x="214373" y="220630"/>
                  <a:pt x="211450" y="216333"/>
                </a:cubicBezTo>
                <a:cubicBezTo>
                  <a:pt x="208528" y="212035"/>
                  <a:pt x="204574" y="207737"/>
                  <a:pt x="199760" y="203095"/>
                </a:cubicBezTo>
                <a:cubicBezTo>
                  <a:pt x="192368" y="195703"/>
                  <a:pt x="184460" y="189686"/>
                  <a:pt x="176037" y="185045"/>
                </a:cubicBezTo>
                <a:cubicBezTo>
                  <a:pt x="167613" y="180403"/>
                  <a:pt x="158330" y="176965"/>
                  <a:pt x="147671" y="174558"/>
                </a:cubicBezTo>
                <a:cubicBezTo>
                  <a:pt x="144921" y="174042"/>
                  <a:pt x="142170" y="173699"/>
                  <a:pt x="139763" y="173355"/>
                </a:cubicBezTo>
                <a:cubicBezTo>
                  <a:pt x="137357" y="173183"/>
                  <a:pt x="133231" y="173011"/>
                  <a:pt x="127386" y="173011"/>
                </a:cubicBezTo>
                <a:cubicBezTo>
                  <a:pt x="121541" y="173011"/>
                  <a:pt x="117587" y="173183"/>
                  <a:pt x="115008" y="173355"/>
                </a:cubicBezTo>
                <a:cubicBezTo>
                  <a:pt x="112602" y="173527"/>
                  <a:pt x="110023" y="174042"/>
                  <a:pt x="107100" y="174558"/>
                </a:cubicBezTo>
                <a:cubicBezTo>
                  <a:pt x="86815" y="178856"/>
                  <a:pt x="69452" y="188483"/>
                  <a:pt x="55183" y="203095"/>
                </a:cubicBezTo>
                <a:cubicBezTo>
                  <a:pt x="47447" y="210487"/>
                  <a:pt x="41259" y="218567"/>
                  <a:pt x="36789" y="226991"/>
                </a:cubicBezTo>
                <a:cubicBezTo>
                  <a:pt x="32147" y="235414"/>
                  <a:pt x="28881" y="244870"/>
                  <a:pt x="26818" y="255013"/>
                </a:cubicBezTo>
                <a:cubicBezTo>
                  <a:pt x="25787" y="259654"/>
                  <a:pt x="25099" y="267390"/>
                  <a:pt x="24927" y="278564"/>
                </a:cubicBezTo>
                <a:cubicBezTo>
                  <a:pt x="24927" y="285269"/>
                  <a:pt x="24755" y="289738"/>
                  <a:pt x="24583" y="291973"/>
                </a:cubicBezTo>
                <a:cubicBezTo>
                  <a:pt x="24411" y="294724"/>
                  <a:pt x="23896" y="296787"/>
                  <a:pt x="23380" y="297818"/>
                </a:cubicBezTo>
                <a:cubicBezTo>
                  <a:pt x="22864" y="298850"/>
                  <a:pt x="21833" y="300053"/>
                  <a:pt x="20285" y="301256"/>
                </a:cubicBezTo>
                <a:cubicBezTo>
                  <a:pt x="17019" y="304179"/>
                  <a:pt x="13237" y="304867"/>
                  <a:pt x="8939" y="303491"/>
                </a:cubicBezTo>
                <a:cubicBezTo>
                  <a:pt x="4642" y="302116"/>
                  <a:pt x="1891" y="299365"/>
                  <a:pt x="688" y="295067"/>
                </a:cubicBezTo>
                <a:cubicBezTo>
                  <a:pt x="172" y="293520"/>
                  <a:pt x="0" y="289223"/>
                  <a:pt x="0" y="282174"/>
                </a:cubicBezTo>
                <a:cubicBezTo>
                  <a:pt x="0" y="275126"/>
                  <a:pt x="172" y="269281"/>
                  <a:pt x="688" y="264639"/>
                </a:cubicBezTo>
                <a:cubicBezTo>
                  <a:pt x="1719" y="254153"/>
                  <a:pt x="3954" y="243666"/>
                  <a:pt x="7564" y="233180"/>
                </a:cubicBezTo>
                <a:cubicBezTo>
                  <a:pt x="11174" y="222865"/>
                  <a:pt x="15816" y="213410"/>
                  <a:pt x="21489" y="204814"/>
                </a:cubicBezTo>
                <a:cubicBezTo>
                  <a:pt x="34554" y="185389"/>
                  <a:pt x="51745" y="170432"/>
                  <a:pt x="73062" y="160118"/>
                </a:cubicBezTo>
                <a:lnTo>
                  <a:pt x="79938" y="156680"/>
                </a:lnTo>
                <a:lnTo>
                  <a:pt x="73062" y="149803"/>
                </a:lnTo>
                <a:cubicBezTo>
                  <a:pt x="69280" y="146021"/>
                  <a:pt x="66186" y="142583"/>
                  <a:pt x="64123" y="139832"/>
                </a:cubicBezTo>
                <a:cubicBezTo>
                  <a:pt x="62060" y="137082"/>
                  <a:pt x="59997" y="133472"/>
                  <a:pt x="57934" y="129518"/>
                </a:cubicBezTo>
                <a:cubicBezTo>
                  <a:pt x="52261" y="118687"/>
                  <a:pt x="49510" y="106997"/>
                  <a:pt x="49510" y="94448"/>
                </a:cubicBezTo>
                <a:cubicBezTo>
                  <a:pt x="49510" y="86024"/>
                  <a:pt x="50714" y="77944"/>
                  <a:pt x="53292" y="70552"/>
                </a:cubicBezTo>
                <a:cubicBezTo>
                  <a:pt x="55355" y="64363"/>
                  <a:pt x="57762" y="58862"/>
                  <a:pt x="60856" y="54049"/>
                </a:cubicBezTo>
                <a:cubicBezTo>
                  <a:pt x="63779" y="49235"/>
                  <a:pt x="67733" y="44422"/>
                  <a:pt x="72546" y="39780"/>
                </a:cubicBezTo>
                <a:cubicBezTo>
                  <a:pt x="76156" y="36170"/>
                  <a:pt x="79423" y="33419"/>
                  <a:pt x="82173" y="31357"/>
                </a:cubicBezTo>
                <a:cubicBezTo>
                  <a:pt x="84924" y="29294"/>
                  <a:pt x="88362" y="27231"/>
                  <a:pt x="92144" y="25168"/>
                </a:cubicBezTo>
                <a:cubicBezTo>
                  <a:pt x="103146" y="19495"/>
                  <a:pt x="114836" y="16744"/>
                  <a:pt x="127214" y="16744"/>
                </a:cubicBezTo>
                <a:cubicBezTo>
                  <a:pt x="139592" y="16744"/>
                  <a:pt x="150938" y="19323"/>
                  <a:pt x="161424" y="24480"/>
                </a:cubicBezTo>
                <a:cubicBezTo>
                  <a:pt x="165722" y="26715"/>
                  <a:pt x="169504" y="28950"/>
                  <a:pt x="172426" y="31013"/>
                </a:cubicBezTo>
                <a:cubicBezTo>
                  <a:pt x="175349" y="33076"/>
                  <a:pt x="178615" y="35998"/>
                  <a:pt x="182225" y="39608"/>
                </a:cubicBezTo>
                <a:cubicBezTo>
                  <a:pt x="185835" y="43218"/>
                  <a:pt x="188586" y="46657"/>
                  <a:pt x="190649" y="49407"/>
                </a:cubicBezTo>
                <a:cubicBezTo>
                  <a:pt x="192712" y="52158"/>
                  <a:pt x="194775" y="55596"/>
                  <a:pt x="196838" y="59378"/>
                </a:cubicBezTo>
                <a:cubicBezTo>
                  <a:pt x="202167" y="70380"/>
                  <a:pt x="204918" y="82070"/>
                  <a:pt x="204918" y="94620"/>
                </a:cubicBezTo>
                <a:cubicBezTo>
                  <a:pt x="204918" y="106997"/>
                  <a:pt x="202167" y="118687"/>
                  <a:pt x="196838" y="129518"/>
                </a:cubicBezTo>
                <a:cubicBezTo>
                  <a:pt x="194775" y="133643"/>
                  <a:pt x="192712" y="137082"/>
                  <a:pt x="190649" y="139832"/>
                </a:cubicBezTo>
                <a:cubicBezTo>
                  <a:pt x="188586" y="142583"/>
                  <a:pt x="185664" y="146021"/>
                  <a:pt x="181710" y="149803"/>
                </a:cubicBezTo>
                <a:lnTo>
                  <a:pt x="174833" y="156680"/>
                </a:lnTo>
                <a:lnTo>
                  <a:pt x="181366" y="160118"/>
                </a:lnTo>
                <a:cubicBezTo>
                  <a:pt x="186179" y="162352"/>
                  <a:pt x="190477" y="164759"/>
                  <a:pt x="194087" y="166822"/>
                </a:cubicBezTo>
                <a:cubicBezTo>
                  <a:pt x="197697" y="169057"/>
                  <a:pt x="199588" y="169917"/>
                  <a:pt x="199932" y="169745"/>
                </a:cubicBezTo>
                <a:lnTo>
                  <a:pt x="201823" y="163900"/>
                </a:lnTo>
                <a:cubicBezTo>
                  <a:pt x="202855" y="160633"/>
                  <a:pt x="204402" y="156680"/>
                  <a:pt x="206637" y="152038"/>
                </a:cubicBezTo>
                <a:cubicBezTo>
                  <a:pt x="208872" y="147396"/>
                  <a:pt x="210763" y="143614"/>
                  <a:pt x="212654" y="140864"/>
                </a:cubicBezTo>
                <a:cubicBezTo>
                  <a:pt x="216951" y="134503"/>
                  <a:pt x="222281" y="128486"/>
                  <a:pt x="228469" y="122985"/>
                </a:cubicBezTo>
                <a:cubicBezTo>
                  <a:pt x="234658" y="117484"/>
                  <a:pt x="240847" y="113186"/>
                  <a:pt x="246864" y="110092"/>
                </a:cubicBezTo>
                <a:cubicBezTo>
                  <a:pt x="248927" y="108888"/>
                  <a:pt x="249958" y="108029"/>
                  <a:pt x="249958" y="107857"/>
                </a:cubicBezTo>
                <a:cubicBezTo>
                  <a:pt x="249958" y="107685"/>
                  <a:pt x="248755" y="106138"/>
                  <a:pt x="246520" y="103559"/>
                </a:cubicBezTo>
                <a:cubicBezTo>
                  <a:pt x="235690" y="91697"/>
                  <a:pt x="230360" y="77772"/>
                  <a:pt x="230360" y="61613"/>
                </a:cubicBezTo>
                <a:cubicBezTo>
                  <a:pt x="230360" y="44594"/>
                  <a:pt x="236205" y="30153"/>
                  <a:pt x="248067" y="18119"/>
                </a:cubicBezTo>
                <a:cubicBezTo>
                  <a:pt x="257522" y="8664"/>
                  <a:pt x="269384" y="2647"/>
                  <a:pt x="283481" y="413"/>
                </a:cubicBezTo>
                <a:cubicBezTo>
                  <a:pt x="288294" y="-275"/>
                  <a:pt x="293795" y="-103"/>
                  <a:pt x="300156" y="928"/>
                </a:cubicBezTo>
                <a:close/>
                <a:moveTo>
                  <a:pt x="137185" y="42015"/>
                </a:moveTo>
                <a:cubicBezTo>
                  <a:pt x="135466" y="41843"/>
                  <a:pt x="132887" y="41671"/>
                  <a:pt x="129277" y="41671"/>
                </a:cubicBezTo>
                <a:cubicBezTo>
                  <a:pt x="124463" y="41499"/>
                  <a:pt x="120681" y="41499"/>
                  <a:pt x="117931" y="42015"/>
                </a:cubicBezTo>
                <a:cubicBezTo>
                  <a:pt x="115180" y="42531"/>
                  <a:pt x="111914" y="43562"/>
                  <a:pt x="107788" y="45109"/>
                </a:cubicBezTo>
                <a:cubicBezTo>
                  <a:pt x="100912" y="47688"/>
                  <a:pt x="94551" y="51986"/>
                  <a:pt x="89050" y="57831"/>
                </a:cubicBezTo>
                <a:cubicBezTo>
                  <a:pt x="83549" y="63676"/>
                  <a:pt x="79423" y="70552"/>
                  <a:pt x="76844" y="78288"/>
                </a:cubicBezTo>
                <a:cubicBezTo>
                  <a:pt x="75813" y="81211"/>
                  <a:pt x="75125" y="83274"/>
                  <a:pt x="74953" y="84821"/>
                </a:cubicBezTo>
                <a:cubicBezTo>
                  <a:pt x="74609" y="86368"/>
                  <a:pt x="74609" y="89634"/>
                  <a:pt x="74609" y="94448"/>
                </a:cubicBezTo>
                <a:cubicBezTo>
                  <a:pt x="74609" y="99261"/>
                  <a:pt x="74781" y="102528"/>
                  <a:pt x="74953" y="104075"/>
                </a:cubicBezTo>
                <a:cubicBezTo>
                  <a:pt x="75125" y="105622"/>
                  <a:pt x="75813" y="107857"/>
                  <a:pt x="76844" y="110951"/>
                </a:cubicBezTo>
                <a:cubicBezTo>
                  <a:pt x="78391" y="115249"/>
                  <a:pt x="80110" y="119031"/>
                  <a:pt x="82001" y="122297"/>
                </a:cubicBezTo>
                <a:cubicBezTo>
                  <a:pt x="83892" y="125564"/>
                  <a:pt x="86643" y="128830"/>
                  <a:pt x="89909" y="132096"/>
                </a:cubicBezTo>
                <a:cubicBezTo>
                  <a:pt x="93176" y="135363"/>
                  <a:pt x="96442" y="138113"/>
                  <a:pt x="99708" y="140004"/>
                </a:cubicBezTo>
                <a:cubicBezTo>
                  <a:pt x="102975" y="141895"/>
                  <a:pt x="106757" y="143614"/>
                  <a:pt x="111054" y="145161"/>
                </a:cubicBezTo>
                <a:cubicBezTo>
                  <a:pt x="113805" y="146193"/>
                  <a:pt x="116040" y="146881"/>
                  <a:pt x="117587" y="147052"/>
                </a:cubicBezTo>
                <a:cubicBezTo>
                  <a:pt x="119134" y="147224"/>
                  <a:pt x="122400" y="147396"/>
                  <a:pt x="127214" y="147396"/>
                </a:cubicBezTo>
                <a:cubicBezTo>
                  <a:pt x="132027" y="147396"/>
                  <a:pt x="135294" y="147224"/>
                  <a:pt x="136841" y="147052"/>
                </a:cubicBezTo>
                <a:cubicBezTo>
                  <a:pt x="138388" y="146709"/>
                  <a:pt x="140623" y="146193"/>
                  <a:pt x="143717" y="145161"/>
                </a:cubicBezTo>
                <a:cubicBezTo>
                  <a:pt x="148015" y="143614"/>
                  <a:pt x="151797" y="141895"/>
                  <a:pt x="155063" y="140004"/>
                </a:cubicBezTo>
                <a:cubicBezTo>
                  <a:pt x="158330" y="138113"/>
                  <a:pt x="161596" y="135534"/>
                  <a:pt x="164862" y="132096"/>
                </a:cubicBezTo>
                <a:cubicBezTo>
                  <a:pt x="168129" y="128830"/>
                  <a:pt x="170879" y="125564"/>
                  <a:pt x="172770" y="122297"/>
                </a:cubicBezTo>
                <a:cubicBezTo>
                  <a:pt x="174661" y="119031"/>
                  <a:pt x="176380" y="115249"/>
                  <a:pt x="177928" y="110951"/>
                </a:cubicBezTo>
                <a:cubicBezTo>
                  <a:pt x="178959" y="107857"/>
                  <a:pt x="179647" y="105622"/>
                  <a:pt x="179819" y="104075"/>
                </a:cubicBezTo>
                <a:cubicBezTo>
                  <a:pt x="179991" y="102528"/>
                  <a:pt x="180162" y="99261"/>
                  <a:pt x="180162" y="94448"/>
                </a:cubicBezTo>
                <a:cubicBezTo>
                  <a:pt x="180162" y="89634"/>
                  <a:pt x="179991" y="86368"/>
                  <a:pt x="179819" y="84821"/>
                </a:cubicBezTo>
                <a:cubicBezTo>
                  <a:pt x="179475" y="83274"/>
                  <a:pt x="178959" y="81039"/>
                  <a:pt x="177928" y="78288"/>
                </a:cubicBezTo>
                <a:cubicBezTo>
                  <a:pt x="176380" y="73990"/>
                  <a:pt x="174661" y="70209"/>
                  <a:pt x="172770" y="66942"/>
                </a:cubicBezTo>
                <a:cubicBezTo>
                  <a:pt x="170879" y="63676"/>
                  <a:pt x="168129" y="60409"/>
                  <a:pt x="164862" y="57143"/>
                </a:cubicBezTo>
                <a:cubicBezTo>
                  <a:pt x="161596" y="53877"/>
                  <a:pt x="158330" y="51126"/>
                  <a:pt x="155063" y="49063"/>
                </a:cubicBezTo>
                <a:cubicBezTo>
                  <a:pt x="151797" y="47000"/>
                  <a:pt x="148015" y="45281"/>
                  <a:pt x="143717" y="44078"/>
                </a:cubicBezTo>
                <a:cubicBezTo>
                  <a:pt x="141139" y="42874"/>
                  <a:pt x="138904" y="42359"/>
                  <a:pt x="137185" y="42015"/>
                </a:cubicBezTo>
                <a:close/>
                <a:moveTo>
                  <a:pt x="291561" y="25168"/>
                </a:moveTo>
                <a:cubicBezTo>
                  <a:pt x="287779" y="25168"/>
                  <a:pt x="284856" y="25340"/>
                  <a:pt x="282449" y="25856"/>
                </a:cubicBezTo>
                <a:cubicBezTo>
                  <a:pt x="276089" y="27574"/>
                  <a:pt x="270587" y="30841"/>
                  <a:pt x="265946" y="35482"/>
                </a:cubicBezTo>
                <a:cubicBezTo>
                  <a:pt x="261304" y="40124"/>
                  <a:pt x="258038" y="45453"/>
                  <a:pt x="256319" y="51642"/>
                </a:cubicBezTo>
                <a:cubicBezTo>
                  <a:pt x="254600" y="57831"/>
                  <a:pt x="254428" y="64020"/>
                  <a:pt x="255975" y="70552"/>
                </a:cubicBezTo>
                <a:cubicBezTo>
                  <a:pt x="257522" y="76913"/>
                  <a:pt x="260617" y="82586"/>
                  <a:pt x="265258" y="87227"/>
                </a:cubicBezTo>
                <a:cubicBezTo>
                  <a:pt x="269900" y="92041"/>
                  <a:pt x="275401" y="95307"/>
                  <a:pt x="281590" y="97027"/>
                </a:cubicBezTo>
                <a:cubicBezTo>
                  <a:pt x="287950" y="98745"/>
                  <a:pt x="294139" y="98918"/>
                  <a:pt x="300672" y="97370"/>
                </a:cubicBezTo>
                <a:cubicBezTo>
                  <a:pt x="307033" y="95823"/>
                  <a:pt x="312706" y="92729"/>
                  <a:pt x="317347" y="88087"/>
                </a:cubicBezTo>
                <a:cubicBezTo>
                  <a:pt x="322161" y="83445"/>
                  <a:pt x="325427" y="78116"/>
                  <a:pt x="327146" y="71756"/>
                </a:cubicBezTo>
                <a:cubicBezTo>
                  <a:pt x="328865" y="65395"/>
                  <a:pt x="329037" y="59034"/>
                  <a:pt x="327490" y="52501"/>
                </a:cubicBezTo>
                <a:cubicBezTo>
                  <a:pt x="325943" y="45969"/>
                  <a:pt x="322676" y="40296"/>
                  <a:pt x="317863" y="35310"/>
                </a:cubicBezTo>
                <a:cubicBezTo>
                  <a:pt x="313049" y="30497"/>
                  <a:pt x="307204" y="27231"/>
                  <a:pt x="300500" y="25683"/>
                </a:cubicBezTo>
                <a:cubicBezTo>
                  <a:pt x="298265" y="25340"/>
                  <a:pt x="295171" y="25168"/>
                  <a:pt x="291561" y="25168"/>
                </a:cubicBez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1817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17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предлагаемое </a:t>
            </a:r>
            <a:r>
              <a:rPr lang="ru-RU" dirty="0"/>
              <a:t>решение/общее описание продукта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77238" y="1187796"/>
            <a:ext cx="1138608" cy="913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71875" y="1061690"/>
            <a:ext cx="4418112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b="1" dirty="0" smtClean="0"/>
              <a:t>назначение:</a:t>
            </a:r>
          </a:p>
          <a:p>
            <a:pPr>
              <a:spcBef>
                <a:spcPts val="600"/>
              </a:spcBef>
            </a:pPr>
            <a:r>
              <a:rPr lang="ru-RU" sz="1600" b="1" dirty="0"/>
              <a:t>Предоставление и обеспечение развития возможностей для осуществления эффективной интеграции ИТ-систем (включая внешние) на ИТ-ландшафте.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77237" y="2935890"/>
            <a:ext cx="1363303" cy="913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71875" y="2810480"/>
            <a:ext cx="4418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b="1" dirty="0" smtClean="0"/>
              <a:t>пользователи: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71875" y="3037261"/>
            <a:ext cx="32596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000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2"/>
                </a:solidFill>
              </a:rPr>
              <a:t>роли пользователей</a:t>
            </a:r>
            <a:r>
              <a:rPr lang="en-US" sz="1200" dirty="0" smtClean="0">
                <a:solidFill>
                  <a:schemeClr val="tx2"/>
                </a:solidFill>
              </a:rPr>
              <a:t>…</a:t>
            </a:r>
            <a:endParaRPr lang="ru-RU" sz="1200" dirty="0">
              <a:solidFill>
                <a:schemeClr val="tx2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5092960" y="1061690"/>
            <a:ext cx="4418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dirty="0" smtClean="0">
                <a:solidFill>
                  <a:schemeClr val="tx2"/>
                </a:solidFill>
              </a:rPr>
              <a:t>функционал </a:t>
            </a:r>
            <a:r>
              <a:rPr lang="ru-RU" sz="1400" dirty="0">
                <a:solidFill>
                  <a:schemeClr val="tx2"/>
                </a:solidFill>
              </a:rPr>
              <a:t>продукта </a:t>
            </a:r>
            <a:r>
              <a:rPr lang="ru-RU" sz="1400" b="1" dirty="0">
                <a:solidFill>
                  <a:schemeClr val="tx2"/>
                </a:solidFill>
              </a:rPr>
              <a:t>включает ….</a:t>
            </a:r>
          </a:p>
        </p:txBody>
      </p:sp>
      <p:sp>
        <p:nvSpPr>
          <p:cNvPr id="36" name="Прямоугольник 35"/>
          <p:cNvSpPr/>
          <p:nvPr/>
        </p:nvSpPr>
        <p:spPr>
          <a:xfrm>
            <a:off x="5092960" y="3252176"/>
            <a:ext cx="4418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dirty="0" smtClean="0">
                <a:solidFill>
                  <a:schemeClr val="tx2"/>
                </a:solidFill>
              </a:rPr>
              <a:t>функционал </a:t>
            </a:r>
            <a:r>
              <a:rPr lang="ru-RU" sz="1400" dirty="0">
                <a:solidFill>
                  <a:schemeClr val="tx2"/>
                </a:solidFill>
              </a:rPr>
              <a:t>продукта </a:t>
            </a:r>
            <a:r>
              <a:rPr lang="ru-RU" sz="1400" b="1" dirty="0">
                <a:solidFill>
                  <a:schemeClr val="tx2"/>
                </a:solidFill>
              </a:rPr>
              <a:t>не включает …</a:t>
            </a:r>
          </a:p>
        </p:txBody>
      </p:sp>
      <p:grpSp>
        <p:nvGrpSpPr>
          <p:cNvPr id="51" name="Группа 50"/>
          <p:cNvGrpSpPr/>
          <p:nvPr/>
        </p:nvGrpSpPr>
        <p:grpSpPr>
          <a:xfrm>
            <a:off x="5092960" y="1787941"/>
            <a:ext cx="993804" cy="657829"/>
            <a:chOff x="5092960" y="1787941"/>
            <a:chExt cx="993804" cy="657829"/>
          </a:xfrm>
        </p:grpSpPr>
        <p:sp>
          <p:nvSpPr>
            <p:cNvPr id="37" name="Прямоугольник 36"/>
            <p:cNvSpPr/>
            <p:nvPr/>
          </p:nvSpPr>
          <p:spPr>
            <a:xfrm>
              <a:off x="5092960" y="2137993"/>
              <a:ext cx="99380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 smtClean="0"/>
                <a:t>Описание</a:t>
              </a:r>
              <a:endParaRPr lang="ru-RU" sz="1400" dirty="0"/>
            </a:p>
          </p:txBody>
        </p:sp>
        <p:grpSp>
          <p:nvGrpSpPr>
            <p:cNvPr id="38" name="Группа 37"/>
            <p:cNvGrpSpPr/>
            <p:nvPr/>
          </p:nvGrpSpPr>
          <p:grpSpPr>
            <a:xfrm>
              <a:off x="5161075" y="1787941"/>
              <a:ext cx="328257" cy="328257"/>
              <a:chOff x="5016434" y="2424362"/>
              <a:chExt cx="366379" cy="366379"/>
            </a:xfrm>
          </p:grpSpPr>
          <p:sp>
            <p:nvSpPr>
              <p:cNvPr id="39" name="Овал 38"/>
              <p:cNvSpPr/>
              <p:nvPr/>
            </p:nvSpPr>
            <p:spPr>
              <a:xfrm>
                <a:off x="5016434" y="2424362"/>
                <a:ext cx="366379" cy="366379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</a:ln>
              <a:effectLst>
                <a:outerShdw blurRad="114300" dist="38100" dir="4800000" sx="101000" sy="101000" algn="r" rotWithShape="0">
                  <a:prstClr val="black">
                    <a:alpha val="9000"/>
                  </a:prstClr>
                </a:outerShdw>
              </a:effectLst>
            </p:spPr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sz="1200" b="1" dirty="0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40" name="Полилиния: фигура 40">
                <a:extLst>
                  <a:ext uri="{FF2B5EF4-FFF2-40B4-BE49-F238E27FC236}">
                    <a16:creationId xmlns:a16="http://schemas.microsoft.com/office/drawing/2014/main" id="{70280C5A-8076-4EA7-BB14-1636CF981E74}"/>
                  </a:ext>
                </a:extLst>
              </p:cNvPr>
              <p:cNvSpPr/>
              <p:nvPr/>
            </p:nvSpPr>
            <p:spPr>
              <a:xfrm>
                <a:off x="5112331" y="2541037"/>
                <a:ext cx="174584" cy="133028"/>
              </a:xfrm>
              <a:custGeom>
                <a:avLst/>
                <a:gdLst>
                  <a:gd name="connsiteX0" fmla="*/ 211794 w 225203"/>
                  <a:gd name="connsiteY0" fmla="*/ 32 h 171599"/>
                  <a:gd name="connsiteX1" fmla="*/ 218842 w 225203"/>
                  <a:gd name="connsiteY1" fmla="*/ 1751 h 171599"/>
                  <a:gd name="connsiteX2" fmla="*/ 223484 w 225203"/>
                  <a:gd name="connsiteY2" fmla="*/ 6565 h 171599"/>
                  <a:gd name="connsiteX3" fmla="*/ 225203 w 225203"/>
                  <a:gd name="connsiteY3" fmla="*/ 14129 h 171599"/>
                  <a:gd name="connsiteX4" fmla="*/ 224172 w 225203"/>
                  <a:gd name="connsiteY4" fmla="*/ 20318 h 171599"/>
                  <a:gd name="connsiteX5" fmla="*/ 153000 w 225203"/>
                  <a:gd name="connsiteY5" fmla="*/ 96990 h 171599"/>
                  <a:gd name="connsiteX6" fmla="*/ 82001 w 225203"/>
                  <a:gd name="connsiteY6" fmla="*/ 171599 h 171599"/>
                  <a:gd name="connsiteX7" fmla="*/ 41774 w 225203"/>
                  <a:gd name="connsiteY7" fmla="*/ 131200 h 171599"/>
                  <a:gd name="connsiteX8" fmla="*/ 1375 w 225203"/>
                  <a:gd name="connsiteY8" fmla="*/ 89082 h 171599"/>
                  <a:gd name="connsiteX9" fmla="*/ 0 w 225203"/>
                  <a:gd name="connsiteY9" fmla="*/ 83925 h 171599"/>
                  <a:gd name="connsiteX10" fmla="*/ 172 w 225203"/>
                  <a:gd name="connsiteY10" fmla="*/ 80315 h 171599"/>
                  <a:gd name="connsiteX11" fmla="*/ 1547 w 225203"/>
                  <a:gd name="connsiteY11" fmla="*/ 76704 h 171599"/>
                  <a:gd name="connsiteX12" fmla="*/ 8596 w 225203"/>
                  <a:gd name="connsiteY12" fmla="*/ 70000 h 171599"/>
                  <a:gd name="connsiteX13" fmla="*/ 18395 w 225203"/>
                  <a:gd name="connsiteY13" fmla="*/ 69484 h 171599"/>
                  <a:gd name="connsiteX14" fmla="*/ 25442 w 225203"/>
                  <a:gd name="connsiteY14" fmla="*/ 74813 h 171599"/>
                  <a:gd name="connsiteX15" fmla="*/ 51401 w 225203"/>
                  <a:gd name="connsiteY15" fmla="*/ 100600 h 171599"/>
                  <a:gd name="connsiteX16" fmla="*/ 81486 w 225203"/>
                  <a:gd name="connsiteY16" fmla="*/ 131028 h 171599"/>
                  <a:gd name="connsiteX17" fmla="*/ 141482 w 225203"/>
                  <a:gd name="connsiteY17" fmla="*/ 67077 h 171599"/>
                  <a:gd name="connsiteX18" fmla="*/ 204230 w 225203"/>
                  <a:gd name="connsiteY18" fmla="*/ 1579 h 171599"/>
                  <a:gd name="connsiteX19" fmla="*/ 211794 w 225203"/>
                  <a:gd name="connsiteY19" fmla="*/ 32 h 17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5203" h="171599">
                    <a:moveTo>
                      <a:pt x="211794" y="32"/>
                    </a:moveTo>
                    <a:cubicBezTo>
                      <a:pt x="214544" y="204"/>
                      <a:pt x="216951" y="720"/>
                      <a:pt x="218842" y="1751"/>
                    </a:cubicBezTo>
                    <a:cubicBezTo>
                      <a:pt x="220733" y="2783"/>
                      <a:pt x="222280" y="4330"/>
                      <a:pt x="223484" y="6565"/>
                    </a:cubicBezTo>
                    <a:cubicBezTo>
                      <a:pt x="224687" y="8800"/>
                      <a:pt x="225203" y="11206"/>
                      <a:pt x="225203" y="14129"/>
                    </a:cubicBezTo>
                    <a:cubicBezTo>
                      <a:pt x="225203" y="17051"/>
                      <a:pt x="224859" y="18942"/>
                      <a:pt x="224172" y="20318"/>
                    </a:cubicBezTo>
                    <a:cubicBezTo>
                      <a:pt x="223484" y="21693"/>
                      <a:pt x="199760" y="47136"/>
                      <a:pt x="153000" y="96990"/>
                    </a:cubicBezTo>
                    <a:cubicBezTo>
                      <a:pt x="106241" y="146844"/>
                      <a:pt x="82517" y="171599"/>
                      <a:pt x="82001" y="171599"/>
                    </a:cubicBezTo>
                    <a:cubicBezTo>
                      <a:pt x="81486" y="171599"/>
                      <a:pt x="68077" y="158190"/>
                      <a:pt x="41774" y="131200"/>
                    </a:cubicBezTo>
                    <a:cubicBezTo>
                      <a:pt x="15472" y="104210"/>
                      <a:pt x="2063" y="90285"/>
                      <a:pt x="1375" y="89082"/>
                    </a:cubicBezTo>
                    <a:cubicBezTo>
                      <a:pt x="688" y="87879"/>
                      <a:pt x="344" y="86159"/>
                      <a:pt x="0" y="83925"/>
                    </a:cubicBezTo>
                    <a:cubicBezTo>
                      <a:pt x="0" y="82377"/>
                      <a:pt x="0" y="81174"/>
                      <a:pt x="172" y="80315"/>
                    </a:cubicBezTo>
                    <a:cubicBezTo>
                      <a:pt x="344" y="79455"/>
                      <a:pt x="688" y="78252"/>
                      <a:pt x="1547" y="76704"/>
                    </a:cubicBezTo>
                    <a:cubicBezTo>
                      <a:pt x="3266" y="73610"/>
                      <a:pt x="5673" y="71375"/>
                      <a:pt x="8596" y="70000"/>
                    </a:cubicBezTo>
                    <a:cubicBezTo>
                      <a:pt x="11518" y="68625"/>
                      <a:pt x="14784" y="68453"/>
                      <a:pt x="18395" y="69484"/>
                    </a:cubicBezTo>
                    <a:cubicBezTo>
                      <a:pt x="19598" y="69656"/>
                      <a:pt x="22005" y="71547"/>
                      <a:pt x="25442" y="74813"/>
                    </a:cubicBezTo>
                    <a:cubicBezTo>
                      <a:pt x="28881" y="78080"/>
                      <a:pt x="37648" y="86675"/>
                      <a:pt x="51401" y="100600"/>
                    </a:cubicBezTo>
                    <a:lnTo>
                      <a:pt x="81486" y="131028"/>
                    </a:lnTo>
                    <a:lnTo>
                      <a:pt x="141482" y="67077"/>
                    </a:lnTo>
                    <a:cubicBezTo>
                      <a:pt x="181538" y="24444"/>
                      <a:pt x="202339" y="2611"/>
                      <a:pt x="204230" y="1579"/>
                    </a:cubicBezTo>
                    <a:cubicBezTo>
                      <a:pt x="206465" y="376"/>
                      <a:pt x="208871" y="-140"/>
                      <a:pt x="211794" y="32"/>
                    </a:cubicBezTo>
                    <a:close/>
                  </a:path>
                </a:pathLst>
              </a:custGeom>
              <a:solidFill>
                <a:schemeClr val="tx2"/>
              </a:solidFill>
              <a:ln w="171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52" name="Группа 51"/>
          <p:cNvGrpSpPr/>
          <p:nvPr/>
        </p:nvGrpSpPr>
        <p:grpSpPr>
          <a:xfrm>
            <a:off x="7004026" y="1787941"/>
            <a:ext cx="993804" cy="657829"/>
            <a:chOff x="6679892" y="1787941"/>
            <a:chExt cx="993804" cy="657829"/>
          </a:xfrm>
        </p:grpSpPr>
        <p:sp>
          <p:nvSpPr>
            <p:cNvPr id="43" name="Прямоугольник 42"/>
            <p:cNvSpPr/>
            <p:nvPr/>
          </p:nvSpPr>
          <p:spPr>
            <a:xfrm>
              <a:off x="6679892" y="2137993"/>
              <a:ext cx="99380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 smtClean="0"/>
                <a:t>Описание</a:t>
              </a:r>
              <a:endParaRPr lang="ru-RU" sz="1400" dirty="0"/>
            </a:p>
          </p:txBody>
        </p:sp>
        <p:grpSp>
          <p:nvGrpSpPr>
            <p:cNvPr id="44" name="Группа 43"/>
            <p:cNvGrpSpPr/>
            <p:nvPr/>
          </p:nvGrpSpPr>
          <p:grpSpPr>
            <a:xfrm>
              <a:off x="6748007" y="1787941"/>
              <a:ext cx="328257" cy="328257"/>
              <a:chOff x="5016434" y="2424362"/>
              <a:chExt cx="366379" cy="366379"/>
            </a:xfrm>
          </p:grpSpPr>
          <p:sp>
            <p:nvSpPr>
              <p:cNvPr id="45" name="Овал 44"/>
              <p:cNvSpPr/>
              <p:nvPr/>
            </p:nvSpPr>
            <p:spPr>
              <a:xfrm>
                <a:off x="5016434" y="2424362"/>
                <a:ext cx="366379" cy="366379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</a:ln>
              <a:effectLst>
                <a:outerShdw blurRad="114300" dist="38100" dir="4800000" sx="101000" sy="101000" algn="r" rotWithShape="0">
                  <a:prstClr val="black">
                    <a:alpha val="9000"/>
                  </a:prstClr>
                </a:outerShdw>
              </a:effectLst>
            </p:spPr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sz="1200" b="1" dirty="0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46" name="Полилиния: фигура 40">
                <a:extLst>
                  <a:ext uri="{FF2B5EF4-FFF2-40B4-BE49-F238E27FC236}">
                    <a16:creationId xmlns:a16="http://schemas.microsoft.com/office/drawing/2014/main" id="{70280C5A-8076-4EA7-BB14-1636CF981E74}"/>
                  </a:ext>
                </a:extLst>
              </p:cNvPr>
              <p:cNvSpPr/>
              <p:nvPr/>
            </p:nvSpPr>
            <p:spPr>
              <a:xfrm>
                <a:off x="5112331" y="2541037"/>
                <a:ext cx="174584" cy="133028"/>
              </a:xfrm>
              <a:custGeom>
                <a:avLst/>
                <a:gdLst>
                  <a:gd name="connsiteX0" fmla="*/ 211794 w 225203"/>
                  <a:gd name="connsiteY0" fmla="*/ 32 h 171599"/>
                  <a:gd name="connsiteX1" fmla="*/ 218842 w 225203"/>
                  <a:gd name="connsiteY1" fmla="*/ 1751 h 171599"/>
                  <a:gd name="connsiteX2" fmla="*/ 223484 w 225203"/>
                  <a:gd name="connsiteY2" fmla="*/ 6565 h 171599"/>
                  <a:gd name="connsiteX3" fmla="*/ 225203 w 225203"/>
                  <a:gd name="connsiteY3" fmla="*/ 14129 h 171599"/>
                  <a:gd name="connsiteX4" fmla="*/ 224172 w 225203"/>
                  <a:gd name="connsiteY4" fmla="*/ 20318 h 171599"/>
                  <a:gd name="connsiteX5" fmla="*/ 153000 w 225203"/>
                  <a:gd name="connsiteY5" fmla="*/ 96990 h 171599"/>
                  <a:gd name="connsiteX6" fmla="*/ 82001 w 225203"/>
                  <a:gd name="connsiteY6" fmla="*/ 171599 h 171599"/>
                  <a:gd name="connsiteX7" fmla="*/ 41774 w 225203"/>
                  <a:gd name="connsiteY7" fmla="*/ 131200 h 171599"/>
                  <a:gd name="connsiteX8" fmla="*/ 1375 w 225203"/>
                  <a:gd name="connsiteY8" fmla="*/ 89082 h 171599"/>
                  <a:gd name="connsiteX9" fmla="*/ 0 w 225203"/>
                  <a:gd name="connsiteY9" fmla="*/ 83925 h 171599"/>
                  <a:gd name="connsiteX10" fmla="*/ 172 w 225203"/>
                  <a:gd name="connsiteY10" fmla="*/ 80315 h 171599"/>
                  <a:gd name="connsiteX11" fmla="*/ 1547 w 225203"/>
                  <a:gd name="connsiteY11" fmla="*/ 76704 h 171599"/>
                  <a:gd name="connsiteX12" fmla="*/ 8596 w 225203"/>
                  <a:gd name="connsiteY12" fmla="*/ 70000 h 171599"/>
                  <a:gd name="connsiteX13" fmla="*/ 18395 w 225203"/>
                  <a:gd name="connsiteY13" fmla="*/ 69484 h 171599"/>
                  <a:gd name="connsiteX14" fmla="*/ 25442 w 225203"/>
                  <a:gd name="connsiteY14" fmla="*/ 74813 h 171599"/>
                  <a:gd name="connsiteX15" fmla="*/ 51401 w 225203"/>
                  <a:gd name="connsiteY15" fmla="*/ 100600 h 171599"/>
                  <a:gd name="connsiteX16" fmla="*/ 81486 w 225203"/>
                  <a:gd name="connsiteY16" fmla="*/ 131028 h 171599"/>
                  <a:gd name="connsiteX17" fmla="*/ 141482 w 225203"/>
                  <a:gd name="connsiteY17" fmla="*/ 67077 h 171599"/>
                  <a:gd name="connsiteX18" fmla="*/ 204230 w 225203"/>
                  <a:gd name="connsiteY18" fmla="*/ 1579 h 171599"/>
                  <a:gd name="connsiteX19" fmla="*/ 211794 w 225203"/>
                  <a:gd name="connsiteY19" fmla="*/ 32 h 17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5203" h="171599">
                    <a:moveTo>
                      <a:pt x="211794" y="32"/>
                    </a:moveTo>
                    <a:cubicBezTo>
                      <a:pt x="214544" y="204"/>
                      <a:pt x="216951" y="720"/>
                      <a:pt x="218842" y="1751"/>
                    </a:cubicBezTo>
                    <a:cubicBezTo>
                      <a:pt x="220733" y="2783"/>
                      <a:pt x="222280" y="4330"/>
                      <a:pt x="223484" y="6565"/>
                    </a:cubicBezTo>
                    <a:cubicBezTo>
                      <a:pt x="224687" y="8800"/>
                      <a:pt x="225203" y="11206"/>
                      <a:pt x="225203" y="14129"/>
                    </a:cubicBezTo>
                    <a:cubicBezTo>
                      <a:pt x="225203" y="17051"/>
                      <a:pt x="224859" y="18942"/>
                      <a:pt x="224172" y="20318"/>
                    </a:cubicBezTo>
                    <a:cubicBezTo>
                      <a:pt x="223484" y="21693"/>
                      <a:pt x="199760" y="47136"/>
                      <a:pt x="153000" y="96990"/>
                    </a:cubicBezTo>
                    <a:cubicBezTo>
                      <a:pt x="106241" y="146844"/>
                      <a:pt x="82517" y="171599"/>
                      <a:pt x="82001" y="171599"/>
                    </a:cubicBezTo>
                    <a:cubicBezTo>
                      <a:pt x="81486" y="171599"/>
                      <a:pt x="68077" y="158190"/>
                      <a:pt x="41774" y="131200"/>
                    </a:cubicBezTo>
                    <a:cubicBezTo>
                      <a:pt x="15472" y="104210"/>
                      <a:pt x="2063" y="90285"/>
                      <a:pt x="1375" y="89082"/>
                    </a:cubicBezTo>
                    <a:cubicBezTo>
                      <a:pt x="688" y="87879"/>
                      <a:pt x="344" y="86159"/>
                      <a:pt x="0" y="83925"/>
                    </a:cubicBezTo>
                    <a:cubicBezTo>
                      <a:pt x="0" y="82377"/>
                      <a:pt x="0" y="81174"/>
                      <a:pt x="172" y="80315"/>
                    </a:cubicBezTo>
                    <a:cubicBezTo>
                      <a:pt x="344" y="79455"/>
                      <a:pt x="688" y="78252"/>
                      <a:pt x="1547" y="76704"/>
                    </a:cubicBezTo>
                    <a:cubicBezTo>
                      <a:pt x="3266" y="73610"/>
                      <a:pt x="5673" y="71375"/>
                      <a:pt x="8596" y="70000"/>
                    </a:cubicBezTo>
                    <a:cubicBezTo>
                      <a:pt x="11518" y="68625"/>
                      <a:pt x="14784" y="68453"/>
                      <a:pt x="18395" y="69484"/>
                    </a:cubicBezTo>
                    <a:cubicBezTo>
                      <a:pt x="19598" y="69656"/>
                      <a:pt x="22005" y="71547"/>
                      <a:pt x="25442" y="74813"/>
                    </a:cubicBezTo>
                    <a:cubicBezTo>
                      <a:pt x="28881" y="78080"/>
                      <a:pt x="37648" y="86675"/>
                      <a:pt x="51401" y="100600"/>
                    </a:cubicBezTo>
                    <a:lnTo>
                      <a:pt x="81486" y="131028"/>
                    </a:lnTo>
                    <a:lnTo>
                      <a:pt x="141482" y="67077"/>
                    </a:lnTo>
                    <a:cubicBezTo>
                      <a:pt x="181538" y="24444"/>
                      <a:pt x="202339" y="2611"/>
                      <a:pt x="204230" y="1579"/>
                    </a:cubicBezTo>
                    <a:cubicBezTo>
                      <a:pt x="206465" y="376"/>
                      <a:pt x="208871" y="-140"/>
                      <a:pt x="211794" y="32"/>
                    </a:cubicBezTo>
                    <a:close/>
                  </a:path>
                </a:pathLst>
              </a:custGeom>
              <a:solidFill>
                <a:schemeClr val="tx2"/>
              </a:solidFill>
              <a:ln w="171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53" name="Группа 52"/>
          <p:cNvGrpSpPr/>
          <p:nvPr/>
        </p:nvGrpSpPr>
        <p:grpSpPr>
          <a:xfrm>
            <a:off x="8915092" y="1787941"/>
            <a:ext cx="993804" cy="657829"/>
            <a:chOff x="6679892" y="1787941"/>
            <a:chExt cx="993804" cy="657829"/>
          </a:xfrm>
        </p:grpSpPr>
        <p:sp>
          <p:nvSpPr>
            <p:cNvPr id="54" name="Прямоугольник 53"/>
            <p:cNvSpPr/>
            <p:nvPr/>
          </p:nvSpPr>
          <p:spPr>
            <a:xfrm>
              <a:off x="6679892" y="2137993"/>
              <a:ext cx="99380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 smtClean="0"/>
                <a:t>Описание</a:t>
              </a:r>
              <a:endParaRPr lang="ru-RU" sz="1400" dirty="0"/>
            </a:p>
          </p:txBody>
        </p:sp>
        <p:grpSp>
          <p:nvGrpSpPr>
            <p:cNvPr id="55" name="Группа 54"/>
            <p:cNvGrpSpPr/>
            <p:nvPr/>
          </p:nvGrpSpPr>
          <p:grpSpPr>
            <a:xfrm>
              <a:off x="6748007" y="1787941"/>
              <a:ext cx="328257" cy="328257"/>
              <a:chOff x="5016434" y="2424362"/>
              <a:chExt cx="366379" cy="366379"/>
            </a:xfrm>
          </p:grpSpPr>
          <p:sp>
            <p:nvSpPr>
              <p:cNvPr id="56" name="Овал 55"/>
              <p:cNvSpPr/>
              <p:nvPr/>
            </p:nvSpPr>
            <p:spPr>
              <a:xfrm>
                <a:off x="5016434" y="2424362"/>
                <a:ext cx="366379" cy="366379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</a:ln>
              <a:effectLst>
                <a:outerShdw blurRad="114300" dist="38100" dir="4800000" sx="101000" sy="101000" algn="r" rotWithShape="0">
                  <a:prstClr val="black">
                    <a:alpha val="9000"/>
                  </a:prstClr>
                </a:outerShdw>
              </a:effectLst>
            </p:spPr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sz="1200" b="1" dirty="0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57" name="Полилиния: фигура 40">
                <a:extLst>
                  <a:ext uri="{FF2B5EF4-FFF2-40B4-BE49-F238E27FC236}">
                    <a16:creationId xmlns:a16="http://schemas.microsoft.com/office/drawing/2014/main" id="{70280C5A-8076-4EA7-BB14-1636CF981E74}"/>
                  </a:ext>
                </a:extLst>
              </p:cNvPr>
              <p:cNvSpPr/>
              <p:nvPr/>
            </p:nvSpPr>
            <p:spPr>
              <a:xfrm>
                <a:off x="5112331" y="2541037"/>
                <a:ext cx="174584" cy="133028"/>
              </a:xfrm>
              <a:custGeom>
                <a:avLst/>
                <a:gdLst>
                  <a:gd name="connsiteX0" fmla="*/ 211794 w 225203"/>
                  <a:gd name="connsiteY0" fmla="*/ 32 h 171599"/>
                  <a:gd name="connsiteX1" fmla="*/ 218842 w 225203"/>
                  <a:gd name="connsiteY1" fmla="*/ 1751 h 171599"/>
                  <a:gd name="connsiteX2" fmla="*/ 223484 w 225203"/>
                  <a:gd name="connsiteY2" fmla="*/ 6565 h 171599"/>
                  <a:gd name="connsiteX3" fmla="*/ 225203 w 225203"/>
                  <a:gd name="connsiteY3" fmla="*/ 14129 h 171599"/>
                  <a:gd name="connsiteX4" fmla="*/ 224172 w 225203"/>
                  <a:gd name="connsiteY4" fmla="*/ 20318 h 171599"/>
                  <a:gd name="connsiteX5" fmla="*/ 153000 w 225203"/>
                  <a:gd name="connsiteY5" fmla="*/ 96990 h 171599"/>
                  <a:gd name="connsiteX6" fmla="*/ 82001 w 225203"/>
                  <a:gd name="connsiteY6" fmla="*/ 171599 h 171599"/>
                  <a:gd name="connsiteX7" fmla="*/ 41774 w 225203"/>
                  <a:gd name="connsiteY7" fmla="*/ 131200 h 171599"/>
                  <a:gd name="connsiteX8" fmla="*/ 1375 w 225203"/>
                  <a:gd name="connsiteY8" fmla="*/ 89082 h 171599"/>
                  <a:gd name="connsiteX9" fmla="*/ 0 w 225203"/>
                  <a:gd name="connsiteY9" fmla="*/ 83925 h 171599"/>
                  <a:gd name="connsiteX10" fmla="*/ 172 w 225203"/>
                  <a:gd name="connsiteY10" fmla="*/ 80315 h 171599"/>
                  <a:gd name="connsiteX11" fmla="*/ 1547 w 225203"/>
                  <a:gd name="connsiteY11" fmla="*/ 76704 h 171599"/>
                  <a:gd name="connsiteX12" fmla="*/ 8596 w 225203"/>
                  <a:gd name="connsiteY12" fmla="*/ 70000 h 171599"/>
                  <a:gd name="connsiteX13" fmla="*/ 18395 w 225203"/>
                  <a:gd name="connsiteY13" fmla="*/ 69484 h 171599"/>
                  <a:gd name="connsiteX14" fmla="*/ 25442 w 225203"/>
                  <a:gd name="connsiteY14" fmla="*/ 74813 h 171599"/>
                  <a:gd name="connsiteX15" fmla="*/ 51401 w 225203"/>
                  <a:gd name="connsiteY15" fmla="*/ 100600 h 171599"/>
                  <a:gd name="connsiteX16" fmla="*/ 81486 w 225203"/>
                  <a:gd name="connsiteY16" fmla="*/ 131028 h 171599"/>
                  <a:gd name="connsiteX17" fmla="*/ 141482 w 225203"/>
                  <a:gd name="connsiteY17" fmla="*/ 67077 h 171599"/>
                  <a:gd name="connsiteX18" fmla="*/ 204230 w 225203"/>
                  <a:gd name="connsiteY18" fmla="*/ 1579 h 171599"/>
                  <a:gd name="connsiteX19" fmla="*/ 211794 w 225203"/>
                  <a:gd name="connsiteY19" fmla="*/ 32 h 17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5203" h="171599">
                    <a:moveTo>
                      <a:pt x="211794" y="32"/>
                    </a:moveTo>
                    <a:cubicBezTo>
                      <a:pt x="214544" y="204"/>
                      <a:pt x="216951" y="720"/>
                      <a:pt x="218842" y="1751"/>
                    </a:cubicBezTo>
                    <a:cubicBezTo>
                      <a:pt x="220733" y="2783"/>
                      <a:pt x="222280" y="4330"/>
                      <a:pt x="223484" y="6565"/>
                    </a:cubicBezTo>
                    <a:cubicBezTo>
                      <a:pt x="224687" y="8800"/>
                      <a:pt x="225203" y="11206"/>
                      <a:pt x="225203" y="14129"/>
                    </a:cubicBezTo>
                    <a:cubicBezTo>
                      <a:pt x="225203" y="17051"/>
                      <a:pt x="224859" y="18942"/>
                      <a:pt x="224172" y="20318"/>
                    </a:cubicBezTo>
                    <a:cubicBezTo>
                      <a:pt x="223484" y="21693"/>
                      <a:pt x="199760" y="47136"/>
                      <a:pt x="153000" y="96990"/>
                    </a:cubicBezTo>
                    <a:cubicBezTo>
                      <a:pt x="106241" y="146844"/>
                      <a:pt x="82517" y="171599"/>
                      <a:pt x="82001" y="171599"/>
                    </a:cubicBezTo>
                    <a:cubicBezTo>
                      <a:pt x="81486" y="171599"/>
                      <a:pt x="68077" y="158190"/>
                      <a:pt x="41774" y="131200"/>
                    </a:cubicBezTo>
                    <a:cubicBezTo>
                      <a:pt x="15472" y="104210"/>
                      <a:pt x="2063" y="90285"/>
                      <a:pt x="1375" y="89082"/>
                    </a:cubicBezTo>
                    <a:cubicBezTo>
                      <a:pt x="688" y="87879"/>
                      <a:pt x="344" y="86159"/>
                      <a:pt x="0" y="83925"/>
                    </a:cubicBezTo>
                    <a:cubicBezTo>
                      <a:pt x="0" y="82377"/>
                      <a:pt x="0" y="81174"/>
                      <a:pt x="172" y="80315"/>
                    </a:cubicBezTo>
                    <a:cubicBezTo>
                      <a:pt x="344" y="79455"/>
                      <a:pt x="688" y="78252"/>
                      <a:pt x="1547" y="76704"/>
                    </a:cubicBezTo>
                    <a:cubicBezTo>
                      <a:pt x="3266" y="73610"/>
                      <a:pt x="5673" y="71375"/>
                      <a:pt x="8596" y="70000"/>
                    </a:cubicBezTo>
                    <a:cubicBezTo>
                      <a:pt x="11518" y="68625"/>
                      <a:pt x="14784" y="68453"/>
                      <a:pt x="18395" y="69484"/>
                    </a:cubicBezTo>
                    <a:cubicBezTo>
                      <a:pt x="19598" y="69656"/>
                      <a:pt x="22005" y="71547"/>
                      <a:pt x="25442" y="74813"/>
                    </a:cubicBezTo>
                    <a:cubicBezTo>
                      <a:pt x="28881" y="78080"/>
                      <a:pt x="37648" y="86675"/>
                      <a:pt x="51401" y="100600"/>
                    </a:cubicBezTo>
                    <a:lnTo>
                      <a:pt x="81486" y="131028"/>
                    </a:lnTo>
                    <a:lnTo>
                      <a:pt x="141482" y="67077"/>
                    </a:lnTo>
                    <a:cubicBezTo>
                      <a:pt x="181538" y="24444"/>
                      <a:pt x="202339" y="2611"/>
                      <a:pt x="204230" y="1579"/>
                    </a:cubicBezTo>
                    <a:cubicBezTo>
                      <a:pt x="206465" y="376"/>
                      <a:pt x="208871" y="-140"/>
                      <a:pt x="211794" y="32"/>
                    </a:cubicBezTo>
                    <a:close/>
                  </a:path>
                </a:pathLst>
              </a:custGeom>
              <a:solidFill>
                <a:schemeClr val="tx2"/>
              </a:solidFill>
              <a:ln w="171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59" name="Прямоугольник 58"/>
          <p:cNvSpPr/>
          <p:nvPr/>
        </p:nvSpPr>
        <p:spPr>
          <a:xfrm>
            <a:off x="5092960" y="4327011"/>
            <a:ext cx="993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Описание</a:t>
            </a:r>
            <a:endParaRPr lang="ru-RU" sz="14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004026" y="4327011"/>
            <a:ext cx="993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Описание</a:t>
            </a:r>
            <a:endParaRPr lang="ru-RU" sz="14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8915092" y="4327011"/>
            <a:ext cx="993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Описание</a:t>
            </a:r>
            <a:endParaRPr lang="ru-RU" sz="1400" dirty="0"/>
          </a:p>
        </p:txBody>
      </p:sp>
      <p:grpSp>
        <p:nvGrpSpPr>
          <p:cNvPr id="73" name="Группа 72"/>
          <p:cNvGrpSpPr/>
          <p:nvPr/>
        </p:nvGrpSpPr>
        <p:grpSpPr>
          <a:xfrm>
            <a:off x="5161075" y="3976959"/>
            <a:ext cx="328257" cy="328257"/>
            <a:chOff x="5016434" y="4352060"/>
            <a:chExt cx="328257" cy="328257"/>
          </a:xfrm>
        </p:grpSpPr>
        <p:sp>
          <p:nvSpPr>
            <p:cNvPr id="74" name="Овал 73"/>
            <p:cNvSpPr/>
            <p:nvPr/>
          </p:nvSpPr>
          <p:spPr>
            <a:xfrm>
              <a:off x="5016434" y="4352060"/>
              <a:ext cx="328257" cy="3282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75" name="Полилиния: фигура 45">
              <a:extLst>
                <a:ext uri="{FF2B5EF4-FFF2-40B4-BE49-F238E27FC236}">
                  <a16:creationId xmlns:a16="http://schemas.microsoft.com/office/drawing/2014/main" id="{5A83095E-FF8E-495D-87AA-D07391690E47}"/>
                </a:ext>
              </a:extLst>
            </p:cNvPr>
            <p:cNvSpPr/>
            <p:nvPr/>
          </p:nvSpPr>
          <p:spPr>
            <a:xfrm>
              <a:off x="5109975" y="4451636"/>
              <a:ext cx="132886" cy="132830"/>
            </a:xfrm>
            <a:custGeom>
              <a:avLst/>
              <a:gdLst>
                <a:gd name="connsiteX0" fmla="*/ 11602 w 196921"/>
                <a:gd name="connsiteY0" fmla="*/ 172 h 196837"/>
                <a:gd name="connsiteX1" fmla="*/ 15728 w 196921"/>
                <a:gd name="connsiteY1" fmla="*/ 860 h 196837"/>
                <a:gd name="connsiteX2" fmla="*/ 25011 w 196921"/>
                <a:gd name="connsiteY2" fmla="*/ 8596 h 196837"/>
                <a:gd name="connsiteX3" fmla="*/ 58190 w 196921"/>
                <a:gd name="connsiteY3" fmla="*/ 41259 h 196837"/>
                <a:gd name="connsiteX4" fmla="*/ 98245 w 196921"/>
                <a:gd name="connsiteY4" fmla="*/ 81314 h 196837"/>
                <a:gd name="connsiteX5" fmla="*/ 167181 w 196921"/>
                <a:gd name="connsiteY5" fmla="*/ 12378 h 196837"/>
                <a:gd name="connsiteX6" fmla="*/ 179559 w 196921"/>
                <a:gd name="connsiteY6" fmla="*/ 1547 h 196837"/>
                <a:gd name="connsiteX7" fmla="*/ 184544 w 196921"/>
                <a:gd name="connsiteY7" fmla="*/ 0 h 196837"/>
                <a:gd name="connsiteX8" fmla="*/ 188326 w 196921"/>
                <a:gd name="connsiteY8" fmla="*/ 1031 h 196837"/>
                <a:gd name="connsiteX9" fmla="*/ 192452 w 196921"/>
                <a:gd name="connsiteY9" fmla="*/ 3266 h 196837"/>
                <a:gd name="connsiteX10" fmla="*/ 195546 w 196921"/>
                <a:gd name="connsiteY10" fmla="*/ 7220 h 196837"/>
                <a:gd name="connsiteX11" fmla="*/ 196922 w 196921"/>
                <a:gd name="connsiteY11" fmla="*/ 11862 h 196837"/>
                <a:gd name="connsiteX12" fmla="*/ 195374 w 196921"/>
                <a:gd name="connsiteY12" fmla="*/ 17191 h 196837"/>
                <a:gd name="connsiteX13" fmla="*/ 185404 w 196921"/>
                <a:gd name="connsiteY13" fmla="*/ 28709 h 196837"/>
                <a:gd name="connsiteX14" fmla="*/ 115780 w 196921"/>
                <a:gd name="connsiteY14" fmla="*/ 98333 h 196837"/>
                <a:gd name="connsiteX15" fmla="*/ 185404 w 196921"/>
                <a:gd name="connsiteY15" fmla="*/ 167957 h 196837"/>
                <a:gd name="connsiteX16" fmla="*/ 195374 w 196921"/>
                <a:gd name="connsiteY16" fmla="*/ 179475 h 196837"/>
                <a:gd name="connsiteX17" fmla="*/ 196922 w 196921"/>
                <a:gd name="connsiteY17" fmla="*/ 184804 h 196837"/>
                <a:gd name="connsiteX18" fmla="*/ 195546 w 196921"/>
                <a:gd name="connsiteY18" fmla="*/ 189446 h 196837"/>
                <a:gd name="connsiteX19" fmla="*/ 192452 w 196921"/>
                <a:gd name="connsiteY19" fmla="*/ 193571 h 196837"/>
                <a:gd name="connsiteX20" fmla="*/ 188326 w 196921"/>
                <a:gd name="connsiteY20" fmla="*/ 195806 h 196837"/>
                <a:gd name="connsiteX21" fmla="*/ 184544 w 196921"/>
                <a:gd name="connsiteY21" fmla="*/ 196838 h 196837"/>
                <a:gd name="connsiteX22" fmla="*/ 179559 w 196921"/>
                <a:gd name="connsiteY22" fmla="*/ 195291 h 196837"/>
                <a:gd name="connsiteX23" fmla="*/ 167181 w 196921"/>
                <a:gd name="connsiteY23" fmla="*/ 184460 h 196837"/>
                <a:gd name="connsiteX24" fmla="*/ 98245 w 196921"/>
                <a:gd name="connsiteY24" fmla="*/ 115524 h 196837"/>
                <a:gd name="connsiteX25" fmla="*/ 58190 w 196921"/>
                <a:gd name="connsiteY25" fmla="*/ 155579 h 196837"/>
                <a:gd name="connsiteX26" fmla="*/ 24324 w 196921"/>
                <a:gd name="connsiteY26" fmla="*/ 189102 h 196837"/>
                <a:gd name="connsiteX27" fmla="*/ 15556 w 196921"/>
                <a:gd name="connsiteY27" fmla="*/ 195978 h 196837"/>
                <a:gd name="connsiteX28" fmla="*/ 3694 w 196921"/>
                <a:gd name="connsiteY28" fmla="*/ 192884 h 196837"/>
                <a:gd name="connsiteX29" fmla="*/ 600 w 196921"/>
                <a:gd name="connsiteY29" fmla="*/ 181022 h 196837"/>
                <a:gd name="connsiteX30" fmla="*/ 7476 w 196921"/>
                <a:gd name="connsiteY30" fmla="*/ 171911 h 196837"/>
                <a:gd name="connsiteX31" fmla="*/ 40999 w 196921"/>
                <a:gd name="connsiteY31" fmla="*/ 138216 h 196837"/>
                <a:gd name="connsiteX32" fmla="*/ 81054 w 196921"/>
                <a:gd name="connsiteY32" fmla="*/ 98161 h 196837"/>
                <a:gd name="connsiteX33" fmla="*/ 40999 w 196921"/>
                <a:gd name="connsiteY33" fmla="*/ 58106 h 196837"/>
                <a:gd name="connsiteX34" fmla="*/ 7476 w 196921"/>
                <a:gd name="connsiteY34" fmla="*/ 24239 h 196837"/>
                <a:gd name="connsiteX35" fmla="*/ 600 w 196921"/>
                <a:gd name="connsiteY35" fmla="*/ 15472 h 196837"/>
                <a:gd name="connsiteX36" fmla="*/ 1288 w 196921"/>
                <a:gd name="connsiteY36" fmla="*/ 6705 h 196837"/>
                <a:gd name="connsiteX37" fmla="*/ 8164 w 196921"/>
                <a:gd name="connsiteY37" fmla="*/ 516 h 196837"/>
                <a:gd name="connsiteX38" fmla="*/ 11602 w 196921"/>
                <a:gd name="connsiteY38" fmla="*/ 172 h 19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6921" h="196837">
                  <a:moveTo>
                    <a:pt x="11602" y="172"/>
                  </a:moveTo>
                  <a:cubicBezTo>
                    <a:pt x="12462" y="172"/>
                    <a:pt x="13837" y="344"/>
                    <a:pt x="15728" y="860"/>
                  </a:cubicBezTo>
                  <a:cubicBezTo>
                    <a:pt x="16759" y="1031"/>
                    <a:pt x="19854" y="3610"/>
                    <a:pt x="25011" y="8596"/>
                  </a:cubicBezTo>
                  <a:cubicBezTo>
                    <a:pt x="30168" y="13409"/>
                    <a:pt x="41170" y="24411"/>
                    <a:pt x="58190" y="41259"/>
                  </a:cubicBezTo>
                  <a:lnTo>
                    <a:pt x="98245" y="81314"/>
                  </a:lnTo>
                  <a:lnTo>
                    <a:pt x="167181" y="12378"/>
                  </a:lnTo>
                  <a:cubicBezTo>
                    <a:pt x="173026" y="6705"/>
                    <a:pt x="177152" y="3094"/>
                    <a:pt x="179559" y="1547"/>
                  </a:cubicBezTo>
                  <a:cubicBezTo>
                    <a:pt x="181106" y="516"/>
                    <a:pt x="182825" y="0"/>
                    <a:pt x="184544" y="0"/>
                  </a:cubicBezTo>
                  <a:cubicBezTo>
                    <a:pt x="185575" y="0"/>
                    <a:pt x="186779" y="344"/>
                    <a:pt x="188326" y="1031"/>
                  </a:cubicBezTo>
                  <a:cubicBezTo>
                    <a:pt x="189873" y="1719"/>
                    <a:pt x="191249" y="2407"/>
                    <a:pt x="192452" y="3266"/>
                  </a:cubicBezTo>
                  <a:cubicBezTo>
                    <a:pt x="193655" y="4126"/>
                    <a:pt x="194687" y="5501"/>
                    <a:pt x="195546" y="7220"/>
                  </a:cubicBezTo>
                  <a:cubicBezTo>
                    <a:pt x="196406" y="9111"/>
                    <a:pt x="196922" y="10487"/>
                    <a:pt x="196922" y="11862"/>
                  </a:cubicBezTo>
                  <a:cubicBezTo>
                    <a:pt x="196922" y="13925"/>
                    <a:pt x="196406" y="15644"/>
                    <a:pt x="195374" y="17191"/>
                  </a:cubicBezTo>
                  <a:cubicBezTo>
                    <a:pt x="193999" y="19254"/>
                    <a:pt x="190733" y="23036"/>
                    <a:pt x="185404" y="28709"/>
                  </a:cubicBezTo>
                  <a:lnTo>
                    <a:pt x="115780" y="98333"/>
                  </a:lnTo>
                  <a:lnTo>
                    <a:pt x="185404" y="167957"/>
                  </a:lnTo>
                  <a:cubicBezTo>
                    <a:pt x="190733" y="173630"/>
                    <a:pt x="194171" y="177412"/>
                    <a:pt x="195374" y="179475"/>
                  </a:cubicBezTo>
                  <a:cubicBezTo>
                    <a:pt x="196406" y="181022"/>
                    <a:pt x="196922" y="182741"/>
                    <a:pt x="196922" y="184804"/>
                  </a:cubicBezTo>
                  <a:cubicBezTo>
                    <a:pt x="196922" y="186007"/>
                    <a:pt x="196406" y="187555"/>
                    <a:pt x="195546" y="189446"/>
                  </a:cubicBezTo>
                  <a:cubicBezTo>
                    <a:pt x="194687" y="191337"/>
                    <a:pt x="193655" y="192540"/>
                    <a:pt x="192452" y="193571"/>
                  </a:cubicBezTo>
                  <a:cubicBezTo>
                    <a:pt x="191249" y="194431"/>
                    <a:pt x="189873" y="195291"/>
                    <a:pt x="188326" y="195806"/>
                  </a:cubicBezTo>
                  <a:cubicBezTo>
                    <a:pt x="186779" y="196322"/>
                    <a:pt x="185575" y="196838"/>
                    <a:pt x="184544" y="196838"/>
                  </a:cubicBezTo>
                  <a:cubicBezTo>
                    <a:pt x="182825" y="196838"/>
                    <a:pt x="181106" y="196322"/>
                    <a:pt x="179559" y="195291"/>
                  </a:cubicBezTo>
                  <a:cubicBezTo>
                    <a:pt x="177324" y="193743"/>
                    <a:pt x="173198" y="190133"/>
                    <a:pt x="167181" y="184460"/>
                  </a:cubicBezTo>
                  <a:lnTo>
                    <a:pt x="98245" y="115524"/>
                  </a:lnTo>
                  <a:lnTo>
                    <a:pt x="58190" y="155579"/>
                  </a:lnTo>
                  <a:cubicBezTo>
                    <a:pt x="40311" y="173458"/>
                    <a:pt x="28965" y="184632"/>
                    <a:pt x="24324" y="189102"/>
                  </a:cubicBezTo>
                  <a:cubicBezTo>
                    <a:pt x="19682" y="193571"/>
                    <a:pt x="16759" y="195806"/>
                    <a:pt x="15556" y="195978"/>
                  </a:cubicBezTo>
                  <a:cubicBezTo>
                    <a:pt x="10915" y="197182"/>
                    <a:pt x="6960" y="196150"/>
                    <a:pt x="3694" y="192884"/>
                  </a:cubicBezTo>
                  <a:cubicBezTo>
                    <a:pt x="428" y="189618"/>
                    <a:pt x="-604" y="185492"/>
                    <a:pt x="600" y="181022"/>
                  </a:cubicBezTo>
                  <a:cubicBezTo>
                    <a:pt x="771" y="179819"/>
                    <a:pt x="3178" y="176724"/>
                    <a:pt x="7476" y="171911"/>
                  </a:cubicBezTo>
                  <a:cubicBezTo>
                    <a:pt x="11774" y="167097"/>
                    <a:pt x="22948" y="155923"/>
                    <a:pt x="40999" y="138216"/>
                  </a:cubicBezTo>
                  <a:lnTo>
                    <a:pt x="81054" y="98161"/>
                  </a:lnTo>
                  <a:lnTo>
                    <a:pt x="40999" y="58106"/>
                  </a:lnTo>
                  <a:cubicBezTo>
                    <a:pt x="23120" y="40227"/>
                    <a:pt x="11946" y="28881"/>
                    <a:pt x="7476" y="24239"/>
                  </a:cubicBezTo>
                  <a:cubicBezTo>
                    <a:pt x="3006" y="19598"/>
                    <a:pt x="771" y="16675"/>
                    <a:pt x="600" y="15472"/>
                  </a:cubicBezTo>
                  <a:cubicBezTo>
                    <a:pt x="-432" y="12378"/>
                    <a:pt x="-88" y="9455"/>
                    <a:pt x="1288" y="6705"/>
                  </a:cubicBezTo>
                  <a:cubicBezTo>
                    <a:pt x="2835" y="3782"/>
                    <a:pt x="5069" y="1891"/>
                    <a:pt x="8164" y="516"/>
                  </a:cubicBezTo>
                  <a:cubicBezTo>
                    <a:pt x="9539" y="516"/>
                    <a:pt x="10742" y="172"/>
                    <a:pt x="11602" y="17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7072141" y="3976959"/>
            <a:ext cx="328257" cy="328257"/>
            <a:chOff x="5016434" y="4352060"/>
            <a:chExt cx="328257" cy="328257"/>
          </a:xfrm>
        </p:grpSpPr>
        <p:sp>
          <p:nvSpPr>
            <p:cNvPr id="77" name="Овал 76"/>
            <p:cNvSpPr/>
            <p:nvPr/>
          </p:nvSpPr>
          <p:spPr>
            <a:xfrm>
              <a:off x="5016434" y="4352060"/>
              <a:ext cx="328257" cy="3282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78" name="Полилиния: фигура 45">
              <a:extLst>
                <a:ext uri="{FF2B5EF4-FFF2-40B4-BE49-F238E27FC236}">
                  <a16:creationId xmlns:a16="http://schemas.microsoft.com/office/drawing/2014/main" id="{5A83095E-FF8E-495D-87AA-D07391690E47}"/>
                </a:ext>
              </a:extLst>
            </p:cNvPr>
            <p:cNvSpPr/>
            <p:nvPr/>
          </p:nvSpPr>
          <p:spPr>
            <a:xfrm>
              <a:off x="5109975" y="4451636"/>
              <a:ext cx="132886" cy="132830"/>
            </a:xfrm>
            <a:custGeom>
              <a:avLst/>
              <a:gdLst>
                <a:gd name="connsiteX0" fmla="*/ 11602 w 196921"/>
                <a:gd name="connsiteY0" fmla="*/ 172 h 196837"/>
                <a:gd name="connsiteX1" fmla="*/ 15728 w 196921"/>
                <a:gd name="connsiteY1" fmla="*/ 860 h 196837"/>
                <a:gd name="connsiteX2" fmla="*/ 25011 w 196921"/>
                <a:gd name="connsiteY2" fmla="*/ 8596 h 196837"/>
                <a:gd name="connsiteX3" fmla="*/ 58190 w 196921"/>
                <a:gd name="connsiteY3" fmla="*/ 41259 h 196837"/>
                <a:gd name="connsiteX4" fmla="*/ 98245 w 196921"/>
                <a:gd name="connsiteY4" fmla="*/ 81314 h 196837"/>
                <a:gd name="connsiteX5" fmla="*/ 167181 w 196921"/>
                <a:gd name="connsiteY5" fmla="*/ 12378 h 196837"/>
                <a:gd name="connsiteX6" fmla="*/ 179559 w 196921"/>
                <a:gd name="connsiteY6" fmla="*/ 1547 h 196837"/>
                <a:gd name="connsiteX7" fmla="*/ 184544 w 196921"/>
                <a:gd name="connsiteY7" fmla="*/ 0 h 196837"/>
                <a:gd name="connsiteX8" fmla="*/ 188326 w 196921"/>
                <a:gd name="connsiteY8" fmla="*/ 1031 h 196837"/>
                <a:gd name="connsiteX9" fmla="*/ 192452 w 196921"/>
                <a:gd name="connsiteY9" fmla="*/ 3266 h 196837"/>
                <a:gd name="connsiteX10" fmla="*/ 195546 w 196921"/>
                <a:gd name="connsiteY10" fmla="*/ 7220 h 196837"/>
                <a:gd name="connsiteX11" fmla="*/ 196922 w 196921"/>
                <a:gd name="connsiteY11" fmla="*/ 11862 h 196837"/>
                <a:gd name="connsiteX12" fmla="*/ 195374 w 196921"/>
                <a:gd name="connsiteY12" fmla="*/ 17191 h 196837"/>
                <a:gd name="connsiteX13" fmla="*/ 185404 w 196921"/>
                <a:gd name="connsiteY13" fmla="*/ 28709 h 196837"/>
                <a:gd name="connsiteX14" fmla="*/ 115780 w 196921"/>
                <a:gd name="connsiteY14" fmla="*/ 98333 h 196837"/>
                <a:gd name="connsiteX15" fmla="*/ 185404 w 196921"/>
                <a:gd name="connsiteY15" fmla="*/ 167957 h 196837"/>
                <a:gd name="connsiteX16" fmla="*/ 195374 w 196921"/>
                <a:gd name="connsiteY16" fmla="*/ 179475 h 196837"/>
                <a:gd name="connsiteX17" fmla="*/ 196922 w 196921"/>
                <a:gd name="connsiteY17" fmla="*/ 184804 h 196837"/>
                <a:gd name="connsiteX18" fmla="*/ 195546 w 196921"/>
                <a:gd name="connsiteY18" fmla="*/ 189446 h 196837"/>
                <a:gd name="connsiteX19" fmla="*/ 192452 w 196921"/>
                <a:gd name="connsiteY19" fmla="*/ 193571 h 196837"/>
                <a:gd name="connsiteX20" fmla="*/ 188326 w 196921"/>
                <a:gd name="connsiteY20" fmla="*/ 195806 h 196837"/>
                <a:gd name="connsiteX21" fmla="*/ 184544 w 196921"/>
                <a:gd name="connsiteY21" fmla="*/ 196838 h 196837"/>
                <a:gd name="connsiteX22" fmla="*/ 179559 w 196921"/>
                <a:gd name="connsiteY22" fmla="*/ 195291 h 196837"/>
                <a:gd name="connsiteX23" fmla="*/ 167181 w 196921"/>
                <a:gd name="connsiteY23" fmla="*/ 184460 h 196837"/>
                <a:gd name="connsiteX24" fmla="*/ 98245 w 196921"/>
                <a:gd name="connsiteY24" fmla="*/ 115524 h 196837"/>
                <a:gd name="connsiteX25" fmla="*/ 58190 w 196921"/>
                <a:gd name="connsiteY25" fmla="*/ 155579 h 196837"/>
                <a:gd name="connsiteX26" fmla="*/ 24324 w 196921"/>
                <a:gd name="connsiteY26" fmla="*/ 189102 h 196837"/>
                <a:gd name="connsiteX27" fmla="*/ 15556 w 196921"/>
                <a:gd name="connsiteY27" fmla="*/ 195978 h 196837"/>
                <a:gd name="connsiteX28" fmla="*/ 3694 w 196921"/>
                <a:gd name="connsiteY28" fmla="*/ 192884 h 196837"/>
                <a:gd name="connsiteX29" fmla="*/ 600 w 196921"/>
                <a:gd name="connsiteY29" fmla="*/ 181022 h 196837"/>
                <a:gd name="connsiteX30" fmla="*/ 7476 w 196921"/>
                <a:gd name="connsiteY30" fmla="*/ 171911 h 196837"/>
                <a:gd name="connsiteX31" fmla="*/ 40999 w 196921"/>
                <a:gd name="connsiteY31" fmla="*/ 138216 h 196837"/>
                <a:gd name="connsiteX32" fmla="*/ 81054 w 196921"/>
                <a:gd name="connsiteY32" fmla="*/ 98161 h 196837"/>
                <a:gd name="connsiteX33" fmla="*/ 40999 w 196921"/>
                <a:gd name="connsiteY33" fmla="*/ 58106 h 196837"/>
                <a:gd name="connsiteX34" fmla="*/ 7476 w 196921"/>
                <a:gd name="connsiteY34" fmla="*/ 24239 h 196837"/>
                <a:gd name="connsiteX35" fmla="*/ 600 w 196921"/>
                <a:gd name="connsiteY35" fmla="*/ 15472 h 196837"/>
                <a:gd name="connsiteX36" fmla="*/ 1288 w 196921"/>
                <a:gd name="connsiteY36" fmla="*/ 6705 h 196837"/>
                <a:gd name="connsiteX37" fmla="*/ 8164 w 196921"/>
                <a:gd name="connsiteY37" fmla="*/ 516 h 196837"/>
                <a:gd name="connsiteX38" fmla="*/ 11602 w 196921"/>
                <a:gd name="connsiteY38" fmla="*/ 172 h 19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6921" h="196837">
                  <a:moveTo>
                    <a:pt x="11602" y="172"/>
                  </a:moveTo>
                  <a:cubicBezTo>
                    <a:pt x="12462" y="172"/>
                    <a:pt x="13837" y="344"/>
                    <a:pt x="15728" y="860"/>
                  </a:cubicBezTo>
                  <a:cubicBezTo>
                    <a:pt x="16759" y="1031"/>
                    <a:pt x="19854" y="3610"/>
                    <a:pt x="25011" y="8596"/>
                  </a:cubicBezTo>
                  <a:cubicBezTo>
                    <a:pt x="30168" y="13409"/>
                    <a:pt x="41170" y="24411"/>
                    <a:pt x="58190" y="41259"/>
                  </a:cubicBezTo>
                  <a:lnTo>
                    <a:pt x="98245" y="81314"/>
                  </a:lnTo>
                  <a:lnTo>
                    <a:pt x="167181" y="12378"/>
                  </a:lnTo>
                  <a:cubicBezTo>
                    <a:pt x="173026" y="6705"/>
                    <a:pt x="177152" y="3094"/>
                    <a:pt x="179559" y="1547"/>
                  </a:cubicBezTo>
                  <a:cubicBezTo>
                    <a:pt x="181106" y="516"/>
                    <a:pt x="182825" y="0"/>
                    <a:pt x="184544" y="0"/>
                  </a:cubicBezTo>
                  <a:cubicBezTo>
                    <a:pt x="185575" y="0"/>
                    <a:pt x="186779" y="344"/>
                    <a:pt x="188326" y="1031"/>
                  </a:cubicBezTo>
                  <a:cubicBezTo>
                    <a:pt x="189873" y="1719"/>
                    <a:pt x="191249" y="2407"/>
                    <a:pt x="192452" y="3266"/>
                  </a:cubicBezTo>
                  <a:cubicBezTo>
                    <a:pt x="193655" y="4126"/>
                    <a:pt x="194687" y="5501"/>
                    <a:pt x="195546" y="7220"/>
                  </a:cubicBezTo>
                  <a:cubicBezTo>
                    <a:pt x="196406" y="9111"/>
                    <a:pt x="196922" y="10487"/>
                    <a:pt x="196922" y="11862"/>
                  </a:cubicBezTo>
                  <a:cubicBezTo>
                    <a:pt x="196922" y="13925"/>
                    <a:pt x="196406" y="15644"/>
                    <a:pt x="195374" y="17191"/>
                  </a:cubicBezTo>
                  <a:cubicBezTo>
                    <a:pt x="193999" y="19254"/>
                    <a:pt x="190733" y="23036"/>
                    <a:pt x="185404" y="28709"/>
                  </a:cubicBezTo>
                  <a:lnTo>
                    <a:pt x="115780" y="98333"/>
                  </a:lnTo>
                  <a:lnTo>
                    <a:pt x="185404" y="167957"/>
                  </a:lnTo>
                  <a:cubicBezTo>
                    <a:pt x="190733" y="173630"/>
                    <a:pt x="194171" y="177412"/>
                    <a:pt x="195374" y="179475"/>
                  </a:cubicBezTo>
                  <a:cubicBezTo>
                    <a:pt x="196406" y="181022"/>
                    <a:pt x="196922" y="182741"/>
                    <a:pt x="196922" y="184804"/>
                  </a:cubicBezTo>
                  <a:cubicBezTo>
                    <a:pt x="196922" y="186007"/>
                    <a:pt x="196406" y="187555"/>
                    <a:pt x="195546" y="189446"/>
                  </a:cubicBezTo>
                  <a:cubicBezTo>
                    <a:pt x="194687" y="191337"/>
                    <a:pt x="193655" y="192540"/>
                    <a:pt x="192452" y="193571"/>
                  </a:cubicBezTo>
                  <a:cubicBezTo>
                    <a:pt x="191249" y="194431"/>
                    <a:pt x="189873" y="195291"/>
                    <a:pt x="188326" y="195806"/>
                  </a:cubicBezTo>
                  <a:cubicBezTo>
                    <a:pt x="186779" y="196322"/>
                    <a:pt x="185575" y="196838"/>
                    <a:pt x="184544" y="196838"/>
                  </a:cubicBezTo>
                  <a:cubicBezTo>
                    <a:pt x="182825" y="196838"/>
                    <a:pt x="181106" y="196322"/>
                    <a:pt x="179559" y="195291"/>
                  </a:cubicBezTo>
                  <a:cubicBezTo>
                    <a:pt x="177324" y="193743"/>
                    <a:pt x="173198" y="190133"/>
                    <a:pt x="167181" y="184460"/>
                  </a:cubicBezTo>
                  <a:lnTo>
                    <a:pt x="98245" y="115524"/>
                  </a:lnTo>
                  <a:lnTo>
                    <a:pt x="58190" y="155579"/>
                  </a:lnTo>
                  <a:cubicBezTo>
                    <a:pt x="40311" y="173458"/>
                    <a:pt x="28965" y="184632"/>
                    <a:pt x="24324" y="189102"/>
                  </a:cubicBezTo>
                  <a:cubicBezTo>
                    <a:pt x="19682" y="193571"/>
                    <a:pt x="16759" y="195806"/>
                    <a:pt x="15556" y="195978"/>
                  </a:cubicBezTo>
                  <a:cubicBezTo>
                    <a:pt x="10915" y="197182"/>
                    <a:pt x="6960" y="196150"/>
                    <a:pt x="3694" y="192884"/>
                  </a:cubicBezTo>
                  <a:cubicBezTo>
                    <a:pt x="428" y="189618"/>
                    <a:pt x="-604" y="185492"/>
                    <a:pt x="600" y="181022"/>
                  </a:cubicBezTo>
                  <a:cubicBezTo>
                    <a:pt x="771" y="179819"/>
                    <a:pt x="3178" y="176724"/>
                    <a:pt x="7476" y="171911"/>
                  </a:cubicBezTo>
                  <a:cubicBezTo>
                    <a:pt x="11774" y="167097"/>
                    <a:pt x="22948" y="155923"/>
                    <a:pt x="40999" y="138216"/>
                  </a:cubicBezTo>
                  <a:lnTo>
                    <a:pt x="81054" y="98161"/>
                  </a:lnTo>
                  <a:lnTo>
                    <a:pt x="40999" y="58106"/>
                  </a:lnTo>
                  <a:cubicBezTo>
                    <a:pt x="23120" y="40227"/>
                    <a:pt x="11946" y="28881"/>
                    <a:pt x="7476" y="24239"/>
                  </a:cubicBezTo>
                  <a:cubicBezTo>
                    <a:pt x="3006" y="19598"/>
                    <a:pt x="771" y="16675"/>
                    <a:pt x="600" y="15472"/>
                  </a:cubicBezTo>
                  <a:cubicBezTo>
                    <a:pt x="-432" y="12378"/>
                    <a:pt x="-88" y="9455"/>
                    <a:pt x="1288" y="6705"/>
                  </a:cubicBezTo>
                  <a:cubicBezTo>
                    <a:pt x="2835" y="3782"/>
                    <a:pt x="5069" y="1891"/>
                    <a:pt x="8164" y="516"/>
                  </a:cubicBezTo>
                  <a:cubicBezTo>
                    <a:pt x="9539" y="516"/>
                    <a:pt x="10742" y="172"/>
                    <a:pt x="11602" y="17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8983207" y="3976959"/>
            <a:ext cx="328257" cy="328257"/>
            <a:chOff x="5016434" y="4352060"/>
            <a:chExt cx="328257" cy="328257"/>
          </a:xfrm>
        </p:grpSpPr>
        <p:sp>
          <p:nvSpPr>
            <p:cNvPr id="80" name="Овал 79"/>
            <p:cNvSpPr/>
            <p:nvPr/>
          </p:nvSpPr>
          <p:spPr>
            <a:xfrm>
              <a:off x="5016434" y="4352060"/>
              <a:ext cx="328257" cy="3282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  <a:effectLst>
              <a:outerShdw blurRad="114300" dist="38100" dir="4800000" sx="101000" sy="101000" algn="r" rotWithShape="0">
                <a:prstClr val="black">
                  <a:alpha val="9000"/>
                </a:prst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b="1" dirty="0" err="1">
                <a:solidFill>
                  <a:schemeClr val="tx2"/>
                </a:solidFill>
              </a:endParaRPr>
            </a:p>
          </p:txBody>
        </p:sp>
        <p:sp>
          <p:nvSpPr>
            <p:cNvPr id="81" name="Полилиния: фигура 45">
              <a:extLst>
                <a:ext uri="{FF2B5EF4-FFF2-40B4-BE49-F238E27FC236}">
                  <a16:creationId xmlns:a16="http://schemas.microsoft.com/office/drawing/2014/main" id="{5A83095E-FF8E-495D-87AA-D07391690E47}"/>
                </a:ext>
              </a:extLst>
            </p:cNvPr>
            <p:cNvSpPr/>
            <p:nvPr/>
          </p:nvSpPr>
          <p:spPr>
            <a:xfrm>
              <a:off x="5109975" y="4451636"/>
              <a:ext cx="132886" cy="132830"/>
            </a:xfrm>
            <a:custGeom>
              <a:avLst/>
              <a:gdLst>
                <a:gd name="connsiteX0" fmla="*/ 11602 w 196921"/>
                <a:gd name="connsiteY0" fmla="*/ 172 h 196837"/>
                <a:gd name="connsiteX1" fmla="*/ 15728 w 196921"/>
                <a:gd name="connsiteY1" fmla="*/ 860 h 196837"/>
                <a:gd name="connsiteX2" fmla="*/ 25011 w 196921"/>
                <a:gd name="connsiteY2" fmla="*/ 8596 h 196837"/>
                <a:gd name="connsiteX3" fmla="*/ 58190 w 196921"/>
                <a:gd name="connsiteY3" fmla="*/ 41259 h 196837"/>
                <a:gd name="connsiteX4" fmla="*/ 98245 w 196921"/>
                <a:gd name="connsiteY4" fmla="*/ 81314 h 196837"/>
                <a:gd name="connsiteX5" fmla="*/ 167181 w 196921"/>
                <a:gd name="connsiteY5" fmla="*/ 12378 h 196837"/>
                <a:gd name="connsiteX6" fmla="*/ 179559 w 196921"/>
                <a:gd name="connsiteY6" fmla="*/ 1547 h 196837"/>
                <a:gd name="connsiteX7" fmla="*/ 184544 w 196921"/>
                <a:gd name="connsiteY7" fmla="*/ 0 h 196837"/>
                <a:gd name="connsiteX8" fmla="*/ 188326 w 196921"/>
                <a:gd name="connsiteY8" fmla="*/ 1031 h 196837"/>
                <a:gd name="connsiteX9" fmla="*/ 192452 w 196921"/>
                <a:gd name="connsiteY9" fmla="*/ 3266 h 196837"/>
                <a:gd name="connsiteX10" fmla="*/ 195546 w 196921"/>
                <a:gd name="connsiteY10" fmla="*/ 7220 h 196837"/>
                <a:gd name="connsiteX11" fmla="*/ 196922 w 196921"/>
                <a:gd name="connsiteY11" fmla="*/ 11862 h 196837"/>
                <a:gd name="connsiteX12" fmla="*/ 195374 w 196921"/>
                <a:gd name="connsiteY12" fmla="*/ 17191 h 196837"/>
                <a:gd name="connsiteX13" fmla="*/ 185404 w 196921"/>
                <a:gd name="connsiteY13" fmla="*/ 28709 h 196837"/>
                <a:gd name="connsiteX14" fmla="*/ 115780 w 196921"/>
                <a:gd name="connsiteY14" fmla="*/ 98333 h 196837"/>
                <a:gd name="connsiteX15" fmla="*/ 185404 w 196921"/>
                <a:gd name="connsiteY15" fmla="*/ 167957 h 196837"/>
                <a:gd name="connsiteX16" fmla="*/ 195374 w 196921"/>
                <a:gd name="connsiteY16" fmla="*/ 179475 h 196837"/>
                <a:gd name="connsiteX17" fmla="*/ 196922 w 196921"/>
                <a:gd name="connsiteY17" fmla="*/ 184804 h 196837"/>
                <a:gd name="connsiteX18" fmla="*/ 195546 w 196921"/>
                <a:gd name="connsiteY18" fmla="*/ 189446 h 196837"/>
                <a:gd name="connsiteX19" fmla="*/ 192452 w 196921"/>
                <a:gd name="connsiteY19" fmla="*/ 193571 h 196837"/>
                <a:gd name="connsiteX20" fmla="*/ 188326 w 196921"/>
                <a:gd name="connsiteY20" fmla="*/ 195806 h 196837"/>
                <a:gd name="connsiteX21" fmla="*/ 184544 w 196921"/>
                <a:gd name="connsiteY21" fmla="*/ 196838 h 196837"/>
                <a:gd name="connsiteX22" fmla="*/ 179559 w 196921"/>
                <a:gd name="connsiteY22" fmla="*/ 195291 h 196837"/>
                <a:gd name="connsiteX23" fmla="*/ 167181 w 196921"/>
                <a:gd name="connsiteY23" fmla="*/ 184460 h 196837"/>
                <a:gd name="connsiteX24" fmla="*/ 98245 w 196921"/>
                <a:gd name="connsiteY24" fmla="*/ 115524 h 196837"/>
                <a:gd name="connsiteX25" fmla="*/ 58190 w 196921"/>
                <a:gd name="connsiteY25" fmla="*/ 155579 h 196837"/>
                <a:gd name="connsiteX26" fmla="*/ 24324 w 196921"/>
                <a:gd name="connsiteY26" fmla="*/ 189102 h 196837"/>
                <a:gd name="connsiteX27" fmla="*/ 15556 w 196921"/>
                <a:gd name="connsiteY27" fmla="*/ 195978 h 196837"/>
                <a:gd name="connsiteX28" fmla="*/ 3694 w 196921"/>
                <a:gd name="connsiteY28" fmla="*/ 192884 h 196837"/>
                <a:gd name="connsiteX29" fmla="*/ 600 w 196921"/>
                <a:gd name="connsiteY29" fmla="*/ 181022 h 196837"/>
                <a:gd name="connsiteX30" fmla="*/ 7476 w 196921"/>
                <a:gd name="connsiteY30" fmla="*/ 171911 h 196837"/>
                <a:gd name="connsiteX31" fmla="*/ 40999 w 196921"/>
                <a:gd name="connsiteY31" fmla="*/ 138216 h 196837"/>
                <a:gd name="connsiteX32" fmla="*/ 81054 w 196921"/>
                <a:gd name="connsiteY32" fmla="*/ 98161 h 196837"/>
                <a:gd name="connsiteX33" fmla="*/ 40999 w 196921"/>
                <a:gd name="connsiteY33" fmla="*/ 58106 h 196837"/>
                <a:gd name="connsiteX34" fmla="*/ 7476 w 196921"/>
                <a:gd name="connsiteY34" fmla="*/ 24239 h 196837"/>
                <a:gd name="connsiteX35" fmla="*/ 600 w 196921"/>
                <a:gd name="connsiteY35" fmla="*/ 15472 h 196837"/>
                <a:gd name="connsiteX36" fmla="*/ 1288 w 196921"/>
                <a:gd name="connsiteY36" fmla="*/ 6705 h 196837"/>
                <a:gd name="connsiteX37" fmla="*/ 8164 w 196921"/>
                <a:gd name="connsiteY37" fmla="*/ 516 h 196837"/>
                <a:gd name="connsiteX38" fmla="*/ 11602 w 196921"/>
                <a:gd name="connsiteY38" fmla="*/ 172 h 19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6921" h="196837">
                  <a:moveTo>
                    <a:pt x="11602" y="172"/>
                  </a:moveTo>
                  <a:cubicBezTo>
                    <a:pt x="12462" y="172"/>
                    <a:pt x="13837" y="344"/>
                    <a:pt x="15728" y="860"/>
                  </a:cubicBezTo>
                  <a:cubicBezTo>
                    <a:pt x="16759" y="1031"/>
                    <a:pt x="19854" y="3610"/>
                    <a:pt x="25011" y="8596"/>
                  </a:cubicBezTo>
                  <a:cubicBezTo>
                    <a:pt x="30168" y="13409"/>
                    <a:pt x="41170" y="24411"/>
                    <a:pt x="58190" y="41259"/>
                  </a:cubicBezTo>
                  <a:lnTo>
                    <a:pt x="98245" y="81314"/>
                  </a:lnTo>
                  <a:lnTo>
                    <a:pt x="167181" y="12378"/>
                  </a:lnTo>
                  <a:cubicBezTo>
                    <a:pt x="173026" y="6705"/>
                    <a:pt x="177152" y="3094"/>
                    <a:pt x="179559" y="1547"/>
                  </a:cubicBezTo>
                  <a:cubicBezTo>
                    <a:pt x="181106" y="516"/>
                    <a:pt x="182825" y="0"/>
                    <a:pt x="184544" y="0"/>
                  </a:cubicBezTo>
                  <a:cubicBezTo>
                    <a:pt x="185575" y="0"/>
                    <a:pt x="186779" y="344"/>
                    <a:pt x="188326" y="1031"/>
                  </a:cubicBezTo>
                  <a:cubicBezTo>
                    <a:pt x="189873" y="1719"/>
                    <a:pt x="191249" y="2407"/>
                    <a:pt x="192452" y="3266"/>
                  </a:cubicBezTo>
                  <a:cubicBezTo>
                    <a:pt x="193655" y="4126"/>
                    <a:pt x="194687" y="5501"/>
                    <a:pt x="195546" y="7220"/>
                  </a:cubicBezTo>
                  <a:cubicBezTo>
                    <a:pt x="196406" y="9111"/>
                    <a:pt x="196922" y="10487"/>
                    <a:pt x="196922" y="11862"/>
                  </a:cubicBezTo>
                  <a:cubicBezTo>
                    <a:pt x="196922" y="13925"/>
                    <a:pt x="196406" y="15644"/>
                    <a:pt x="195374" y="17191"/>
                  </a:cubicBezTo>
                  <a:cubicBezTo>
                    <a:pt x="193999" y="19254"/>
                    <a:pt x="190733" y="23036"/>
                    <a:pt x="185404" y="28709"/>
                  </a:cubicBezTo>
                  <a:lnTo>
                    <a:pt x="115780" y="98333"/>
                  </a:lnTo>
                  <a:lnTo>
                    <a:pt x="185404" y="167957"/>
                  </a:lnTo>
                  <a:cubicBezTo>
                    <a:pt x="190733" y="173630"/>
                    <a:pt x="194171" y="177412"/>
                    <a:pt x="195374" y="179475"/>
                  </a:cubicBezTo>
                  <a:cubicBezTo>
                    <a:pt x="196406" y="181022"/>
                    <a:pt x="196922" y="182741"/>
                    <a:pt x="196922" y="184804"/>
                  </a:cubicBezTo>
                  <a:cubicBezTo>
                    <a:pt x="196922" y="186007"/>
                    <a:pt x="196406" y="187555"/>
                    <a:pt x="195546" y="189446"/>
                  </a:cubicBezTo>
                  <a:cubicBezTo>
                    <a:pt x="194687" y="191337"/>
                    <a:pt x="193655" y="192540"/>
                    <a:pt x="192452" y="193571"/>
                  </a:cubicBezTo>
                  <a:cubicBezTo>
                    <a:pt x="191249" y="194431"/>
                    <a:pt x="189873" y="195291"/>
                    <a:pt x="188326" y="195806"/>
                  </a:cubicBezTo>
                  <a:cubicBezTo>
                    <a:pt x="186779" y="196322"/>
                    <a:pt x="185575" y="196838"/>
                    <a:pt x="184544" y="196838"/>
                  </a:cubicBezTo>
                  <a:cubicBezTo>
                    <a:pt x="182825" y="196838"/>
                    <a:pt x="181106" y="196322"/>
                    <a:pt x="179559" y="195291"/>
                  </a:cubicBezTo>
                  <a:cubicBezTo>
                    <a:pt x="177324" y="193743"/>
                    <a:pt x="173198" y="190133"/>
                    <a:pt x="167181" y="184460"/>
                  </a:cubicBezTo>
                  <a:lnTo>
                    <a:pt x="98245" y="115524"/>
                  </a:lnTo>
                  <a:lnTo>
                    <a:pt x="58190" y="155579"/>
                  </a:lnTo>
                  <a:cubicBezTo>
                    <a:pt x="40311" y="173458"/>
                    <a:pt x="28965" y="184632"/>
                    <a:pt x="24324" y="189102"/>
                  </a:cubicBezTo>
                  <a:cubicBezTo>
                    <a:pt x="19682" y="193571"/>
                    <a:pt x="16759" y="195806"/>
                    <a:pt x="15556" y="195978"/>
                  </a:cubicBezTo>
                  <a:cubicBezTo>
                    <a:pt x="10915" y="197182"/>
                    <a:pt x="6960" y="196150"/>
                    <a:pt x="3694" y="192884"/>
                  </a:cubicBezTo>
                  <a:cubicBezTo>
                    <a:pt x="428" y="189618"/>
                    <a:pt x="-604" y="185492"/>
                    <a:pt x="600" y="181022"/>
                  </a:cubicBezTo>
                  <a:cubicBezTo>
                    <a:pt x="771" y="179819"/>
                    <a:pt x="3178" y="176724"/>
                    <a:pt x="7476" y="171911"/>
                  </a:cubicBezTo>
                  <a:cubicBezTo>
                    <a:pt x="11774" y="167097"/>
                    <a:pt x="22948" y="155923"/>
                    <a:pt x="40999" y="138216"/>
                  </a:cubicBezTo>
                  <a:lnTo>
                    <a:pt x="81054" y="98161"/>
                  </a:lnTo>
                  <a:lnTo>
                    <a:pt x="40999" y="58106"/>
                  </a:lnTo>
                  <a:cubicBezTo>
                    <a:pt x="23120" y="40227"/>
                    <a:pt x="11946" y="28881"/>
                    <a:pt x="7476" y="24239"/>
                  </a:cubicBezTo>
                  <a:cubicBezTo>
                    <a:pt x="3006" y="19598"/>
                    <a:pt x="771" y="16675"/>
                    <a:pt x="600" y="15472"/>
                  </a:cubicBezTo>
                  <a:cubicBezTo>
                    <a:pt x="-432" y="12378"/>
                    <a:pt x="-88" y="9455"/>
                    <a:pt x="1288" y="6705"/>
                  </a:cubicBezTo>
                  <a:cubicBezTo>
                    <a:pt x="2835" y="3782"/>
                    <a:pt x="5069" y="1891"/>
                    <a:pt x="8164" y="516"/>
                  </a:cubicBezTo>
                  <a:cubicBezTo>
                    <a:pt x="9539" y="516"/>
                    <a:pt x="10742" y="172"/>
                    <a:pt x="11602" y="172"/>
                  </a:cubicBezTo>
                  <a:close/>
                </a:path>
              </a:pathLst>
            </a:custGeom>
            <a:solidFill>
              <a:schemeClr val="tx2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81058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18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состояние </a:t>
            </a:r>
            <a:r>
              <a:rPr lang="en-US" dirty="0" smtClean="0"/>
              <a:t>AS IS</a:t>
            </a:r>
            <a:endParaRPr lang="ru-RU" dirty="0"/>
          </a:p>
        </p:txBody>
      </p:sp>
      <p:sp>
        <p:nvSpPr>
          <p:cNvPr id="48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260555"/>
            <a:ext cx="8938630" cy="53183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текущего состояния (до внедрения/модернизации) с точки зрения: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текущих способностей ИТ-ландшафта </a:t>
            </a: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(+ применимость к конкретному бизнесу или к поддержке коммунальных процессов)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текущего состояния </a:t>
            </a:r>
            <a:r>
              <a:rPr lang="ru-RU" altLang="ru-RU" sz="1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ключевых и изменяемых </a:t>
            </a: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бизнес-процессов / бизнес-сущностей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использования элементов ИТ-ландшафта в этих процессах</a:t>
            </a:r>
          </a:p>
          <a:p>
            <a:pPr marL="285750" indent="-2857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400" dirty="0" smtClean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№1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23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19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состояние </a:t>
            </a:r>
            <a:r>
              <a:rPr lang="en-US" dirty="0"/>
              <a:t>TO </a:t>
            </a:r>
            <a:r>
              <a:rPr lang="en-US" dirty="0" smtClean="0"/>
              <a:t>BE</a:t>
            </a:r>
            <a:r>
              <a:rPr lang="ru-RU" dirty="0"/>
              <a:t/>
            </a:r>
            <a:br>
              <a:rPr lang="ru-RU" dirty="0"/>
            </a:br>
            <a:r>
              <a:rPr lang="ru-RU" sz="2000" dirty="0"/>
              <a:t>предлагаемый вариант решения</a:t>
            </a:r>
          </a:p>
        </p:txBody>
      </p:sp>
      <p:sp>
        <p:nvSpPr>
          <p:cNvPr id="48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260555"/>
            <a:ext cx="8938630" cy="263530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целевого состояния (после внедрения/модернизации) с точки зрения: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целевого состояния (после внедрения/модернизации) с точки зрения: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планируемых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возможностей ИТ-ландшафта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(+ применимость к конкретному бизнесу или к поддержке коммунальных процессов)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решения: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базовая идея, ключевые решения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планируемое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состояние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ключевых и изменяемых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бизнес-процессов / бизнес-сущностей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использования элементов ИТ-ландшафта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 этих процессах с указанием задач для которых предполагается использовать элементы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изменяемых элементов с точки зрения потенциала </a:t>
            </a:r>
            <a:r>
              <a:rPr lang="ru-RU" altLang="ru-RU" sz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переиспользования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, обобщения и </a:t>
            </a:r>
            <a:r>
              <a:rPr lang="ru-RU" altLang="ru-RU" sz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платформизации</a:t>
            </a: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описания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использования или изменения Корпоративной модели данных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ограничения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решения (если применимо)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соответствие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принципам </a:t>
            </a:r>
            <a:r>
              <a:rPr lang="ru-RU" altLang="ru-RU" sz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Технополитики</a:t>
            </a: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№1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6161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 hidden="1">
            <a:extLst>
              <a:ext uri="{FF2B5EF4-FFF2-40B4-BE49-F238E27FC236}">
                <a16:creationId xmlns:a16="http://schemas.microsoft.com/office/drawing/2014/main" id="{A2BD91EC-CF24-48DA-A045-53B5F992DE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382" y="1500"/>
          <a:ext cx="1501" cy="1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87" name="Слайд think-cell" r:id="rId5" imgW="384" imgH="384" progId="TCLayout.ActiveDocument.1">
                  <p:embed/>
                </p:oleObj>
              </mc:Choice>
              <mc:Fallback>
                <p:oleObj name="Слайд think-cell" r:id="rId5" imgW="384" imgH="384" progId="TCLayout.ActiveDocument.1">
                  <p:embed/>
                  <p:pic>
                    <p:nvPicPr>
                      <p:cNvPr id="11" name="Объект 10" hidden="1">
                        <a:extLst>
                          <a:ext uri="{FF2B5EF4-FFF2-40B4-BE49-F238E27FC236}">
                            <a16:creationId xmlns:a16="http://schemas.microsoft.com/office/drawing/2014/main" id="{A2BD91EC-CF24-48DA-A045-53B5F992DE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82" y="1500"/>
                        <a:ext cx="1501" cy="1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Номер слайда 3">
            <a:extLst>
              <a:ext uri="{FF2B5EF4-FFF2-40B4-BE49-F238E27FC236}">
                <a16:creationId xmlns:a16="http://schemas.microsoft.com/office/drawing/2014/main" id="{C8577C1A-F7AD-9247-81B4-D307889B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1EDA0AC-921D-4240-B96C-50D453752670}" type="slidenum">
              <a:rPr lang="ru-RU" smtClean="0">
                <a:solidFill>
                  <a:schemeClr val="bg1"/>
                </a:solidFill>
                <a:latin typeface="+mj-lt"/>
              </a:rPr>
              <a:pPr/>
              <a:t>20</a:t>
            </a:fld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45A1089E-CFF5-47BE-A3BD-C30AF4A1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IS / </a:t>
            </a:r>
            <a:r>
              <a:rPr lang="en-US" dirty="0" smtClean="0"/>
              <a:t>TO BE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1016" y="871136"/>
            <a:ext cx="13507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bg1">
                    <a:lumMod val="75000"/>
                    <a:alpha val="61000"/>
                  </a:schemeClr>
                </a:solidFill>
              </a:rPr>
              <a:t>AS IS</a:t>
            </a:r>
            <a:endParaRPr lang="ru-RU" sz="4000" b="1" dirty="0">
              <a:solidFill>
                <a:schemeClr val="bg1">
                  <a:lumMod val="75000"/>
                  <a:alpha val="61000"/>
                </a:schemeClr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6088498" y="871136"/>
            <a:ext cx="15247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TO BE</a:t>
            </a:r>
            <a:endParaRPr lang="ru-RU" sz="4000" b="1" dirty="0">
              <a:solidFill>
                <a:schemeClr val="accent1"/>
              </a:solidFill>
            </a:endParaRPr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5AC0879D-C166-4619-91D2-178A7E8CFBDE}"/>
              </a:ext>
            </a:extLst>
          </p:cNvPr>
          <p:cNvCxnSpPr/>
          <p:nvPr/>
        </p:nvCxnSpPr>
        <p:spPr>
          <a:xfrm>
            <a:off x="6088498" y="1543853"/>
            <a:ext cx="5073215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>
            <a:off x="4510760" y="2005942"/>
            <a:ext cx="1265129" cy="0"/>
          </a:xfrm>
          <a:prstGeom prst="straightConnector1">
            <a:avLst/>
          </a:prstGeom>
          <a:ln>
            <a:gradFill>
              <a:gsLst>
                <a:gs pos="2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254730" y="1871500"/>
            <a:ext cx="485261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O</a:t>
            </a:r>
            <a:r>
              <a:rPr lang="ru-RU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1</a:t>
            </a:r>
            <a:endParaRPr lang="ru-RU" sz="9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723704" y="1809273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Текущее состояние</a:t>
            </a:r>
            <a:endParaRPr lang="ru-RU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5968188" y="1893463"/>
            <a:ext cx="486030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ru-RU" sz="2000" b="1" dirty="0">
                <a:solidFill>
                  <a:schemeClr val="accent1"/>
                </a:solidFill>
                <a:latin typeface="+mj-lt"/>
              </a:rPr>
              <a:t>О</a:t>
            </a:r>
            <a:r>
              <a:rPr lang="ru-RU" sz="2000" b="1" dirty="0" smtClean="0">
                <a:solidFill>
                  <a:schemeClr val="accent1"/>
                </a:solidFill>
                <a:latin typeface="+mj-lt"/>
              </a:rPr>
              <a:t>1</a:t>
            </a:r>
            <a:endParaRPr lang="ru-RU" sz="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6437547" y="1809273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Целевое состояние</a:t>
            </a:r>
            <a:endParaRPr lang="ru-RU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245528" y="2539793"/>
            <a:ext cx="503663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O2</a:t>
            </a:r>
            <a:endParaRPr lang="ru-RU" sz="9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723704" y="2477566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Текущее состояние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5959371" y="2561756"/>
            <a:ext cx="503664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ru-RU" sz="2000" b="1" dirty="0" smtClean="0">
                <a:solidFill>
                  <a:schemeClr val="accent1"/>
                </a:solidFill>
                <a:latin typeface="+mj-lt"/>
              </a:rPr>
              <a:t>О</a:t>
            </a:r>
            <a:r>
              <a:rPr lang="en-US" sz="2000" b="1" dirty="0" smtClean="0">
                <a:solidFill>
                  <a:schemeClr val="accent1"/>
                </a:solidFill>
                <a:latin typeface="+mj-lt"/>
              </a:rPr>
              <a:t>2</a:t>
            </a:r>
            <a:endParaRPr lang="ru-RU" sz="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6437547" y="2477566"/>
            <a:ext cx="4111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Целевое состояние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243123" y="3208086"/>
            <a:ext cx="508473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O3</a:t>
            </a:r>
            <a:endParaRPr lang="ru-RU" sz="9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83" name="Прямоугольник 82"/>
          <p:cNvSpPr/>
          <p:nvPr/>
        </p:nvSpPr>
        <p:spPr>
          <a:xfrm>
            <a:off x="723704" y="3145859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Текущее состояние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5956966" y="3230049"/>
            <a:ext cx="508474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ru-RU" sz="2000" b="1" dirty="0" smtClean="0">
                <a:solidFill>
                  <a:schemeClr val="accent1"/>
                </a:solidFill>
                <a:latin typeface="+mj-lt"/>
              </a:rPr>
              <a:t>О</a:t>
            </a:r>
            <a:r>
              <a:rPr lang="en-US" sz="2000" b="1" dirty="0" smtClean="0">
                <a:solidFill>
                  <a:schemeClr val="accent1"/>
                </a:solidFill>
                <a:latin typeface="+mj-lt"/>
              </a:rPr>
              <a:t>3</a:t>
            </a:r>
            <a:endParaRPr lang="ru-RU" sz="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5" name="Прямоугольник 84"/>
          <p:cNvSpPr/>
          <p:nvPr/>
        </p:nvSpPr>
        <p:spPr>
          <a:xfrm>
            <a:off x="6437547" y="3145859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Целевое состояние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243925" y="3876379"/>
            <a:ext cx="506869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O4</a:t>
            </a:r>
            <a:endParaRPr lang="ru-RU" sz="9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88" name="Прямоугольник 87"/>
          <p:cNvSpPr/>
          <p:nvPr/>
        </p:nvSpPr>
        <p:spPr>
          <a:xfrm>
            <a:off x="723704" y="3814152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Текущее состояние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5957768" y="3898342"/>
            <a:ext cx="506870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ru-RU" sz="2000" b="1" dirty="0" smtClean="0">
                <a:solidFill>
                  <a:schemeClr val="accent1"/>
                </a:solidFill>
                <a:latin typeface="+mj-lt"/>
              </a:rPr>
              <a:t>О</a:t>
            </a:r>
            <a:r>
              <a:rPr lang="en-US" sz="2000" b="1" dirty="0" smtClean="0">
                <a:solidFill>
                  <a:schemeClr val="accent1"/>
                </a:solidFill>
                <a:latin typeface="+mj-lt"/>
              </a:rPr>
              <a:t>4</a:t>
            </a:r>
            <a:endParaRPr lang="ru-RU" sz="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0" name="Прямоугольник 89"/>
          <p:cNvSpPr/>
          <p:nvPr/>
        </p:nvSpPr>
        <p:spPr>
          <a:xfrm>
            <a:off x="6437546" y="3814152"/>
            <a:ext cx="48977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Целевое состояние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243925" y="4544672"/>
            <a:ext cx="506869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O5</a:t>
            </a:r>
            <a:endParaRPr lang="ru-RU" sz="9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93" name="Прямоугольник 92"/>
          <p:cNvSpPr/>
          <p:nvPr/>
        </p:nvSpPr>
        <p:spPr>
          <a:xfrm>
            <a:off x="723704" y="4482445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Текущее состояние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5957768" y="4566635"/>
            <a:ext cx="506870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ru-RU" sz="2000" b="1" dirty="0" smtClean="0">
                <a:solidFill>
                  <a:schemeClr val="accent1"/>
                </a:solidFill>
                <a:latin typeface="+mj-lt"/>
              </a:rPr>
              <a:t>О</a:t>
            </a:r>
            <a:r>
              <a:rPr lang="en-US" sz="2000" b="1" dirty="0" smtClean="0">
                <a:solidFill>
                  <a:schemeClr val="accent1"/>
                </a:solidFill>
                <a:latin typeface="+mj-lt"/>
              </a:rPr>
              <a:t>5</a:t>
            </a:r>
            <a:endParaRPr lang="ru-RU" sz="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5" name="Прямоугольник 94"/>
          <p:cNvSpPr/>
          <p:nvPr/>
        </p:nvSpPr>
        <p:spPr>
          <a:xfrm>
            <a:off x="6437547" y="4482445"/>
            <a:ext cx="47968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Целевое состояние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243123" y="5212964"/>
            <a:ext cx="508473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2000" b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O6</a:t>
            </a:r>
            <a:endParaRPr lang="ru-RU" sz="9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99" name="Прямоугольник 98"/>
          <p:cNvSpPr/>
          <p:nvPr/>
        </p:nvSpPr>
        <p:spPr>
          <a:xfrm>
            <a:off x="723704" y="5150737"/>
            <a:ext cx="3494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Текущее состояние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F6F47B-BAEA-4BDC-98DD-8FAED6838484}"/>
              </a:ext>
            </a:extLst>
          </p:cNvPr>
          <p:cNvSpPr txBox="1"/>
          <p:nvPr/>
        </p:nvSpPr>
        <p:spPr>
          <a:xfrm>
            <a:off x="5956966" y="5234927"/>
            <a:ext cx="508474" cy="291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60000"/>
              </a:lnSpc>
            </a:pPr>
            <a:r>
              <a:rPr lang="ru-RU" sz="2000" b="1" dirty="0" smtClean="0">
                <a:solidFill>
                  <a:schemeClr val="accent1"/>
                </a:solidFill>
                <a:latin typeface="+mj-lt"/>
              </a:rPr>
              <a:t>О</a:t>
            </a:r>
            <a:r>
              <a:rPr lang="en-US" sz="2000" b="1" dirty="0" smtClean="0">
                <a:solidFill>
                  <a:schemeClr val="accent1"/>
                </a:solidFill>
                <a:latin typeface="+mj-lt"/>
              </a:rPr>
              <a:t>6</a:t>
            </a:r>
            <a:endParaRPr lang="ru-RU" sz="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1" name="Прямоугольник 100"/>
          <p:cNvSpPr/>
          <p:nvPr/>
        </p:nvSpPr>
        <p:spPr>
          <a:xfrm>
            <a:off x="6437547" y="5150737"/>
            <a:ext cx="4111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Целевое состояние</a:t>
            </a:r>
          </a:p>
        </p:txBody>
      </p:sp>
      <p:cxnSp>
        <p:nvCxnSpPr>
          <p:cNvPr id="102" name="Прямая соединительная линия 101">
            <a:extLst>
              <a:ext uri="{FF2B5EF4-FFF2-40B4-BE49-F238E27FC236}">
                <a16:creationId xmlns:a16="http://schemas.microsoft.com/office/drawing/2014/main" id="{5AC0879D-C166-4619-91D2-178A7E8CFBDE}"/>
              </a:ext>
            </a:extLst>
          </p:cNvPr>
          <p:cNvCxnSpPr/>
          <p:nvPr/>
        </p:nvCxnSpPr>
        <p:spPr>
          <a:xfrm>
            <a:off x="342119" y="1543853"/>
            <a:ext cx="373922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/>
          <p:nvPr/>
        </p:nvCxnSpPr>
        <p:spPr>
          <a:xfrm>
            <a:off x="4510760" y="2676502"/>
            <a:ext cx="1265129" cy="0"/>
          </a:xfrm>
          <a:prstGeom prst="straightConnector1">
            <a:avLst/>
          </a:prstGeom>
          <a:ln>
            <a:gradFill>
              <a:gsLst>
                <a:gs pos="2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/>
          <p:cNvCxnSpPr/>
          <p:nvPr/>
        </p:nvCxnSpPr>
        <p:spPr>
          <a:xfrm>
            <a:off x="4510760" y="3347062"/>
            <a:ext cx="1265129" cy="0"/>
          </a:xfrm>
          <a:prstGeom prst="straightConnector1">
            <a:avLst/>
          </a:prstGeom>
          <a:ln>
            <a:gradFill>
              <a:gsLst>
                <a:gs pos="2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/>
          <p:nvPr/>
        </p:nvCxnSpPr>
        <p:spPr>
          <a:xfrm>
            <a:off x="4510760" y="4017622"/>
            <a:ext cx="1265129" cy="0"/>
          </a:xfrm>
          <a:prstGeom prst="straightConnector1">
            <a:avLst/>
          </a:prstGeom>
          <a:ln>
            <a:gradFill>
              <a:gsLst>
                <a:gs pos="2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/>
          <p:cNvCxnSpPr/>
          <p:nvPr/>
        </p:nvCxnSpPr>
        <p:spPr>
          <a:xfrm>
            <a:off x="4510760" y="4688182"/>
            <a:ext cx="1265129" cy="0"/>
          </a:xfrm>
          <a:prstGeom prst="straightConnector1">
            <a:avLst/>
          </a:prstGeom>
          <a:ln>
            <a:gradFill>
              <a:gsLst>
                <a:gs pos="2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/>
          <p:nvPr/>
        </p:nvCxnSpPr>
        <p:spPr>
          <a:xfrm>
            <a:off x="4510760" y="5358742"/>
            <a:ext cx="1265129" cy="0"/>
          </a:xfrm>
          <a:prstGeom prst="straightConnector1">
            <a:avLst/>
          </a:prstGeom>
          <a:ln>
            <a:gradFill>
              <a:gsLst>
                <a:gs pos="2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Скругленный прямоугольник 38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№2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033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21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сценарии потребления</a:t>
            </a:r>
            <a:endParaRPr lang="ru-RU" sz="20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4"/>
            <a:ext cx="8938630" cy="1682463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возможных сценариев потребления (после внедрения/модернизации) 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решения: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 точки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зрения целевой аудитории потребителей решения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</a:t>
            </a:r>
            <a:r>
              <a:rPr lang="ru-RU" altLang="ru-RU" sz="1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точки зрения поставки ценности для разных категорий потребителей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</a:t>
            </a:r>
            <a:r>
              <a:rPr lang="ru-RU" altLang="ru-RU" sz="1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ценарии </a:t>
            </a:r>
            <a:r>
              <a:rPr lang="ru-RU" alt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должны быть подтверждены и иметь перечень реальных/возможных потребителей на ландшафте Компании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807615"/>
            <a:ext cx="1236603" cy="254866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пример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: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081088" y="1981200"/>
            <a:ext cx="10078402" cy="0"/>
          </a:xfrm>
          <a:prstGeom prst="line">
            <a:avLst/>
          </a:prstGeom>
          <a:ln>
            <a:solidFill>
              <a:schemeClr val="tx1">
                <a:lumMod val="90000"/>
                <a:lumOff val="1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58957"/>
              </p:ext>
            </p:extLst>
          </p:nvPr>
        </p:nvGraphicFramePr>
        <p:xfrm>
          <a:off x="360361" y="2340207"/>
          <a:ext cx="10801352" cy="33856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9479">
                  <a:extLst>
                    <a:ext uri="{9D8B030D-6E8A-4147-A177-3AD203B41FA5}">
                      <a16:colId xmlns:a16="http://schemas.microsoft.com/office/drawing/2014/main" val="4059383895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4134434669"/>
                    </a:ext>
                  </a:extLst>
                </a:gridCol>
                <a:gridCol w="3342640">
                  <a:extLst>
                    <a:ext uri="{9D8B030D-6E8A-4147-A177-3AD203B41FA5}">
                      <a16:colId xmlns:a16="http://schemas.microsoft.com/office/drawing/2014/main" val="914940741"/>
                    </a:ext>
                  </a:extLst>
                </a:gridCol>
                <a:gridCol w="3348673">
                  <a:extLst>
                    <a:ext uri="{9D8B030D-6E8A-4147-A177-3AD203B41FA5}">
                      <a16:colId xmlns:a16="http://schemas.microsoft.com/office/drawing/2014/main" val="3135374272"/>
                    </a:ext>
                  </a:extLst>
                </a:gridCol>
              </a:tblGrid>
              <a:tr h="380823"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Бизнес-кейс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Потребители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Входные потоки данных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Выходные потоки данных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503255"/>
                  </a:ext>
                </a:extLst>
              </a:tr>
              <a:tr h="1408523">
                <a:tc>
                  <a:txBody>
                    <a:bodyPr/>
                    <a:lstStyle/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Анализ местоположения </a:t>
                      </a:r>
                      <a:br>
                        <a:rPr lang="ru-RU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(гео-координат)</a:t>
                      </a:r>
                    </a:p>
                  </a:txBody>
                  <a:tcPr marL="216000" marR="86402" marT="43201" marB="4320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Big Data</a:t>
                      </a:r>
                    </a:p>
                  </a:txBody>
                  <a:tcPr marL="216000" marR="86402" marT="43201" marB="4320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GPEH</a:t>
                      </a: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 (General Performance Event Handling) </a:t>
                      </a: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-файлы событий для сетей 2G / 3G </a:t>
                      </a:r>
                      <a:endParaRPr lang="en-US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  <a:sym typeface="Helvetica Neue Ligh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Поток событий от сетей 4G / NB-IoT</a:t>
                      </a:r>
                      <a:endParaRPr lang="ru-RU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Идентификационные данные </a:t>
                      </a:r>
                      <a:b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</a:b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абонентских устройств</a:t>
                      </a:r>
                    </a:p>
                    <a:p>
                      <a:pPr marL="179388" marR="0" lvl="0" indent="-179388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Географические координаты </a:t>
                      </a:r>
                      <a:b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</a:b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устройств и точность</a:t>
                      </a:r>
                    </a:p>
                    <a:p>
                      <a:pPr marL="179388" marR="0" lvl="0" indent="-179388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Исходные данные из входных потоков, используемые для определения </a:t>
                      </a:r>
                      <a:b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</a:b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географических координат </a:t>
                      </a:r>
                      <a:endParaRPr lang="ru-RU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194229"/>
                  </a:ext>
                </a:extLst>
              </a:tr>
              <a:tr h="1596327">
                <a:tc>
                  <a:txBody>
                    <a:bodyPr/>
                    <a:lstStyle/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Анализ пользовательского трафика </a:t>
                      </a:r>
                    </a:p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User Plane Traffic</a:t>
                      </a:r>
                      <a:r>
                        <a:rPr lang="ru-RU" sz="14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216000" marR="86402" marT="43201" marB="4320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Big Data</a:t>
                      </a:r>
                    </a:p>
                  </a:txBody>
                  <a:tcPr marL="216000" marR="86402" marT="43201" marB="4320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Control Plane (GTP-C)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User Plane (GTP-U)</a:t>
                      </a:r>
                      <a:endParaRPr lang="ru-RU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 marR="86402" marT="43201" marB="4320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Сессии абонентов:</a:t>
                      </a:r>
                    </a:p>
                    <a:p>
                      <a:pPr marL="171450" marR="0" lvl="0" indent="-17145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Контрольные</a:t>
                      </a:r>
                    </a:p>
                    <a:p>
                      <a:pPr marL="171450" marR="0" lvl="0" indent="-17145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Транспортные</a:t>
                      </a:r>
                    </a:p>
                    <a:p>
                      <a:pPr marL="171450" marR="0" lvl="0" indent="-17145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DNS</a:t>
                      </a:r>
                      <a:endParaRPr lang="ru-RU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HTTP</a:t>
                      </a: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S)</a:t>
                      </a:r>
                      <a:endParaRPr lang="ru-RU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FTP</a:t>
                      </a:r>
                      <a:endParaRPr lang="ru-RU" sz="11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 привязкой к идентификационным данным</a:t>
                      </a:r>
                    </a:p>
                  </a:txBody>
                  <a:tcPr marL="216000" marR="86402" marT="43201" marB="4320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67404"/>
                  </a:ext>
                </a:extLst>
              </a:tr>
            </a:tbl>
          </a:graphicData>
        </a:graphic>
      </p:graphicFrame>
      <p:sp>
        <p:nvSpPr>
          <p:cNvPr id="10" name="Скругленный прямоугольник 9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№1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8008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CJ</a:t>
            </a:r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1696720" y="1367988"/>
            <a:ext cx="9464166" cy="98989"/>
            <a:chOff x="341391" y="1803332"/>
            <a:chExt cx="10819495" cy="170083"/>
          </a:xfrm>
        </p:grpSpPr>
        <p:sp>
          <p:nvSpPr>
            <p:cNvPr id="13" name="Стрелка: пятиугольник 65">
              <a:extLst>
                <a:ext uri="{FF2B5EF4-FFF2-40B4-BE49-F238E27FC236}">
                  <a16:creationId xmlns:a16="http://schemas.microsoft.com/office/drawing/2014/main" id="{FC6F8F46-EB0E-2142-8580-5D3BA7239722}"/>
                </a:ext>
              </a:extLst>
            </p:cNvPr>
            <p:cNvSpPr/>
            <p:nvPr/>
          </p:nvSpPr>
          <p:spPr>
            <a:xfrm>
              <a:off x="341391" y="1803332"/>
              <a:ext cx="3586498" cy="170083"/>
            </a:xfrm>
            <a:prstGeom prst="homePlate">
              <a:avLst>
                <a:gd name="adj" fmla="val 17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0083" rtlCol="0" anchor="ctr"/>
            <a:lstStyle/>
            <a:p>
              <a:pPr>
                <a:spcAft>
                  <a:spcPts val="756"/>
                </a:spcAft>
              </a:pPr>
              <a:endParaRPr lang="ru-RU" sz="1890" dirty="0">
                <a:latin typeface="+mj-lt"/>
              </a:endParaRPr>
            </a:p>
          </p:txBody>
        </p:sp>
        <p:sp>
          <p:nvSpPr>
            <p:cNvPr id="14" name="Стрелка: шеврон 66">
              <a:extLst>
                <a:ext uri="{FF2B5EF4-FFF2-40B4-BE49-F238E27FC236}">
                  <a16:creationId xmlns:a16="http://schemas.microsoft.com/office/drawing/2014/main" id="{E2593566-173B-EF43-9B3D-AACA41D170C4}"/>
                </a:ext>
              </a:extLst>
            </p:cNvPr>
            <p:cNvSpPr/>
            <p:nvPr/>
          </p:nvSpPr>
          <p:spPr>
            <a:xfrm>
              <a:off x="3957890" y="1803332"/>
              <a:ext cx="3586498" cy="170083"/>
            </a:xfrm>
            <a:prstGeom prst="chevron">
              <a:avLst>
                <a:gd name="adj" fmla="val 178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0083" rtlCol="0" anchor="ctr"/>
            <a:lstStyle/>
            <a:p>
              <a:pPr>
                <a:spcAft>
                  <a:spcPts val="756"/>
                </a:spcAft>
              </a:pPr>
              <a:endParaRPr lang="ru-RU" sz="1890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5" name="Стрелка: шеврон 66">
              <a:extLst>
                <a:ext uri="{FF2B5EF4-FFF2-40B4-BE49-F238E27FC236}">
                  <a16:creationId xmlns:a16="http://schemas.microsoft.com/office/drawing/2014/main" id="{E2593566-173B-EF43-9B3D-AACA41D170C4}"/>
                </a:ext>
              </a:extLst>
            </p:cNvPr>
            <p:cNvSpPr/>
            <p:nvPr/>
          </p:nvSpPr>
          <p:spPr>
            <a:xfrm>
              <a:off x="7574388" y="1803332"/>
              <a:ext cx="3586498" cy="170083"/>
            </a:xfrm>
            <a:prstGeom prst="chevron">
              <a:avLst>
                <a:gd name="adj" fmla="val 178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0083" rtlCol="0" anchor="ctr"/>
            <a:lstStyle/>
            <a:p>
              <a:pPr>
                <a:spcAft>
                  <a:spcPts val="756"/>
                </a:spcAft>
              </a:pPr>
              <a:endParaRPr lang="ru-RU" sz="1890" dirty="0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360363" y="1315235"/>
            <a:ext cx="1803717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200" kern="0" dirty="0" smtClean="0"/>
              <a:t>этап</a:t>
            </a:r>
            <a:endParaRPr lang="ru-RU" sz="1200" kern="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360363" y="1764477"/>
            <a:ext cx="1803717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200" kern="0" dirty="0" smtClean="0"/>
              <a:t>действия</a:t>
            </a:r>
            <a:endParaRPr lang="ru-RU" sz="1200" kern="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360363" y="2796768"/>
            <a:ext cx="180371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200" kern="0" dirty="0" smtClean="0"/>
              <a:t>желаемый</a:t>
            </a:r>
            <a:br>
              <a:rPr lang="ru-RU" sz="1200" kern="0" dirty="0" smtClean="0"/>
            </a:br>
            <a:r>
              <a:rPr lang="ru-RU" sz="1200" kern="0" dirty="0" smtClean="0"/>
              <a:t>результат</a:t>
            </a:r>
            <a:endParaRPr lang="ru-RU" sz="1200" kern="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360363" y="4013725"/>
            <a:ext cx="1803717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en-US" sz="1200" kern="0" dirty="0" smtClean="0"/>
              <a:t>touchpoint</a:t>
            </a:r>
            <a:endParaRPr lang="ru-RU" sz="1200" kern="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360363" y="5046016"/>
            <a:ext cx="180371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200" kern="0" dirty="0" smtClean="0"/>
              <a:t>участвующие</a:t>
            </a:r>
            <a:br>
              <a:rPr lang="ru-RU" sz="1200" kern="0" dirty="0" smtClean="0"/>
            </a:br>
            <a:r>
              <a:rPr lang="ru-RU" sz="1200" kern="0" dirty="0" smtClean="0"/>
              <a:t>роли</a:t>
            </a:r>
            <a:endParaRPr lang="ru-RU" sz="1200" kern="0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1A37C73-C195-4EFA-AD65-A8FA715C4A32}"/>
              </a:ext>
            </a:extLst>
          </p:cNvPr>
          <p:cNvCxnSpPr>
            <a:cxnSpLocks/>
          </p:cNvCxnSpPr>
          <p:nvPr/>
        </p:nvCxnSpPr>
        <p:spPr>
          <a:xfrm>
            <a:off x="4823787" y="1549794"/>
            <a:ext cx="0" cy="435917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1A37C73-C195-4EFA-AD65-A8FA715C4A32}"/>
              </a:ext>
            </a:extLst>
          </p:cNvPr>
          <p:cNvCxnSpPr>
            <a:cxnSpLocks/>
          </p:cNvCxnSpPr>
          <p:nvPr/>
        </p:nvCxnSpPr>
        <p:spPr>
          <a:xfrm>
            <a:off x="7983547" y="1549794"/>
            <a:ext cx="0" cy="435917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2164080" y="980754"/>
            <a:ext cx="180371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400" b="1" kern="0" dirty="0" smtClean="0"/>
              <a:t>проектирование</a:t>
            </a:r>
            <a:endParaRPr lang="ru-RU" sz="1400" b="1" kern="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5379403" y="980754"/>
            <a:ext cx="180371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400" b="1" kern="0" dirty="0" smtClean="0"/>
              <a:t>разработка</a:t>
            </a:r>
            <a:endParaRPr lang="ru-RU" sz="1400" b="1" kern="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8495165" y="980754"/>
            <a:ext cx="180371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400" b="1" kern="0" dirty="0" smtClean="0"/>
              <a:t>эксплуатация</a:t>
            </a:r>
            <a:endParaRPr lang="ru-RU" sz="1400" b="1" kern="0" dirty="0"/>
          </a:p>
        </p:txBody>
      </p:sp>
      <p:sp>
        <p:nvSpPr>
          <p:cNvPr id="26" name="Полилиния: фигура 174">
            <a:extLst>
              <a:ext uri="{FF2B5EF4-FFF2-40B4-BE49-F238E27FC236}">
                <a16:creationId xmlns:a16="http://schemas.microsoft.com/office/drawing/2014/main" id="{D50DB324-BD60-4009-BC11-045A1CCC46F3}"/>
              </a:ext>
            </a:extLst>
          </p:cNvPr>
          <p:cNvSpPr/>
          <p:nvPr/>
        </p:nvSpPr>
        <p:spPr>
          <a:xfrm>
            <a:off x="1696720" y="945657"/>
            <a:ext cx="340043" cy="307941"/>
          </a:xfrm>
          <a:custGeom>
            <a:avLst/>
            <a:gdLst>
              <a:gd name="connsiteX0" fmla="*/ 301188 w 353276"/>
              <a:gd name="connsiteY0" fmla="*/ 0 h 319925"/>
              <a:gd name="connsiteX1" fmla="*/ 336257 w 353276"/>
              <a:gd name="connsiteY1" fmla="*/ 0 h 319925"/>
              <a:gd name="connsiteX2" fmla="*/ 340555 w 353276"/>
              <a:gd name="connsiteY2" fmla="*/ 1891 h 319925"/>
              <a:gd name="connsiteX3" fmla="*/ 351729 w 353276"/>
              <a:gd name="connsiteY3" fmla="*/ 13409 h 319925"/>
              <a:gd name="connsiteX4" fmla="*/ 353277 w 353276"/>
              <a:gd name="connsiteY4" fmla="*/ 17191 h 319925"/>
              <a:gd name="connsiteX5" fmla="*/ 353277 w 353276"/>
              <a:gd name="connsiteY5" fmla="*/ 122229 h 319925"/>
              <a:gd name="connsiteX6" fmla="*/ 351729 w 353276"/>
              <a:gd name="connsiteY6" fmla="*/ 125667 h 319925"/>
              <a:gd name="connsiteX7" fmla="*/ 340555 w 353276"/>
              <a:gd name="connsiteY7" fmla="*/ 137185 h 319925"/>
              <a:gd name="connsiteX8" fmla="*/ 336257 w 353276"/>
              <a:gd name="connsiteY8" fmla="*/ 139076 h 319925"/>
              <a:gd name="connsiteX9" fmla="*/ 263883 w 353276"/>
              <a:gd name="connsiteY9" fmla="*/ 139076 h 319925"/>
              <a:gd name="connsiteX10" fmla="*/ 259585 w 353276"/>
              <a:gd name="connsiteY10" fmla="*/ 137185 h 319925"/>
              <a:gd name="connsiteX11" fmla="*/ 248411 w 353276"/>
              <a:gd name="connsiteY11" fmla="*/ 125667 h 319925"/>
              <a:gd name="connsiteX12" fmla="*/ 246864 w 353276"/>
              <a:gd name="connsiteY12" fmla="*/ 122229 h 319925"/>
              <a:gd name="connsiteX13" fmla="*/ 246520 w 353276"/>
              <a:gd name="connsiteY13" fmla="*/ 81829 h 319925"/>
              <a:gd name="connsiteX14" fmla="*/ 196838 w 353276"/>
              <a:gd name="connsiteY14" fmla="*/ 82173 h 319925"/>
              <a:gd name="connsiteX15" fmla="*/ 193400 w 353276"/>
              <a:gd name="connsiteY15" fmla="*/ 83720 h 319925"/>
              <a:gd name="connsiteX16" fmla="*/ 187039 w 353276"/>
              <a:gd name="connsiteY16" fmla="*/ 87674 h 319925"/>
              <a:gd name="connsiteX17" fmla="*/ 183429 w 353276"/>
              <a:gd name="connsiteY17" fmla="*/ 93347 h 319925"/>
              <a:gd name="connsiteX18" fmla="*/ 181194 w 353276"/>
              <a:gd name="connsiteY18" fmla="*/ 97989 h 319925"/>
              <a:gd name="connsiteX19" fmla="*/ 181194 w 353276"/>
              <a:gd name="connsiteY19" fmla="*/ 221937 h 319925"/>
              <a:gd name="connsiteX20" fmla="*/ 183085 w 353276"/>
              <a:gd name="connsiteY20" fmla="*/ 225719 h 319925"/>
              <a:gd name="connsiteX21" fmla="*/ 193400 w 353276"/>
              <a:gd name="connsiteY21" fmla="*/ 236205 h 319925"/>
              <a:gd name="connsiteX22" fmla="*/ 196838 w 353276"/>
              <a:gd name="connsiteY22" fmla="*/ 237753 h 319925"/>
              <a:gd name="connsiteX23" fmla="*/ 246520 w 353276"/>
              <a:gd name="connsiteY23" fmla="*/ 238096 h 319925"/>
              <a:gd name="connsiteX24" fmla="*/ 246864 w 353276"/>
              <a:gd name="connsiteY24" fmla="*/ 197697 h 319925"/>
              <a:gd name="connsiteX25" fmla="*/ 248411 w 353276"/>
              <a:gd name="connsiteY25" fmla="*/ 194259 h 319925"/>
              <a:gd name="connsiteX26" fmla="*/ 259585 w 353276"/>
              <a:gd name="connsiteY26" fmla="*/ 182741 h 319925"/>
              <a:gd name="connsiteX27" fmla="*/ 263883 w 353276"/>
              <a:gd name="connsiteY27" fmla="*/ 180850 h 319925"/>
              <a:gd name="connsiteX28" fmla="*/ 336257 w 353276"/>
              <a:gd name="connsiteY28" fmla="*/ 180850 h 319925"/>
              <a:gd name="connsiteX29" fmla="*/ 340555 w 353276"/>
              <a:gd name="connsiteY29" fmla="*/ 182741 h 319925"/>
              <a:gd name="connsiteX30" fmla="*/ 351729 w 353276"/>
              <a:gd name="connsiteY30" fmla="*/ 193915 h 319925"/>
              <a:gd name="connsiteX31" fmla="*/ 353277 w 353276"/>
              <a:gd name="connsiteY31" fmla="*/ 197697 h 319925"/>
              <a:gd name="connsiteX32" fmla="*/ 353277 w 353276"/>
              <a:gd name="connsiteY32" fmla="*/ 302735 h 319925"/>
              <a:gd name="connsiteX33" fmla="*/ 351729 w 353276"/>
              <a:gd name="connsiteY33" fmla="*/ 306517 h 319925"/>
              <a:gd name="connsiteX34" fmla="*/ 340555 w 353276"/>
              <a:gd name="connsiteY34" fmla="*/ 317691 h 319925"/>
              <a:gd name="connsiteX35" fmla="*/ 336257 w 353276"/>
              <a:gd name="connsiteY35" fmla="*/ 319926 h 319925"/>
              <a:gd name="connsiteX36" fmla="*/ 263883 w 353276"/>
              <a:gd name="connsiteY36" fmla="*/ 319926 h 319925"/>
              <a:gd name="connsiteX37" fmla="*/ 259585 w 353276"/>
              <a:gd name="connsiteY37" fmla="*/ 317691 h 319925"/>
              <a:gd name="connsiteX38" fmla="*/ 248411 w 353276"/>
              <a:gd name="connsiteY38" fmla="*/ 306517 h 319925"/>
              <a:gd name="connsiteX39" fmla="*/ 246864 w 353276"/>
              <a:gd name="connsiteY39" fmla="*/ 302735 h 319925"/>
              <a:gd name="connsiteX40" fmla="*/ 246520 w 353276"/>
              <a:gd name="connsiteY40" fmla="*/ 262336 h 319925"/>
              <a:gd name="connsiteX41" fmla="*/ 221077 w 353276"/>
              <a:gd name="connsiteY41" fmla="*/ 262336 h 319925"/>
              <a:gd name="connsiteX42" fmla="*/ 194087 w 353276"/>
              <a:gd name="connsiteY42" fmla="*/ 261820 h 319925"/>
              <a:gd name="connsiteX43" fmla="*/ 181710 w 353276"/>
              <a:gd name="connsiteY43" fmla="*/ 257866 h 319925"/>
              <a:gd name="connsiteX44" fmla="*/ 160908 w 353276"/>
              <a:gd name="connsiteY44" fmla="*/ 237065 h 319925"/>
              <a:gd name="connsiteX45" fmla="*/ 157126 w 353276"/>
              <a:gd name="connsiteY45" fmla="*/ 224687 h 319925"/>
              <a:gd name="connsiteX46" fmla="*/ 156439 w 353276"/>
              <a:gd name="connsiteY46" fmla="*/ 197697 h 319925"/>
              <a:gd name="connsiteX47" fmla="*/ 156439 w 353276"/>
              <a:gd name="connsiteY47" fmla="*/ 172254 h 319925"/>
              <a:gd name="connsiteX48" fmla="*/ 107101 w 353276"/>
              <a:gd name="connsiteY48" fmla="*/ 172254 h 319925"/>
              <a:gd name="connsiteX49" fmla="*/ 107101 w 353276"/>
              <a:gd name="connsiteY49" fmla="*/ 190821 h 319925"/>
              <a:gd name="connsiteX50" fmla="*/ 106413 w 353276"/>
              <a:gd name="connsiteY50" fmla="*/ 211106 h 319925"/>
              <a:gd name="connsiteX51" fmla="*/ 102975 w 353276"/>
              <a:gd name="connsiteY51" fmla="*/ 220218 h 319925"/>
              <a:gd name="connsiteX52" fmla="*/ 92144 w 353276"/>
              <a:gd name="connsiteY52" fmla="*/ 228641 h 319925"/>
              <a:gd name="connsiteX53" fmla="*/ 84236 w 353276"/>
              <a:gd name="connsiteY53" fmla="*/ 229673 h 319925"/>
              <a:gd name="connsiteX54" fmla="*/ 53636 w 353276"/>
              <a:gd name="connsiteY54" fmla="*/ 229845 h 319925"/>
              <a:gd name="connsiteX55" fmla="*/ 22005 w 353276"/>
              <a:gd name="connsiteY55" fmla="*/ 229673 h 319925"/>
              <a:gd name="connsiteX56" fmla="*/ 14269 w 353276"/>
              <a:gd name="connsiteY56" fmla="*/ 228297 h 319925"/>
              <a:gd name="connsiteX57" fmla="*/ 1204 w 353276"/>
              <a:gd name="connsiteY57" fmla="*/ 212825 h 319925"/>
              <a:gd name="connsiteX58" fmla="*/ 0 w 353276"/>
              <a:gd name="connsiteY58" fmla="*/ 160049 h 319925"/>
              <a:gd name="connsiteX59" fmla="*/ 1204 w 353276"/>
              <a:gd name="connsiteY59" fmla="*/ 107272 h 319925"/>
              <a:gd name="connsiteX60" fmla="*/ 14269 w 353276"/>
              <a:gd name="connsiteY60" fmla="*/ 91800 h 319925"/>
              <a:gd name="connsiteX61" fmla="*/ 22005 w 353276"/>
              <a:gd name="connsiteY61" fmla="*/ 90425 h 319925"/>
              <a:gd name="connsiteX62" fmla="*/ 53636 w 353276"/>
              <a:gd name="connsiteY62" fmla="*/ 90253 h 319925"/>
              <a:gd name="connsiteX63" fmla="*/ 84236 w 353276"/>
              <a:gd name="connsiteY63" fmla="*/ 90425 h 319925"/>
              <a:gd name="connsiteX64" fmla="*/ 92144 w 353276"/>
              <a:gd name="connsiteY64" fmla="*/ 91456 h 319925"/>
              <a:gd name="connsiteX65" fmla="*/ 102975 w 353276"/>
              <a:gd name="connsiteY65" fmla="*/ 99880 h 319925"/>
              <a:gd name="connsiteX66" fmla="*/ 106413 w 353276"/>
              <a:gd name="connsiteY66" fmla="*/ 108991 h 319925"/>
              <a:gd name="connsiteX67" fmla="*/ 107101 w 353276"/>
              <a:gd name="connsiteY67" fmla="*/ 129105 h 319925"/>
              <a:gd name="connsiteX68" fmla="*/ 107101 w 353276"/>
              <a:gd name="connsiteY68" fmla="*/ 147671 h 319925"/>
              <a:gd name="connsiteX69" fmla="*/ 156439 w 353276"/>
              <a:gd name="connsiteY69" fmla="*/ 147671 h 319925"/>
              <a:gd name="connsiteX70" fmla="*/ 156439 w 353276"/>
              <a:gd name="connsiteY70" fmla="*/ 122229 h 319925"/>
              <a:gd name="connsiteX71" fmla="*/ 156955 w 353276"/>
              <a:gd name="connsiteY71" fmla="*/ 95582 h 319925"/>
              <a:gd name="connsiteX72" fmla="*/ 160565 w 353276"/>
              <a:gd name="connsiteY72" fmla="*/ 83720 h 319925"/>
              <a:gd name="connsiteX73" fmla="*/ 181710 w 353276"/>
              <a:gd name="connsiteY73" fmla="*/ 62232 h 319925"/>
              <a:gd name="connsiteX74" fmla="*/ 194087 w 353276"/>
              <a:gd name="connsiteY74" fmla="*/ 58106 h 319925"/>
              <a:gd name="connsiteX75" fmla="*/ 221077 w 353276"/>
              <a:gd name="connsiteY75" fmla="*/ 57590 h 319925"/>
              <a:gd name="connsiteX76" fmla="*/ 246520 w 353276"/>
              <a:gd name="connsiteY76" fmla="*/ 57590 h 319925"/>
              <a:gd name="connsiteX77" fmla="*/ 246520 w 353276"/>
              <a:gd name="connsiteY77" fmla="*/ 37133 h 319925"/>
              <a:gd name="connsiteX78" fmla="*/ 247036 w 353276"/>
              <a:gd name="connsiteY78" fmla="*/ 19082 h 319925"/>
              <a:gd name="connsiteX79" fmla="*/ 248411 w 353276"/>
              <a:gd name="connsiteY79" fmla="*/ 13237 h 319925"/>
              <a:gd name="connsiteX80" fmla="*/ 263367 w 353276"/>
              <a:gd name="connsiteY80" fmla="*/ 516 h 319925"/>
              <a:gd name="connsiteX81" fmla="*/ 301188 w 353276"/>
              <a:gd name="connsiteY81" fmla="*/ 0 h 319925"/>
              <a:gd name="connsiteX82" fmla="*/ 82173 w 353276"/>
              <a:gd name="connsiteY82" fmla="*/ 114664 h 319925"/>
              <a:gd name="connsiteX83" fmla="*/ 25271 w 353276"/>
              <a:gd name="connsiteY83" fmla="*/ 114664 h 319925"/>
              <a:gd name="connsiteX84" fmla="*/ 25271 w 353276"/>
              <a:gd name="connsiteY84" fmla="*/ 205433 h 319925"/>
              <a:gd name="connsiteX85" fmla="*/ 82173 w 353276"/>
              <a:gd name="connsiteY85" fmla="*/ 205433 h 319925"/>
              <a:gd name="connsiteX86" fmla="*/ 82173 w 353276"/>
              <a:gd name="connsiteY86" fmla="*/ 160049 h 319925"/>
              <a:gd name="connsiteX87" fmla="*/ 82173 w 353276"/>
              <a:gd name="connsiteY87" fmla="*/ 114664 h 319925"/>
              <a:gd name="connsiteX88" fmla="*/ 328521 w 353276"/>
              <a:gd name="connsiteY88" fmla="*/ 24583 h 319925"/>
              <a:gd name="connsiteX89" fmla="*/ 271619 w 353276"/>
              <a:gd name="connsiteY89" fmla="*/ 24583 h 319925"/>
              <a:gd name="connsiteX90" fmla="*/ 271619 w 353276"/>
              <a:gd name="connsiteY90" fmla="*/ 114664 h 319925"/>
              <a:gd name="connsiteX91" fmla="*/ 328521 w 353276"/>
              <a:gd name="connsiteY91" fmla="*/ 114664 h 319925"/>
              <a:gd name="connsiteX92" fmla="*/ 328521 w 353276"/>
              <a:gd name="connsiteY92" fmla="*/ 69624 h 319925"/>
              <a:gd name="connsiteX93" fmla="*/ 328521 w 353276"/>
              <a:gd name="connsiteY93" fmla="*/ 24583 h 319925"/>
              <a:gd name="connsiteX94" fmla="*/ 328521 w 353276"/>
              <a:gd name="connsiteY94" fmla="*/ 205605 h 319925"/>
              <a:gd name="connsiteX95" fmla="*/ 271619 w 353276"/>
              <a:gd name="connsiteY95" fmla="*/ 205605 h 319925"/>
              <a:gd name="connsiteX96" fmla="*/ 271619 w 353276"/>
              <a:gd name="connsiteY96" fmla="*/ 295686 h 319925"/>
              <a:gd name="connsiteX97" fmla="*/ 328521 w 353276"/>
              <a:gd name="connsiteY97" fmla="*/ 295686 h 319925"/>
              <a:gd name="connsiteX98" fmla="*/ 328521 w 353276"/>
              <a:gd name="connsiteY98" fmla="*/ 250646 h 319925"/>
              <a:gd name="connsiteX99" fmla="*/ 328521 w 353276"/>
              <a:gd name="connsiteY99" fmla="*/ 205605 h 319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53276" h="319925">
                <a:moveTo>
                  <a:pt x="301188" y="0"/>
                </a:moveTo>
                <a:lnTo>
                  <a:pt x="336257" y="0"/>
                </a:lnTo>
                <a:lnTo>
                  <a:pt x="340555" y="1891"/>
                </a:lnTo>
                <a:cubicBezTo>
                  <a:pt x="345369" y="4126"/>
                  <a:pt x="349151" y="8080"/>
                  <a:pt x="351729" y="13409"/>
                </a:cubicBezTo>
                <a:lnTo>
                  <a:pt x="353277" y="17191"/>
                </a:lnTo>
                <a:lnTo>
                  <a:pt x="353277" y="122229"/>
                </a:lnTo>
                <a:lnTo>
                  <a:pt x="351729" y="125667"/>
                </a:lnTo>
                <a:cubicBezTo>
                  <a:pt x="349151" y="130824"/>
                  <a:pt x="345369" y="134606"/>
                  <a:pt x="340555" y="137185"/>
                </a:cubicBezTo>
                <a:lnTo>
                  <a:pt x="336257" y="139076"/>
                </a:lnTo>
                <a:lnTo>
                  <a:pt x="263883" y="139076"/>
                </a:lnTo>
                <a:lnTo>
                  <a:pt x="259585" y="137185"/>
                </a:lnTo>
                <a:cubicBezTo>
                  <a:pt x="254772" y="134606"/>
                  <a:pt x="250990" y="130824"/>
                  <a:pt x="248411" y="125667"/>
                </a:cubicBezTo>
                <a:lnTo>
                  <a:pt x="246864" y="122229"/>
                </a:lnTo>
                <a:lnTo>
                  <a:pt x="246520" y="81829"/>
                </a:lnTo>
                <a:lnTo>
                  <a:pt x="196838" y="82173"/>
                </a:lnTo>
                <a:lnTo>
                  <a:pt x="193400" y="83720"/>
                </a:lnTo>
                <a:cubicBezTo>
                  <a:pt x="190649" y="84924"/>
                  <a:pt x="188414" y="86299"/>
                  <a:pt x="187039" y="87674"/>
                </a:cubicBezTo>
                <a:cubicBezTo>
                  <a:pt x="185664" y="89050"/>
                  <a:pt x="184460" y="90941"/>
                  <a:pt x="183429" y="93347"/>
                </a:cubicBezTo>
                <a:lnTo>
                  <a:pt x="181194" y="97989"/>
                </a:lnTo>
                <a:lnTo>
                  <a:pt x="181194" y="221937"/>
                </a:lnTo>
                <a:lnTo>
                  <a:pt x="183085" y="225719"/>
                </a:lnTo>
                <a:cubicBezTo>
                  <a:pt x="185148" y="230360"/>
                  <a:pt x="188586" y="233798"/>
                  <a:pt x="193400" y="236205"/>
                </a:cubicBezTo>
                <a:lnTo>
                  <a:pt x="196838" y="237753"/>
                </a:lnTo>
                <a:lnTo>
                  <a:pt x="246520" y="238096"/>
                </a:lnTo>
                <a:lnTo>
                  <a:pt x="246864" y="197697"/>
                </a:lnTo>
                <a:lnTo>
                  <a:pt x="248411" y="194259"/>
                </a:lnTo>
                <a:cubicBezTo>
                  <a:pt x="250990" y="189102"/>
                  <a:pt x="254772" y="185320"/>
                  <a:pt x="259585" y="182741"/>
                </a:cubicBezTo>
                <a:lnTo>
                  <a:pt x="263883" y="180850"/>
                </a:lnTo>
                <a:lnTo>
                  <a:pt x="336257" y="180850"/>
                </a:lnTo>
                <a:lnTo>
                  <a:pt x="340555" y="182741"/>
                </a:lnTo>
                <a:cubicBezTo>
                  <a:pt x="345369" y="184976"/>
                  <a:pt x="349151" y="188758"/>
                  <a:pt x="351729" y="193915"/>
                </a:cubicBezTo>
                <a:lnTo>
                  <a:pt x="353277" y="197697"/>
                </a:lnTo>
                <a:lnTo>
                  <a:pt x="353277" y="302735"/>
                </a:lnTo>
                <a:lnTo>
                  <a:pt x="351729" y="306517"/>
                </a:lnTo>
                <a:cubicBezTo>
                  <a:pt x="349151" y="311674"/>
                  <a:pt x="345369" y="315284"/>
                  <a:pt x="340555" y="317691"/>
                </a:cubicBezTo>
                <a:lnTo>
                  <a:pt x="336257" y="319926"/>
                </a:lnTo>
                <a:lnTo>
                  <a:pt x="263883" y="319926"/>
                </a:lnTo>
                <a:lnTo>
                  <a:pt x="259585" y="317691"/>
                </a:lnTo>
                <a:cubicBezTo>
                  <a:pt x="254772" y="315456"/>
                  <a:pt x="250990" y="311674"/>
                  <a:pt x="248411" y="306517"/>
                </a:cubicBezTo>
                <a:lnTo>
                  <a:pt x="246864" y="302735"/>
                </a:lnTo>
                <a:lnTo>
                  <a:pt x="246520" y="262336"/>
                </a:lnTo>
                <a:lnTo>
                  <a:pt x="221077" y="262336"/>
                </a:lnTo>
                <a:cubicBezTo>
                  <a:pt x="206981" y="262336"/>
                  <a:pt x="198041" y="262164"/>
                  <a:pt x="194087" y="261820"/>
                </a:cubicBezTo>
                <a:cubicBezTo>
                  <a:pt x="190305" y="261476"/>
                  <a:pt x="186179" y="260101"/>
                  <a:pt x="181710" y="257866"/>
                </a:cubicBezTo>
                <a:cubicBezTo>
                  <a:pt x="172426" y="253568"/>
                  <a:pt x="165550" y="246520"/>
                  <a:pt x="160908" y="237065"/>
                </a:cubicBezTo>
                <a:cubicBezTo>
                  <a:pt x="158846" y="232767"/>
                  <a:pt x="157642" y="228641"/>
                  <a:pt x="157126" y="224687"/>
                </a:cubicBezTo>
                <a:cubicBezTo>
                  <a:pt x="156611" y="220905"/>
                  <a:pt x="156439" y="211794"/>
                  <a:pt x="156439" y="197697"/>
                </a:cubicBezTo>
                <a:lnTo>
                  <a:pt x="156439" y="172254"/>
                </a:lnTo>
                <a:lnTo>
                  <a:pt x="107101" y="172254"/>
                </a:lnTo>
                <a:lnTo>
                  <a:pt x="107101" y="190821"/>
                </a:lnTo>
                <a:cubicBezTo>
                  <a:pt x="107101" y="201135"/>
                  <a:pt x="106757" y="207840"/>
                  <a:pt x="106413" y="211106"/>
                </a:cubicBezTo>
                <a:cubicBezTo>
                  <a:pt x="106069" y="214373"/>
                  <a:pt x="104694" y="217295"/>
                  <a:pt x="102975" y="220218"/>
                </a:cubicBezTo>
                <a:cubicBezTo>
                  <a:pt x="100396" y="224000"/>
                  <a:pt x="96786" y="226922"/>
                  <a:pt x="92144" y="228641"/>
                </a:cubicBezTo>
                <a:cubicBezTo>
                  <a:pt x="90597" y="229157"/>
                  <a:pt x="88018" y="229501"/>
                  <a:pt x="84236" y="229673"/>
                </a:cubicBezTo>
                <a:cubicBezTo>
                  <a:pt x="80454" y="229845"/>
                  <a:pt x="70312" y="229845"/>
                  <a:pt x="53636" y="229845"/>
                </a:cubicBezTo>
                <a:cubicBezTo>
                  <a:pt x="35930" y="229845"/>
                  <a:pt x="25443" y="229845"/>
                  <a:pt x="22005" y="229673"/>
                </a:cubicBezTo>
                <a:cubicBezTo>
                  <a:pt x="18738" y="229501"/>
                  <a:pt x="16160" y="229157"/>
                  <a:pt x="14269" y="228297"/>
                </a:cubicBezTo>
                <a:cubicBezTo>
                  <a:pt x="7392" y="225547"/>
                  <a:pt x="2922" y="220389"/>
                  <a:pt x="1204" y="212825"/>
                </a:cubicBezTo>
                <a:cubicBezTo>
                  <a:pt x="516" y="210075"/>
                  <a:pt x="0" y="192368"/>
                  <a:pt x="0" y="160049"/>
                </a:cubicBezTo>
                <a:cubicBezTo>
                  <a:pt x="0" y="127730"/>
                  <a:pt x="344" y="110195"/>
                  <a:pt x="1204" y="107272"/>
                </a:cubicBezTo>
                <a:cubicBezTo>
                  <a:pt x="2922" y="99880"/>
                  <a:pt x="7392" y="94723"/>
                  <a:pt x="14269" y="91800"/>
                </a:cubicBezTo>
                <a:cubicBezTo>
                  <a:pt x="15988" y="91113"/>
                  <a:pt x="18566" y="90597"/>
                  <a:pt x="22005" y="90425"/>
                </a:cubicBezTo>
                <a:cubicBezTo>
                  <a:pt x="25443" y="90253"/>
                  <a:pt x="35930" y="90253"/>
                  <a:pt x="53636" y="90253"/>
                </a:cubicBezTo>
                <a:cubicBezTo>
                  <a:pt x="70312" y="90253"/>
                  <a:pt x="80454" y="90253"/>
                  <a:pt x="84236" y="90425"/>
                </a:cubicBezTo>
                <a:cubicBezTo>
                  <a:pt x="88018" y="90597"/>
                  <a:pt x="90597" y="90941"/>
                  <a:pt x="92144" y="91456"/>
                </a:cubicBezTo>
                <a:cubicBezTo>
                  <a:pt x="96786" y="93176"/>
                  <a:pt x="100396" y="96098"/>
                  <a:pt x="102975" y="99880"/>
                </a:cubicBezTo>
                <a:cubicBezTo>
                  <a:pt x="104694" y="102631"/>
                  <a:pt x="105897" y="105725"/>
                  <a:pt x="106413" y="108991"/>
                </a:cubicBezTo>
                <a:cubicBezTo>
                  <a:pt x="106928" y="112258"/>
                  <a:pt x="107101" y="118962"/>
                  <a:pt x="107101" y="129105"/>
                </a:cubicBezTo>
                <a:lnTo>
                  <a:pt x="107101" y="147671"/>
                </a:lnTo>
                <a:lnTo>
                  <a:pt x="156439" y="147671"/>
                </a:lnTo>
                <a:lnTo>
                  <a:pt x="156439" y="122229"/>
                </a:lnTo>
                <a:cubicBezTo>
                  <a:pt x="156439" y="108304"/>
                  <a:pt x="156611" y="99536"/>
                  <a:pt x="156955" y="95582"/>
                </a:cubicBezTo>
                <a:cubicBezTo>
                  <a:pt x="157298" y="91800"/>
                  <a:pt x="158502" y="87674"/>
                  <a:pt x="160565" y="83720"/>
                </a:cubicBezTo>
                <a:cubicBezTo>
                  <a:pt x="164863" y="73922"/>
                  <a:pt x="171911" y="66701"/>
                  <a:pt x="181710" y="62232"/>
                </a:cubicBezTo>
                <a:cubicBezTo>
                  <a:pt x="186008" y="59997"/>
                  <a:pt x="190133" y="58621"/>
                  <a:pt x="194087" y="58106"/>
                </a:cubicBezTo>
                <a:cubicBezTo>
                  <a:pt x="197869" y="57762"/>
                  <a:pt x="206981" y="57590"/>
                  <a:pt x="221077" y="57590"/>
                </a:cubicBezTo>
                <a:lnTo>
                  <a:pt x="246520" y="57590"/>
                </a:lnTo>
                <a:lnTo>
                  <a:pt x="246520" y="37133"/>
                </a:lnTo>
                <a:cubicBezTo>
                  <a:pt x="246692" y="27162"/>
                  <a:pt x="247036" y="21145"/>
                  <a:pt x="247036" y="19082"/>
                </a:cubicBezTo>
                <a:cubicBezTo>
                  <a:pt x="247208" y="17019"/>
                  <a:pt x="247552" y="15128"/>
                  <a:pt x="248411" y="13237"/>
                </a:cubicBezTo>
                <a:cubicBezTo>
                  <a:pt x="251505" y="6532"/>
                  <a:pt x="256491" y="2407"/>
                  <a:pt x="263367" y="516"/>
                </a:cubicBezTo>
                <a:cubicBezTo>
                  <a:pt x="265602" y="344"/>
                  <a:pt x="278152" y="0"/>
                  <a:pt x="301188" y="0"/>
                </a:cubicBezTo>
                <a:close/>
                <a:moveTo>
                  <a:pt x="82173" y="114664"/>
                </a:moveTo>
                <a:lnTo>
                  <a:pt x="25271" y="114664"/>
                </a:lnTo>
                <a:lnTo>
                  <a:pt x="25271" y="205433"/>
                </a:lnTo>
                <a:lnTo>
                  <a:pt x="82173" y="205433"/>
                </a:lnTo>
                <a:lnTo>
                  <a:pt x="82173" y="160049"/>
                </a:lnTo>
                <a:lnTo>
                  <a:pt x="82173" y="114664"/>
                </a:lnTo>
                <a:close/>
                <a:moveTo>
                  <a:pt x="328521" y="24583"/>
                </a:moveTo>
                <a:lnTo>
                  <a:pt x="271619" y="24583"/>
                </a:lnTo>
                <a:lnTo>
                  <a:pt x="271619" y="114664"/>
                </a:lnTo>
                <a:lnTo>
                  <a:pt x="328521" y="114664"/>
                </a:lnTo>
                <a:lnTo>
                  <a:pt x="328521" y="69624"/>
                </a:lnTo>
                <a:lnTo>
                  <a:pt x="328521" y="24583"/>
                </a:lnTo>
                <a:close/>
                <a:moveTo>
                  <a:pt x="328521" y="205605"/>
                </a:moveTo>
                <a:lnTo>
                  <a:pt x="271619" y="205605"/>
                </a:lnTo>
                <a:lnTo>
                  <a:pt x="271619" y="295686"/>
                </a:lnTo>
                <a:lnTo>
                  <a:pt x="328521" y="295686"/>
                </a:lnTo>
                <a:lnTo>
                  <a:pt x="328521" y="250646"/>
                </a:lnTo>
                <a:lnTo>
                  <a:pt x="328521" y="205605"/>
                </a:ln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7" name="Полилиния: фигура 225">
            <a:extLst>
              <a:ext uri="{FF2B5EF4-FFF2-40B4-BE49-F238E27FC236}">
                <a16:creationId xmlns:a16="http://schemas.microsoft.com/office/drawing/2014/main" id="{7E9AED0E-3D15-448F-BE5F-7615768E7BF7}"/>
              </a:ext>
            </a:extLst>
          </p:cNvPr>
          <p:cNvSpPr/>
          <p:nvPr/>
        </p:nvSpPr>
        <p:spPr>
          <a:xfrm>
            <a:off x="4887731" y="919302"/>
            <a:ext cx="353393" cy="353737"/>
          </a:xfrm>
          <a:custGeom>
            <a:avLst/>
            <a:gdLst>
              <a:gd name="connsiteX0" fmla="*/ 175693 w 353448"/>
              <a:gd name="connsiteY0" fmla="*/ 0 h 353792"/>
              <a:gd name="connsiteX1" fmla="*/ 195291 w 353448"/>
              <a:gd name="connsiteY1" fmla="*/ 688 h 353792"/>
              <a:gd name="connsiteX2" fmla="*/ 200620 w 353448"/>
              <a:gd name="connsiteY2" fmla="*/ 3782 h 353792"/>
              <a:gd name="connsiteX3" fmla="*/ 203542 w 353448"/>
              <a:gd name="connsiteY3" fmla="*/ 8252 h 353792"/>
              <a:gd name="connsiteX4" fmla="*/ 208012 w 353448"/>
              <a:gd name="connsiteY4" fmla="*/ 24239 h 353792"/>
              <a:gd name="connsiteX5" fmla="*/ 212654 w 353448"/>
              <a:gd name="connsiteY5" fmla="*/ 42290 h 353792"/>
              <a:gd name="connsiteX6" fmla="*/ 228470 w 353448"/>
              <a:gd name="connsiteY6" fmla="*/ 48823 h 353792"/>
              <a:gd name="connsiteX7" fmla="*/ 244801 w 353448"/>
              <a:gd name="connsiteY7" fmla="*/ 54840 h 353792"/>
              <a:gd name="connsiteX8" fmla="*/ 257522 w 353448"/>
              <a:gd name="connsiteY8" fmla="*/ 44525 h 353792"/>
              <a:gd name="connsiteX9" fmla="*/ 272307 w 353448"/>
              <a:gd name="connsiteY9" fmla="*/ 33523 h 353792"/>
              <a:gd name="connsiteX10" fmla="*/ 281074 w 353448"/>
              <a:gd name="connsiteY10" fmla="*/ 34726 h 353792"/>
              <a:gd name="connsiteX11" fmla="*/ 301188 w 353448"/>
              <a:gd name="connsiteY11" fmla="*/ 53636 h 353792"/>
              <a:gd name="connsiteX12" fmla="*/ 315972 w 353448"/>
              <a:gd name="connsiteY12" fmla="*/ 69108 h 353792"/>
              <a:gd name="connsiteX13" fmla="*/ 320098 w 353448"/>
              <a:gd name="connsiteY13" fmla="*/ 74781 h 353792"/>
              <a:gd name="connsiteX14" fmla="*/ 319754 w 353448"/>
              <a:gd name="connsiteY14" fmla="*/ 82345 h 353792"/>
              <a:gd name="connsiteX15" fmla="*/ 310127 w 353448"/>
              <a:gd name="connsiteY15" fmla="*/ 95239 h 353792"/>
              <a:gd name="connsiteX16" fmla="*/ 298265 w 353448"/>
              <a:gd name="connsiteY16" fmla="*/ 109163 h 353792"/>
              <a:gd name="connsiteX17" fmla="*/ 311331 w 353448"/>
              <a:gd name="connsiteY17" fmla="*/ 139936 h 353792"/>
              <a:gd name="connsiteX18" fmla="*/ 330585 w 353448"/>
              <a:gd name="connsiteY18" fmla="*/ 144921 h 353792"/>
              <a:gd name="connsiteX19" fmla="*/ 347260 w 353448"/>
              <a:gd name="connsiteY19" fmla="*/ 149734 h 353792"/>
              <a:gd name="connsiteX20" fmla="*/ 350698 w 353448"/>
              <a:gd name="connsiteY20" fmla="*/ 152829 h 353792"/>
              <a:gd name="connsiteX21" fmla="*/ 352933 w 353448"/>
              <a:gd name="connsiteY21" fmla="*/ 157298 h 353792"/>
              <a:gd name="connsiteX22" fmla="*/ 353448 w 353448"/>
              <a:gd name="connsiteY22" fmla="*/ 176724 h 353792"/>
              <a:gd name="connsiteX23" fmla="*/ 352761 w 353448"/>
              <a:gd name="connsiteY23" fmla="*/ 196322 h 353792"/>
              <a:gd name="connsiteX24" fmla="*/ 349666 w 353448"/>
              <a:gd name="connsiteY24" fmla="*/ 201307 h 353792"/>
              <a:gd name="connsiteX25" fmla="*/ 344337 w 353448"/>
              <a:gd name="connsiteY25" fmla="*/ 204574 h 353792"/>
              <a:gd name="connsiteX26" fmla="*/ 326630 w 353448"/>
              <a:gd name="connsiteY26" fmla="*/ 209559 h 353792"/>
              <a:gd name="connsiteX27" fmla="*/ 311159 w 353448"/>
              <a:gd name="connsiteY27" fmla="*/ 213857 h 353792"/>
              <a:gd name="connsiteX28" fmla="*/ 304454 w 353448"/>
              <a:gd name="connsiteY28" fmla="*/ 229329 h 353792"/>
              <a:gd name="connsiteX29" fmla="*/ 298609 w 353448"/>
              <a:gd name="connsiteY29" fmla="*/ 244457 h 353792"/>
              <a:gd name="connsiteX30" fmla="*/ 308752 w 353448"/>
              <a:gd name="connsiteY30" fmla="*/ 257007 h 353792"/>
              <a:gd name="connsiteX31" fmla="*/ 310643 w 353448"/>
              <a:gd name="connsiteY31" fmla="*/ 259242 h 353792"/>
              <a:gd name="connsiteX32" fmla="*/ 319926 w 353448"/>
              <a:gd name="connsiteY32" fmla="*/ 271963 h 353792"/>
              <a:gd name="connsiteX33" fmla="*/ 318035 w 353448"/>
              <a:gd name="connsiteY33" fmla="*/ 281590 h 353792"/>
              <a:gd name="connsiteX34" fmla="*/ 303766 w 353448"/>
              <a:gd name="connsiteY34" fmla="*/ 297406 h 353792"/>
              <a:gd name="connsiteX35" fmla="*/ 301016 w 353448"/>
              <a:gd name="connsiteY35" fmla="*/ 300156 h 353792"/>
              <a:gd name="connsiteX36" fmla="*/ 280902 w 353448"/>
              <a:gd name="connsiteY36" fmla="*/ 319066 h 353792"/>
              <a:gd name="connsiteX37" fmla="*/ 272823 w 353448"/>
              <a:gd name="connsiteY37" fmla="*/ 320442 h 353792"/>
              <a:gd name="connsiteX38" fmla="*/ 263539 w 353448"/>
              <a:gd name="connsiteY38" fmla="*/ 314768 h 353792"/>
              <a:gd name="connsiteX39" fmla="*/ 244457 w 353448"/>
              <a:gd name="connsiteY39" fmla="*/ 298609 h 353792"/>
              <a:gd name="connsiteX40" fmla="*/ 228813 w 353448"/>
              <a:gd name="connsiteY40" fmla="*/ 304626 h 353792"/>
              <a:gd name="connsiteX41" fmla="*/ 213685 w 353448"/>
              <a:gd name="connsiteY41" fmla="*/ 310986 h 353792"/>
              <a:gd name="connsiteX42" fmla="*/ 208872 w 353448"/>
              <a:gd name="connsiteY42" fmla="*/ 328177 h 353792"/>
              <a:gd name="connsiteX43" fmla="*/ 203886 w 353448"/>
              <a:gd name="connsiteY43" fmla="*/ 346916 h 353792"/>
              <a:gd name="connsiteX44" fmla="*/ 200792 w 353448"/>
              <a:gd name="connsiteY44" fmla="*/ 350698 h 353792"/>
              <a:gd name="connsiteX45" fmla="*/ 196150 w 353448"/>
              <a:gd name="connsiteY45" fmla="*/ 353277 h 353792"/>
              <a:gd name="connsiteX46" fmla="*/ 176553 w 353448"/>
              <a:gd name="connsiteY46" fmla="*/ 353793 h 353792"/>
              <a:gd name="connsiteX47" fmla="*/ 156955 w 353448"/>
              <a:gd name="connsiteY47" fmla="*/ 353277 h 353792"/>
              <a:gd name="connsiteX48" fmla="*/ 152485 w 353448"/>
              <a:gd name="connsiteY48" fmla="*/ 351042 h 353792"/>
              <a:gd name="connsiteX49" fmla="*/ 149563 w 353448"/>
              <a:gd name="connsiteY49" fmla="*/ 347947 h 353792"/>
              <a:gd name="connsiteX50" fmla="*/ 144405 w 353448"/>
              <a:gd name="connsiteY50" fmla="*/ 329037 h 353792"/>
              <a:gd name="connsiteX51" fmla="*/ 139420 w 353448"/>
              <a:gd name="connsiteY51" fmla="*/ 311159 h 353792"/>
              <a:gd name="connsiteX52" fmla="*/ 124292 w 353448"/>
              <a:gd name="connsiteY52" fmla="*/ 304626 h 353792"/>
              <a:gd name="connsiteX53" fmla="*/ 109679 w 353448"/>
              <a:gd name="connsiteY53" fmla="*/ 298781 h 353792"/>
              <a:gd name="connsiteX54" fmla="*/ 96958 w 353448"/>
              <a:gd name="connsiteY54" fmla="*/ 309096 h 353792"/>
              <a:gd name="connsiteX55" fmla="*/ 83033 w 353448"/>
              <a:gd name="connsiteY55" fmla="*/ 319410 h 353792"/>
              <a:gd name="connsiteX56" fmla="*/ 76157 w 353448"/>
              <a:gd name="connsiteY56" fmla="*/ 320613 h 353792"/>
              <a:gd name="connsiteX57" fmla="*/ 72031 w 353448"/>
              <a:gd name="connsiteY57" fmla="*/ 319238 h 353792"/>
              <a:gd name="connsiteX58" fmla="*/ 52261 w 353448"/>
              <a:gd name="connsiteY58" fmla="*/ 300156 h 353792"/>
              <a:gd name="connsiteX59" fmla="*/ 37133 w 353448"/>
              <a:gd name="connsiteY59" fmla="*/ 284513 h 353792"/>
              <a:gd name="connsiteX60" fmla="*/ 33523 w 353448"/>
              <a:gd name="connsiteY60" fmla="*/ 279011 h 353792"/>
              <a:gd name="connsiteX61" fmla="*/ 34726 w 353448"/>
              <a:gd name="connsiteY61" fmla="*/ 269384 h 353792"/>
              <a:gd name="connsiteX62" fmla="*/ 45900 w 353448"/>
              <a:gd name="connsiteY62" fmla="*/ 256319 h 353792"/>
              <a:gd name="connsiteX63" fmla="*/ 55871 w 353448"/>
              <a:gd name="connsiteY63" fmla="*/ 245145 h 353792"/>
              <a:gd name="connsiteX64" fmla="*/ 48479 w 353448"/>
              <a:gd name="connsiteY64" fmla="*/ 228125 h 353792"/>
              <a:gd name="connsiteX65" fmla="*/ 42118 w 353448"/>
              <a:gd name="connsiteY65" fmla="*/ 214545 h 353792"/>
              <a:gd name="connsiteX66" fmla="*/ 24927 w 353448"/>
              <a:gd name="connsiteY66" fmla="*/ 209559 h 353792"/>
              <a:gd name="connsiteX67" fmla="*/ 6877 w 353448"/>
              <a:gd name="connsiteY67" fmla="*/ 204402 h 353792"/>
              <a:gd name="connsiteX68" fmla="*/ 3095 w 353448"/>
              <a:gd name="connsiteY68" fmla="*/ 201307 h 353792"/>
              <a:gd name="connsiteX69" fmla="*/ 516 w 353448"/>
              <a:gd name="connsiteY69" fmla="*/ 196666 h 353792"/>
              <a:gd name="connsiteX70" fmla="*/ 0 w 353448"/>
              <a:gd name="connsiteY70" fmla="*/ 177068 h 353792"/>
              <a:gd name="connsiteX71" fmla="*/ 516 w 353448"/>
              <a:gd name="connsiteY71" fmla="*/ 157470 h 353792"/>
              <a:gd name="connsiteX72" fmla="*/ 2751 w 353448"/>
              <a:gd name="connsiteY72" fmla="*/ 153000 h 353792"/>
              <a:gd name="connsiteX73" fmla="*/ 6189 w 353448"/>
              <a:gd name="connsiteY73" fmla="*/ 149906 h 353792"/>
              <a:gd name="connsiteX74" fmla="*/ 22864 w 353448"/>
              <a:gd name="connsiteY74" fmla="*/ 145436 h 353792"/>
              <a:gd name="connsiteX75" fmla="*/ 26302 w 353448"/>
              <a:gd name="connsiteY75" fmla="*/ 144749 h 353792"/>
              <a:gd name="connsiteX76" fmla="*/ 40399 w 353448"/>
              <a:gd name="connsiteY76" fmla="*/ 141311 h 353792"/>
              <a:gd name="connsiteX77" fmla="*/ 42978 w 353448"/>
              <a:gd name="connsiteY77" fmla="*/ 139420 h 353792"/>
              <a:gd name="connsiteX78" fmla="*/ 54840 w 353448"/>
              <a:gd name="connsiteY78" fmla="*/ 110195 h 353792"/>
              <a:gd name="connsiteX79" fmla="*/ 44525 w 353448"/>
              <a:gd name="connsiteY79" fmla="*/ 97473 h 353792"/>
              <a:gd name="connsiteX80" fmla="*/ 34211 w 353448"/>
              <a:gd name="connsiteY80" fmla="*/ 83549 h 353792"/>
              <a:gd name="connsiteX81" fmla="*/ 33007 w 353448"/>
              <a:gd name="connsiteY81" fmla="*/ 76672 h 353792"/>
              <a:gd name="connsiteX82" fmla="*/ 34382 w 353448"/>
              <a:gd name="connsiteY82" fmla="*/ 72546 h 353792"/>
              <a:gd name="connsiteX83" fmla="*/ 53465 w 353448"/>
              <a:gd name="connsiteY83" fmla="*/ 52777 h 353792"/>
              <a:gd name="connsiteX84" fmla="*/ 69108 w 353448"/>
              <a:gd name="connsiteY84" fmla="*/ 37648 h 353792"/>
              <a:gd name="connsiteX85" fmla="*/ 74609 w 353448"/>
              <a:gd name="connsiteY85" fmla="*/ 34039 h 353792"/>
              <a:gd name="connsiteX86" fmla="*/ 84237 w 353448"/>
              <a:gd name="connsiteY86" fmla="*/ 35242 h 353792"/>
              <a:gd name="connsiteX87" fmla="*/ 97302 w 353448"/>
              <a:gd name="connsiteY87" fmla="*/ 46416 h 353792"/>
              <a:gd name="connsiteX88" fmla="*/ 106928 w 353448"/>
              <a:gd name="connsiteY88" fmla="*/ 54668 h 353792"/>
              <a:gd name="connsiteX89" fmla="*/ 110023 w 353448"/>
              <a:gd name="connsiteY89" fmla="*/ 55699 h 353792"/>
              <a:gd name="connsiteX90" fmla="*/ 138904 w 353448"/>
              <a:gd name="connsiteY90" fmla="*/ 43837 h 353792"/>
              <a:gd name="connsiteX91" fmla="*/ 143890 w 353448"/>
              <a:gd name="connsiteY91" fmla="*/ 26131 h 353792"/>
              <a:gd name="connsiteX92" fmla="*/ 149047 w 353448"/>
              <a:gd name="connsiteY92" fmla="*/ 7048 h 353792"/>
              <a:gd name="connsiteX93" fmla="*/ 151969 w 353448"/>
              <a:gd name="connsiteY93" fmla="*/ 3954 h 353792"/>
              <a:gd name="connsiteX94" fmla="*/ 155751 w 353448"/>
              <a:gd name="connsiteY94" fmla="*/ 1375 h 353792"/>
              <a:gd name="connsiteX95" fmla="*/ 175693 w 353448"/>
              <a:gd name="connsiteY95" fmla="*/ 0 h 353792"/>
              <a:gd name="connsiteX96" fmla="*/ 182570 w 353448"/>
              <a:gd name="connsiteY96" fmla="*/ 24927 h 353792"/>
              <a:gd name="connsiteX97" fmla="*/ 169504 w 353448"/>
              <a:gd name="connsiteY97" fmla="*/ 24927 h 353792"/>
              <a:gd name="connsiteX98" fmla="*/ 164862 w 353448"/>
              <a:gd name="connsiteY98" fmla="*/ 42290 h 353792"/>
              <a:gd name="connsiteX99" fmla="*/ 160737 w 353448"/>
              <a:gd name="connsiteY99" fmla="*/ 56559 h 353792"/>
              <a:gd name="connsiteX100" fmla="*/ 157470 w 353448"/>
              <a:gd name="connsiteY100" fmla="*/ 61372 h 353792"/>
              <a:gd name="connsiteX101" fmla="*/ 132371 w 353448"/>
              <a:gd name="connsiteY101" fmla="*/ 72718 h 353792"/>
              <a:gd name="connsiteX102" fmla="*/ 114321 w 353448"/>
              <a:gd name="connsiteY102" fmla="*/ 79939 h 353792"/>
              <a:gd name="connsiteX103" fmla="*/ 105726 w 353448"/>
              <a:gd name="connsiteY103" fmla="*/ 82173 h 353792"/>
              <a:gd name="connsiteX104" fmla="*/ 101084 w 353448"/>
              <a:gd name="connsiteY104" fmla="*/ 80970 h 353792"/>
              <a:gd name="connsiteX105" fmla="*/ 88878 w 353448"/>
              <a:gd name="connsiteY105" fmla="*/ 70999 h 353792"/>
              <a:gd name="connsiteX106" fmla="*/ 78563 w 353448"/>
              <a:gd name="connsiteY106" fmla="*/ 62232 h 353792"/>
              <a:gd name="connsiteX107" fmla="*/ 62060 w 353448"/>
              <a:gd name="connsiteY107" fmla="*/ 79251 h 353792"/>
              <a:gd name="connsiteX108" fmla="*/ 70828 w 353448"/>
              <a:gd name="connsiteY108" fmla="*/ 90081 h 353792"/>
              <a:gd name="connsiteX109" fmla="*/ 80798 w 353448"/>
              <a:gd name="connsiteY109" fmla="*/ 103490 h 353792"/>
              <a:gd name="connsiteX110" fmla="*/ 81142 w 353448"/>
              <a:gd name="connsiteY110" fmla="*/ 108648 h 353792"/>
              <a:gd name="connsiteX111" fmla="*/ 71343 w 353448"/>
              <a:gd name="connsiteY111" fmla="*/ 134434 h 353792"/>
              <a:gd name="connsiteX112" fmla="*/ 60169 w 353448"/>
              <a:gd name="connsiteY112" fmla="*/ 159189 h 353792"/>
              <a:gd name="connsiteX113" fmla="*/ 55184 w 353448"/>
              <a:gd name="connsiteY113" fmla="*/ 162284 h 353792"/>
              <a:gd name="connsiteX114" fmla="*/ 40055 w 353448"/>
              <a:gd name="connsiteY114" fmla="*/ 166066 h 353792"/>
              <a:gd name="connsiteX115" fmla="*/ 25443 w 353448"/>
              <a:gd name="connsiteY115" fmla="*/ 169504 h 353792"/>
              <a:gd name="connsiteX116" fmla="*/ 25099 w 353448"/>
              <a:gd name="connsiteY116" fmla="*/ 183429 h 353792"/>
              <a:gd name="connsiteX117" fmla="*/ 40055 w 353448"/>
              <a:gd name="connsiteY117" fmla="*/ 187727 h 353792"/>
              <a:gd name="connsiteX118" fmla="*/ 56215 w 353448"/>
              <a:gd name="connsiteY118" fmla="*/ 192540 h 353792"/>
              <a:gd name="connsiteX119" fmla="*/ 61544 w 353448"/>
              <a:gd name="connsiteY119" fmla="*/ 195978 h 353792"/>
              <a:gd name="connsiteX120" fmla="*/ 72375 w 353448"/>
              <a:gd name="connsiteY120" fmla="*/ 220733 h 353792"/>
              <a:gd name="connsiteX121" fmla="*/ 80110 w 353448"/>
              <a:gd name="connsiteY121" fmla="*/ 238784 h 353792"/>
              <a:gd name="connsiteX122" fmla="*/ 82345 w 353448"/>
              <a:gd name="connsiteY122" fmla="*/ 247380 h 353792"/>
              <a:gd name="connsiteX123" fmla="*/ 81142 w 353448"/>
              <a:gd name="connsiteY123" fmla="*/ 252021 h 353792"/>
              <a:gd name="connsiteX124" fmla="*/ 71171 w 353448"/>
              <a:gd name="connsiteY124" fmla="*/ 264571 h 353792"/>
              <a:gd name="connsiteX125" fmla="*/ 62404 w 353448"/>
              <a:gd name="connsiteY125" fmla="*/ 274541 h 353792"/>
              <a:gd name="connsiteX126" fmla="*/ 79423 w 353448"/>
              <a:gd name="connsiteY126" fmla="*/ 291045 h 353792"/>
              <a:gd name="connsiteX127" fmla="*/ 90253 w 353448"/>
              <a:gd name="connsiteY127" fmla="*/ 282278 h 353792"/>
              <a:gd name="connsiteX128" fmla="*/ 103319 w 353448"/>
              <a:gd name="connsiteY128" fmla="*/ 272307 h 353792"/>
              <a:gd name="connsiteX129" fmla="*/ 111226 w 353448"/>
              <a:gd name="connsiteY129" fmla="*/ 272479 h 353792"/>
              <a:gd name="connsiteX130" fmla="*/ 132199 w 353448"/>
              <a:gd name="connsiteY130" fmla="*/ 280730 h 353792"/>
              <a:gd name="connsiteX131" fmla="*/ 156955 w 353448"/>
              <a:gd name="connsiteY131" fmla="*/ 291045 h 353792"/>
              <a:gd name="connsiteX132" fmla="*/ 161597 w 353448"/>
              <a:gd name="connsiteY132" fmla="*/ 296890 h 353792"/>
              <a:gd name="connsiteX133" fmla="*/ 166410 w 353448"/>
              <a:gd name="connsiteY133" fmla="*/ 313909 h 353792"/>
              <a:gd name="connsiteX134" fmla="*/ 169848 w 353448"/>
              <a:gd name="connsiteY134" fmla="*/ 328177 h 353792"/>
              <a:gd name="connsiteX135" fmla="*/ 183773 w 353448"/>
              <a:gd name="connsiteY135" fmla="*/ 328177 h 353792"/>
              <a:gd name="connsiteX136" fmla="*/ 187211 w 353448"/>
              <a:gd name="connsiteY136" fmla="*/ 313909 h 353792"/>
              <a:gd name="connsiteX137" fmla="*/ 192025 w 353448"/>
              <a:gd name="connsiteY137" fmla="*/ 297577 h 353792"/>
              <a:gd name="connsiteX138" fmla="*/ 196150 w 353448"/>
              <a:gd name="connsiteY138" fmla="*/ 291560 h 353792"/>
              <a:gd name="connsiteX139" fmla="*/ 220905 w 353448"/>
              <a:gd name="connsiteY139" fmla="*/ 280730 h 353792"/>
              <a:gd name="connsiteX140" fmla="*/ 245317 w 353448"/>
              <a:gd name="connsiteY140" fmla="*/ 271103 h 353792"/>
              <a:gd name="connsiteX141" fmla="*/ 253225 w 353448"/>
              <a:gd name="connsiteY141" fmla="*/ 273338 h 353792"/>
              <a:gd name="connsiteX142" fmla="*/ 268009 w 353448"/>
              <a:gd name="connsiteY142" fmla="*/ 284856 h 353792"/>
              <a:gd name="connsiteX143" fmla="*/ 274886 w 353448"/>
              <a:gd name="connsiteY143" fmla="*/ 290701 h 353792"/>
              <a:gd name="connsiteX144" fmla="*/ 282965 w 353448"/>
              <a:gd name="connsiteY144" fmla="*/ 282621 h 353792"/>
              <a:gd name="connsiteX145" fmla="*/ 291045 w 353448"/>
              <a:gd name="connsiteY145" fmla="*/ 274198 h 353792"/>
              <a:gd name="connsiteX146" fmla="*/ 282621 w 353448"/>
              <a:gd name="connsiteY146" fmla="*/ 263711 h 353792"/>
              <a:gd name="connsiteX147" fmla="*/ 273166 w 353448"/>
              <a:gd name="connsiteY147" fmla="*/ 251849 h 353792"/>
              <a:gd name="connsiteX148" fmla="*/ 271447 w 353448"/>
              <a:gd name="connsiteY148" fmla="*/ 245488 h 353792"/>
              <a:gd name="connsiteX149" fmla="*/ 281074 w 353448"/>
              <a:gd name="connsiteY149" fmla="*/ 220218 h 353792"/>
              <a:gd name="connsiteX150" fmla="*/ 291905 w 353448"/>
              <a:gd name="connsiteY150" fmla="*/ 195462 h 353792"/>
              <a:gd name="connsiteX151" fmla="*/ 296546 w 353448"/>
              <a:gd name="connsiteY151" fmla="*/ 191852 h 353792"/>
              <a:gd name="connsiteX152" fmla="*/ 309955 w 353448"/>
              <a:gd name="connsiteY152" fmla="*/ 188070 h 353792"/>
              <a:gd name="connsiteX153" fmla="*/ 328522 w 353448"/>
              <a:gd name="connsiteY153" fmla="*/ 183085 h 353792"/>
              <a:gd name="connsiteX154" fmla="*/ 328522 w 353448"/>
              <a:gd name="connsiteY154" fmla="*/ 169676 h 353792"/>
              <a:gd name="connsiteX155" fmla="*/ 293108 w 353448"/>
              <a:gd name="connsiteY155" fmla="*/ 160393 h 353792"/>
              <a:gd name="connsiteX156" fmla="*/ 282278 w 353448"/>
              <a:gd name="connsiteY156" fmla="*/ 134950 h 353792"/>
              <a:gd name="connsiteX157" fmla="*/ 272994 w 353448"/>
              <a:gd name="connsiteY157" fmla="*/ 111054 h 353792"/>
              <a:gd name="connsiteX158" fmla="*/ 272307 w 353448"/>
              <a:gd name="connsiteY158" fmla="*/ 102631 h 353792"/>
              <a:gd name="connsiteX159" fmla="*/ 281074 w 353448"/>
              <a:gd name="connsiteY159" fmla="*/ 91113 h 353792"/>
              <a:gd name="connsiteX160" fmla="*/ 290357 w 353448"/>
              <a:gd name="connsiteY160" fmla="*/ 79939 h 353792"/>
              <a:gd name="connsiteX161" fmla="*/ 290014 w 353448"/>
              <a:gd name="connsiteY161" fmla="*/ 77360 h 353792"/>
              <a:gd name="connsiteX162" fmla="*/ 283137 w 353448"/>
              <a:gd name="connsiteY162" fmla="*/ 70311 h 353792"/>
              <a:gd name="connsiteX163" fmla="*/ 274714 w 353448"/>
              <a:gd name="connsiteY163" fmla="*/ 62232 h 353792"/>
              <a:gd name="connsiteX164" fmla="*/ 263883 w 353448"/>
              <a:gd name="connsiteY164" fmla="*/ 71515 h 353792"/>
              <a:gd name="connsiteX165" fmla="*/ 252021 w 353448"/>
              <a:gd name="connsiteY165" fmla="*/ 80282 h 353792"/>
              <a:gd name="connsiteX166" fmla="*/ 245488 w 353448"/>
              <a:gd name="connsiteY166" fmla="*/ 81830 h 353792"/>
              <a:gd name="connsiteX167" fmla="*/ 220046 w 353448"/>
              <a:gd name="connsiteY167" fmla="*/ 71859 h 353792"/>
              <a:gd name="connsiteX168" fmla="*/ 195463 w 353448"/>
              <a:gd name="connsiteY168" fmla="*/ 61028 h 353792"/>
              <a:gd name="connsiteX169" fmla="*/ 191681 w 353448"/>
              <a:gd name="connsiteY169" fmla="*/ 55871 h 353792"/>
              <a:gd name="connsiteX170" fmla="*/ 187383 w 353448"/>
              <a:gd name="connsiteY170" fmla="*/ 42634 h 353792"/>
              <a:gd name="connsiteX171" fmla="*/ 183601 w 353448"/>
              <a:gd name="connsiteY171" fmla="*/ 26818 h 353792"/>
              <a:gd name="connsiteX172" fmla="*/ 182570 w 353448"/>
              <a:gd name="connsiteY172" fmla="*/ 24927 h 353792"/>
              <a:gd name="connsiteX173" fmla="*/ 185320 w 353448"/>
              <a:gd name="connsiteY173" fmla="*/ 115868 h 353792"/>
              <a:gd name="connsiteX174" fmla="*/ 201824 w 353448"/>
              <a:gd name="connsiteY174" fmla="*/ 120510 h 353792"/>
              <a:gd name="connsiteX175" fmla="*/ 220562 w 353448"/>
              <a:gd name="connsiteY175" fmla="*/ 133403 h 353792"/>
              <a:gd name="connsiteX176" fmla="*/ 233455 w 353448"/>
              <a:gd name="connsiteY176" fmla="*/ 152485 h 353792"/>
              <a:gd name="connsiteX177" fmla="*/ 238441 w 353448"/>
              <a:gd name="connsiteY177" fmla="*/ 176724 h 353792"/>
              <a:gd name="connsiteX178" fmla="*/ 233455 w 353448"/>
              <a:gd name="connsiteY178" fmla="*/ 200964 h 353792"/>
              <a:gd name="connsiteX179" fmla="*/ 220046 w 353448"/>
              <a:gd name="connsiteY179" fmla="*/ 220390 h 353792"/>
              <a:gd name="connsiteX180" fmla="*/ 200792 w 353448"/>
              <a:gd name="connsiteY180" fmla="*/ 233627 h 353792"/>
              <a:gd name="connsiteX181" fmla="*/ 176553 w 353448"/>
              <a:gd name="connsiteY181" fmla="*/ 238096 h 353792"/>
              <a:gd name="connsiteX182" fmla="*/ 152657 w 353448"/>
              <a:gd name="connsiteY182" fmla="*/ 233283 h 353792"/>
              <a:gd name="connsiteX183" fmla="*/ 133575 w 353448"/>
              <a:gd name="connsiteY183" fmla="*/ 220046 h 353792"/>
              <a:gd name="connsiteX184" fmla="*/ 120338 w 353448"/>
              <a:gd name="connsiteY184" fmla="*/ 200964 h 353792"/>
              <a:gd name="connsiteX185" fmla="*/ 115696 w 353448"/>
              <a:gd name="connsiteY185" fmla="*/ 181882 h 353792"/>
              <a:gd name="connsiteX186" fmla="*/ 116900 w 353448"/>
              <a:gd name="connsiteY186" fmla="*/ 162799 h 353792"/>
              <a:gd name="connsiteX187" fmla="*/ 135638 w 353448"/>
              <a:gd name="connsiteY187" fmla="*/ 130996 h 353792"/>
              <a:gd name="connsiteX188" fmla="*/ 168989 w 353448"/>
              <a:gd name="connsiteY188" fmla="*/ 115352 h 353792"/>
              <a:gd name="connsiteX189" fmla="*/ 185320 w 353448"/>
              <a:gd name="connsiteY189" fmla="*/ 115868 h 353792"/>
              <a:gd name="connsiteX190" fmla="*/ 176553 w 353448"/>
              <a:gd name="connsiteY190" fmla="*/ 140107 h 353792"/>
              <a:gd name="connsiteX191" fmla="*/ 167441 w 353448"/>
              <a:gd name="connsiteY191" fmla="*/ 140795 h 353792"/>
              <a:gd name="connsiteX192" fmla="*/ 150938 w 353448"/>
              <a:gd name="connsiteY192" fmla="*/ 150422 h 353792"/>
              <a:gd name="connsiteX193" fmla="*/ 141311 w 353448"/>
              <a:gd name="connsiteY193" fmla="*/ 166582 h 353792"/>
              <a:gd name="connsiteX194" fmla="*/ 140967 w 353448"/>
              <a:gd name="connsiteY194" fmla="*/ 185492 h 353792"/>
              <a:gd name="connsiteX195" fmla="*/ 150250 w 353448"/>
              <a:gd name="connsiteY195" fmla="*/ 202167 h 353792"/>
              <a:gd name="connsiteX196" fmla="*/ 166582 w 353448"/>
              <a:gd name="connsiteY196" fmla="*/ 211966 h 353792"/>
              <a:gd name="connsiteX197" fmla="*/ 185664 w 353448"/>
              <a:gd name="connsiteY197" fmla="*/ 212310 h 353792"/>
              <a:gd name="connsiteX198" fmla="*/ 202339 w 353448"/>
              <a:gd name="connsiteY198" fmla="*/ 203027 h 353792"/>
              <a:gd name="connsiteX199" fmla="*/ 212138 w 353448"/>
              <a:gd name="connsiteY199" fmla="*/ 186695 h 353792"/>
              <a:gd name="connsiteX200" fmla="*/ 212482 w 353448"/>
              <a:gd name="connsiteY200" fmla="*/ 167441 h 353792"/>
              <a:gd name="connsiteX201" fmla="*/ 202855 w 353448"/>
              <a:gd name="connsiteY201" fmla="*/ 150250 h 353792"/>
              <a:gd name="connsiteX202" fmla="*/ 185492 w 353448"/>
              <a:gd name="connsiteY202" fmla="*/ 140623 h 353792"/>
              <a:gd name="connsiteX203" fmla="*/ 176553 w 353448"/>
              <a:gd name="connsiteY203" fmla="*/ 140107 h 35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353448" h="353792">
                <a:moveTo>
                  <a:pt x="175693" y="0"/>
                </a:moveTo>
                <a:cubicBezTo>
                  <a:pt x="187039" y="0"/>
                  <a:pt x="193572" y="344"/>
                  <a:pt x="195291" y="688"/>
                </a:cubicBezTo>
                <a:cubicBezTo>
                  <a:pt x="197010" y="1204"/>
                  <a:pt x="198901" y="2235"/>
                  <a:pt x="200620" y="3782"/>
                </a:cubicBezTo>
                <a:cubicBezTo>
                  <a:pt x="201995" y="4986"/>
                  <a:pt x="202855" y="6533"/>
                  <a:pt x="203542" y="8252"/>
                </a:cubicBezTo>
                <a:cubicBezTo>
                  <a:pt x="204230" y="9971"/>
                  <a:pt x="205606" y="15300"/>
                  <a:pt x="208012" y="24239"/>
                </a:cubicBezTo>
                <a:lnTo>
                  <a:pt x="212654" y="42290"/>
                </a:lnTo>
                <a:lnTo>
                  <a:pt x="228470" y="48823"/>
                </a:lnTo>
                <a:cubicBezTo>
                  <a:pt x="238956" y="52949"/>
                  <a:pt x="244457" y="54840"/>
                  <a:pt x="244801" y="54840"/>
                </a:cubicBezTo>
                <a:cubicBezTo>
                  <a:pt x="245145" y="54668"/>
                  <a:pt x="249443" y="51230"/>
                  <a:pt x="257522" y="44525"/>
                </a:cubicBezTo>
                <a:cubicBezTo>
                  <a:pt x="265602" y="37648"/>
                  <a:pt x="270588" y="34039"/>
                  <a:pt x="272307" y="33523"/>
                </a:cubicBezTo>
                <a:cubicBezTo>
                  <a:pt x="275401" y="32835"/>
                  <a:pt x="278324" y="33179"/>
                  <a:pt x="281074" y="34726"/>
                </a:cubicBezTo>
                <a:cubicBezTo>
                  <a:pt x="282450" y="35242"/>
                  <a:pt x="288982" y="41602"/>
                  <a:pt x="301188" y="53636"/>
                </a:cubicBezTo>
                <a:cubicBezTo>
                  <a:pt x="308580" y="61372"/>
                  <a:pt x="313566" y="66530"/>
                  <a:pt x="315972" y="69108"/>
                </a:cubicBezTo>
                <a:cubicBezTo>
                  <a:pt x="318379" y="71687"/>
                  <a:pt x="319754" y="73578"/>
                  <a:pt x="320098" y="74781"/>
                </a:cubicBezTo>
                <a:cubicBezTo>
                  <a:pt x="320785" y="77704"/>
                  <a:pt x="320785" y="80110"/>
                  <a:pt x="319754" y="82345"/>
                </a:cubicBezTo>
                <a:cubicBezTo>
                  <a:pt x="318723" y="84580"/>
                  <a:pt x="315456" y="88878"/>
                  <a:pt x="310127" y="95239"/>
                </a:cubicBezTo>
                <a:lnTo>
                  <a:pt x="298265" y="109163"/>
                </a:lnTo>
                <a:lnTo>
                  <a:pt x="311331" y="139936"/>
                </a:lnTo>
                <a:lnTo>
                  <a:pt x="330585" y="144921"/>
                </a:lnTo>
                <a:cubicBezTo>
                  <a:pt x="340555" y="147500"/>
                  <a:pt x="346228" y="149047"/>
                  <a:pt x="347260" y="149734"/>
                </a:cubicBezTo>
                <a:cubicBezTo>
                  <a:pt x="348463" y="150422"/>
                  <a:pt x="349495" y="151453"/>
                  <a:pt x="350698" y="152829"/>
                </a:cubicBezTo>
                <a:cubicBezTo>
                  <a:pt x="351901" y="154204"/>
                  <a:pt x="352589" y="155751"/>
                  <a:pt x="352933" y="157298"/>
                </a:cubicBezTo>
                <a:cubicBezTo>
                  <a:pt x="353277" y="158845"/>
                  <a:pt x="353448" y="165378"/>
                  <a:pt x="353448" y="176724"/>
                </a:cubicBezTo>
                <a:cubicBezTo>
                  <a:pt x="353448" y="188070"/>
                  <a:pt x="353277" y="194603"/>
                  <a:pt x="352761" y="196322"/>
                </a:cubicBezTo>
                <a:cubicBezTo>
                  <a:pt x="352245" y="198041"/>
                  <a:pt x="351214" y="199589"/>
                  <a:pt x="349666" y="201307"/>
                </a:cubicBezTo>
                <a:cubicBezTo>
                  <a:pt x="348119" y="203027"/>
                  <a:pt x="346401" y="204058"/>
                  <a:pt x="344337" y="204574"/>
                </a:cubicBezTo>
                <a:lnTo>
                  <a:pt x="326630" y="209559"/>
                </a:lnTo>
                <a:cubicBezTo>
                  <a:pt x="316832" y="211794"/>
                  <a:pt x="311674" y="213341"/>
                  <a:pt x="311159" y="213857"/>
                </a:cubicBezTo>
                <a:cubicBezTo>
                  <a:pt x="310643" y="214373"/>
                  <a:pt x="308408" y="219530"/>
                  <a:pt x="304454" y="229329"/>
                </a:cubicBezTo>
                <a:cubicBezTo>
                  <a:pt x="300500" y="239128"/>
                  <a:pt x="298609" y="244113"/>
                  <a:pt x="298609" y="244457"/>
                </a:cubicBezTo>
                <a:cubicBezTo>
                  <a:pt x="298781" y="244801"/>
                  <a:pt x="302219" y="248927"/>
                  <a:pt x="308752" y="257007"/>
                </a:cubicBezTo>
                <a:lnTo>
                  <a:pt x="310643" y="259242"/>
                </a:lnTo>
                <a:cubicBezTo>
                  <a:pt x="315800" y="265430"/>
                  <a:pt x="318895" y="269556"/>
                  <a:pt x="319926" y="271963"/>
                </a:cubicBezTo>
                <a:cubicBezTo>
                  <a:pt x="321301" y="275057"/>
                  <a:pt x="320614" y="278323"/>
                  <a:pt x="318035" y="281590"/>
                </a:cubicBezTo>
                <a:cubicBezTo>
                  <a:pt x="316144" y="284168"/>
                  <a:pt x="311503" y="289498"/>
                  <a:pt x="303766" y="297406"/>
                </a:cubicBezTo>
                <a:lnTo>
                  <a:pt x="301016" y="300156"/>
                </a:lnTo>
                <a:cubicBezTo>
                  <a:pt x="288982" y="312190"/>
                  <a:pt x="282278" y="318551"/>
                  <a:pt x="280902" y="319066"/>
                </a:cubicBezTo>
                <a:cubicBezTo>
                  <a:pt x="278152" y="320613"/>
                  <a:pt x="275401" y="321129"/>
                  <a:pt x="272823" y="320442"/>
                </a:cubicBezTo>
                <a:cubicBezTo>
                  <a:pt x="270244" y="319754"/>
                  <a:pt x="267149" y="317863"/>
                  <a:pt x="263539" y="314768"/>
                </a:cubicBezTo>
                <a:cubicBezTo>
                  <a:pt x="251505" y="303938"/>
                  <a:pt x="245145" y="298609"/>
                  <a:pt x="244457" y="298609"/>
                </a:cubicBezTo>
                <a:cubicBezTo>
                  <a:pt x="243770" y="298609"/>
                  <a:pt x="238612" y="300672"/>
                  <a:pt x="228813" y="304626"/>
                </a:cubicBezTo>
                <a:cubicBezTo>
                  <a:pt x="219015" y="308580"/>
                  <a:pt x="214029" y="310643"/>
                  <a:pt x="213685" y="310986"/>
                </a:cubicBezTo>
                <a:cubicBezTo>
                  <a:pt x="213341" y="311331"/>
                  <a:pt x="211622" y="317003"/>
                  <a:pt x="208872" y="328177"/>
                </a:cubicBezTo>
                <a:cubicBezTo>
                  <a:pt x="205949" y="339352"/>
                  <a:pt x="204402" y="345541"/>
                  <a:pt x="203886" y="346916"/>
                </a:cubicBezTo>
                <a:cubicBezTo>
                  <a:pt x="203371" y="348291"/>
                  <a:pt x="202339" y="349495"/>
                  <a:pt x="200792" y="350698"/>
                </a:cubicBezTo>
                <a:cubicBezTo>
                  <a:pt x="199244" y="351901"/>
                  <a:pt x="197697" y="352761"/>
                  <a:pt x="196150" y="353277"/>
                </a:cubicBezTo>
                <a:cubicBezTo>
                  <a:pt x="194603" y="353793"/>
                  <a:pt x="188070" y="353793"/>
                  <a:pt x="176553" y="353793"/>
                </a:cubicBezTo>
                <a:cubicBezTo>
                  <a:pt x="165034" y="353793"/>
                  <a:pt x="158502" y="353620"/>
                  <a:pt x="156955" y="353277"/>
                </a:cubicBezTo>
                <a:cubicBezTo>
                  <a:pt x="155407" y="352933"/>
                  <a:pt x="153860" y="352073"/>
                  <a:pt x="152485" y="351042"/>
                </a:cubicBezTo>
                <a:cubicBezTo>
                  <a:pt x="151110" y="349838"/>
                  <a:pt x="150078" y="348807"/>
                  <a:pt x="149563" y="347947"/>
                </a:cubicBezTo>
                <a:cubicBezTo>
                  <a:pt x="149047" y="347088"/>
                  <a:pt x="147328" y="340727"/>
                  <a:pt x="144405" y="329037"/>
                </a:cubicBezTo>
                <a:cubicBezTo>
                  <a:pt x="141483" y="317347"/>
                  <a:pt x="139764" y="311331"/>
                  <a:pt x="139420" y="311159"/>
                </a:cubicBezTo>
                <a:cubicBezTo>
                  <a:pt x="139076" y="310986"/>
                  <a:pt x="133919" y="308752"/>
                  <a:pt x="124292" y="304626"/>
                </a:cubicBezTo>
                <a:lnTo>
                  <a:pt x="109679" y="298781"/>
                </a:lnTo>
                <a:lnTo>
                  <a:pt x="96958" y="309096"/>
                </a:lnTo>
                <a:cubicBezTo>
                  <a:pt x="90082" y="314768"/>
                  <a:pt x="85440" y="318207"/>
                  <a:pt x="83033" y="319410"/>
                </a:cubicBezTo>
                <a:cubicBezTo>
                  <a:pt x="80798" y="320785"/>
                  <a:pt x="78391" y="321129"/>
                  <a:pt x="76157" y="320613"/>
                </a:cubicBezTo>
                <a:cubicBezTo>
                  <a:pt x="74609" y="320442"/>
                  <a:pt x="73234" y="319926"/>
                  <a:pt x="72031" y="319238"/>
                </a:cubicBezTo>
                <a:cubicBezTo>
                  <a:pt x="70828" y="318551"/>
                  <a:pt x="64295" y="312190"/>
                  <a:pt x="52261" y="300156"/>
                </a:cubicBezTo>
                <a:cubicBezTo>
                  <a:pt x="44353" y="292248"/>
                  <a:pt x="39196" y="287091"/>
                  <a:pt x="37133" y="284513"/>
                </a:cubicBezTo>
                <a:cubicBezTo>
                  <a:pt x="34898" y="282106"/>
                  <a:pt x="33695" y="280215"/>
                  <a:pt x="33523" y="279011"/>
                </a:cubicBezTo>
                <a:cubicBezTo>
                  <a:pt x="32491" y="275401"/>
                  <a:pt x="32835" y="272135"/>
                  <a:pt x="34726" y="269384"/>
                </a:cubicBezTo>
                <a:cubicBezTo>
                  <a:pt x="35414" y="268009"/>
                  <a:pt x="39196" y="263711"/>
                  <a:pt x="45900" y="256319"/>
                </a:cubicBezTo>
                <a:lnTo>
                  <a:pt x="55871" y="245145"/>
                </a:lnTo>
                <a:lnTo>
                  <a:pt x="48479" y="228125"/>
                </a:lnTo>
                <a:cubicBezTo>
                  <a:pt x="44869" y="219358"/>
                  <a:pt x="42806" y="214888"/>
                  <a:pt x="42118" y="214545"/>
                </a:cubicBezTo>
                <a:cubicBezTo>
                  <a:pt x="41431" y="214201"/>
                  <a:pt x="35758" y="212482"/>
                  <a:pt x="24927" y="209559"/>
                </a:cubicBezTo>
                <a:cubicBezTo>
                  <a:pt x="14097" y="206636"/>
                  <a:pt x="8080" y="204918"/>
                  <a:pt x="6877" y="204402"/>
                </a:cubicBezTo>
                <a:cubicBezTo>
                  <a:pt x="5501" y="203886"/>
                  <a:pt x="4298" y="202855"/>
                  <a:pt x="3095" y="201307"/>
                </a:cubicBezTo>
                <a:cubicBezTo>
                  <a:pt x="1719" y="199760"/>
                  <a:pt x="1031" y="198213"/>
                  <a:pt x="516" y="196666"/>
                </a:cubicBezTo>
                <a:cubicBezTo>
                  <a:pt x="0" y="195119"/>
                  <a:pt x="0" y="188586"/>
                  <a:pt x="0" y="177068"/>
                </a:cubicBezTo>
                <a:cubicBezTo>
                  <a:pt x="0" y="165550"/>
                  <a:pt x="172" y="159017"/>
                  <a:pt x="516" y="157470"/>
                </a:cubicBezTo>
                <a:cubicBezTo>
                  <a:pt x="860" y="155923"/>
                  <a:pt x="1719" y="154548"/>
                  <a:pt x="2751" y="153000"/>
                </a:cubicBezTo>
                <a:cubicBezTo>
                  <a:pt x="3782" y="151453"/>
                  <a:pt x="4986" y="150594"/>
                  <a:pt x="6189" y="149906"/>
                </a:cubicBezTo>
                <a:cubicBezTo>
                  <a:pt x="7393" y="149218"/>
                  <a:pt x="12893" y="147843"/>
                  <a:pt x="22864" y="145436"/>
                </a:cubicBezTo>
                <a:lnTo>
                  <a:pt x="26302" y="144749"/>
                </a:lnTo>
                <a:cubicBezTo>
                  <a:pt x="34211" y="143030"/>
                  <a:pt x="39024" y="141826"/>
                  <a:pt x="40399" y="141311"/>
                </a:cubicBezTo>
                <a:cubicBezTo>
                  <a:pt x="41775" y="140795"/>
                  <a:pt x="42634" y="140107"/>
                  <a:pt x="42978" y="139420"/>
                </a:cubicBezTo>
                <a:lnTo>
                  <a:pt x="54840" y="110195"/>
                </a:lnTo>
                <a:lnTo>
                  <a:pt x="44525" y="97473"/>
                </a:lnTo>
                <a:cubicBezTo>
                  <a:pt x="38852" y="90597"/>
                  <a:pt x="35414" y="85955"/>
                  <a:pt x="34211" y="83549"/>
                </a:cubicBezTo>
                <a:cubicBezTo>
                  <a:pt x="32835" y="81314"/>
                  <a:pt x="32491" y="78907"/>
                  <a:pt x="33007" y="76672"/>
                </a:cubicBezTo>
                <a:cubicBezTo>
                  <a:pt x="33179" y="75125"/>
                  <a:pt x="33695" y="73750"/>
                  <a:pt x="34382" y="72546"/>
                </a:cubicBezTo>
                <a:cubicBezTo>
                  <a:pt x="35070" y="71343"/>
                  <a:pt x="41431" y="64810"/>
                  <a:pt x="53465" y="52777"/>
                </a:cubicBezTo>
                <a:cubicBezTo>
                  <a:pt x="61372" y="44869"/>
                  <a:pt x="66701" y="39711"/>
                  <a:pt x="69108" y="37648"/>
                </a:cubicBezTo>
                <a:cubicBezTo>
                  <a:pt x="71515" y="35586"/>
                  <a:pt x="73406" y="34210"/>
                  <a:pt x="74609" y="34039"/>
                </a:cubicBezTo>
                <a:cubicBezTo>
                  <a:pt x="78220" y="33007"/>
                  <a:pt x="81486" y="33351"/>
                  <a:pt x="84237" y="35242"/>
                </a:cubicBezTo>
                <a:cubicBezTo>
                  <a:pt x="85440" y="35929"/>
                  <a:pt x="89909" y="39711"/>
                  <a:pt x="97302" y="46416"/>
                </a:cubicBezTo>
                <a:cubicBezTo>
                  <a:pt x="102459" y="51058"/>
                  <a:pt x="105726" y="53808"/>
                  <a:pt x="106928" y="54668"/>
                </a:cubicBezTo>
                <a:cubicBezTo>
                  <a:pt x="108304" y="55527"/>
                  <a:pt x="109163" y="55871"/>
                  <a:pt x="110023" y="55699"/>
                </a:cubicBezTo>
                <a:lnTo>
                  <a:pt x="138904" y="43837"/>
                </a:lnTo>
                <a:cubicBezTo>
                  <a:pt x="139076" y="43837"/>
                  <a:pt x="140795" y="37992"/>
                  <a:pt x="143890" y="26131"/>
                </a:cubicBezTo>
                <a:cubicBezTo>
                  <a:pt x="146984" y="14269"/>
                  <a:pt x="148703" y="7908"/>
                  <a:pt x="149047" y="7048"/>
                </a:cubicBezTo>
                <a:cubicBezTo>
                  <a:pt x="149390" y="6189"/>
                  <a:pt x="150422" y="5157"/>
                  <a:pt x="151969" y="3954"/>
                </a:cubicBezTo>
                <a:cubicBezTo>
                  <a:pt x="153517" y="2751"/>
                  <a:pt x="154720" y="1891"/>
                  <a:pt x="155751" y="1375"/>
                </a:cubicBezTo>
                <a:cubicBezTo>
                  <a:pt x="157814" y="172"/>
                  <a:pt x="164347" y="0"/>
                  <a:pt x="175693" y="0"/>
                </a:cubicBezTo>
                <a:close/>
                <a:moveTo>
                  <a:pt x="182570" y="24927"/>
                </a:moveTo>
                <a:lnTo>
                  <a:pt x="169504" y="24927"/>
                </a:lnTo>
                <a:lnTo>
                  <a:pt x="164862" y="42290"/>
                </a:lnTo>
                <a:cubicBezTo>
                  <a:pt x="163144" y="49510"/>
                  <a:pt x="161768" y="54152"/>
                  <a:pt x="160737" y="56559"/>
                </a:cubicBezTo>
                <a:cubicBezTo>
                  <a:pt x="159877" y="58793"/>
                  <a:pt x="158674" y="60513"/>
                  <a:pt x="157470" y="61372"/>
                </a:cubicBezTo>
                <a:cubicBezTo>
                  <a:pt x="156267" y="62232"/>
                  <a:pt x="147843" y="66014"/>
                  <a:pt x="132371" y="72718"/>
                </a:cubicBezTo>
                <a:cubicBezTo>
                  <a:pt x="123604" y="76328"/>
                  <a:pt x="117587" y="78735"/>
                  <a:pt x="114321" y="79939"/>
                </a:cubicBezTo>
                <a:cubicBezTo>
                  <a:pt x="110195" y="81486"/>
                  <a:pt x="107273" y="82173"/>
                  <a:pt x="105726" y="82173"/>
                </a:cubicBezTo>
                <a:cubicBezTo>
                  <a:pt x="104178" y="82173"/>
                  <a:pt x="102459" y="81830"/>
                  <a:pt x="101084" y="80970"/>
                </a:cubicBezTo>
                <a:cubicBezTo>
                  <a:pt x="99709" y="80110"/>
                  <a:pt x="95582" y="76844"/>
                  <a:pt x="88878" y="70999"/>
                </a:cubicBezTo>
                <a:lnTo>
                  <a:pt x="78563" y="62232"/>
                </a:lnTo>
                <a:lnTo>
                  <a:pt x="62060" y="79251"/>
                </a:lnTo>
                <a:lnTo>
                  <a:pt x="70828" y="90081"/>
                </a:lnTo>
                <a:cubicBezTo>
                  <a:pt x="77016" y="97473"/>
                  <a:pt x="80283" y="101943"/>
                  <a:pt x="80798" y="103490"/>
                </a:cubicBezTo>
                <a:cubicBezTo>
                  <a:pt x="81314" y="105037"/>
                  <a:pt x="81486" y="106757"/>
                  <a:pt x="81142" y="108648"/>
                </a:cubicBezTo>
                <a:cubicBezTo>
                  <a:pt x="80970" y="110539"/>
                  <a:pt x="77532" y="119134"/>
                  <a:pt x="71343" y="134434"/>
                </a:cubicBezTo>
                <a:cubicBezTo>
                  <a:pt x="64982" y="149734"/>
                  <a:pt x="61372" y="157986"/>
                  <a:pt x="60169" y="159189"/>
                </a:cubicBezTo>
                <a:cubicBezTo>
                  <a:pt x="58966" y="160393"/>
                  <a:pt x="57247" y="161424"/>
                  <a:pt x="55184" y="162284"/>
                </a:cubicBezTo>
                <a:cubicBezTo>
                  <a:pt x="52949" y="162972"/>
                  <a:pt x="47963" y="164347"/>
                  <a:pt x="40055" y="166066"/>
                </a:cubicBezTo>
                <a:lnTo>
                  <a:pt x="25443" y="169504"/>
                </a:lnTo>
                <a:lnTo>
                  <a:pt x="25099" y="183429"/>
                </a:lnTo>
                <a:lnTo>
                  <a:pt x="40055" y="187727"/>
                </a:lnTo>
                <a:cubicBezTo>
                  <a:pt x="47963" y="189790"/>
                  <a:pt x="53465" y="191337"/>
                  <a:pt x="56215" y="192540"/>
                </a:cubicBezTo>
                <a:cubicBezTo>
                  <a:pt x="58966" y="193743"/>
                  <a:pt x="60857" y="194775"/>
                  <a:pt x="61544" y="195978"/>
                </a:cubicBezTo>
                <a:cubicBezTo>
                  <a:pt x="62232" y="197182"/>
                  <a:pt x="65842" y="205434"/>
                  <a:pt x="72375" y="220733"/>
                </a:cubicBezTo>
                <a:cubicBezTo>
                  <a:pt x="76157" y="229673"/>
                  <a:pt x="78735" y="235689"/>
                  <a:pt x="80110" y="238784"/>
                </a:cubicBezTo>
                <a:cubicBezTo>
                  <a:pt x="81658" y="242910"/>
                  <a:pt x="82345" y="245833"/>
                  <a:pt x="82345" y="247380"/>
                </a:cubicBezTo>
                <a:cubicBezTo>
                  <a:pt x="82345" y="249098"/>
                  <a:pt x="82002" y="250646"/>
                  <a:pt x="81142" y="252021"/>
                </a:cubicBezTo>
                <a:cubicBezTo>
                  <a:pt x="80283" y="253396"/>
                  <a:pt x="77016" y="257694"/>
                  <a:pt x="71171" y="264571"/>
                </a:cubicBezTo>
                <a:lnTo>
                  <a:pt x="62404" y="274541"/>
                </a:lnTo>
                <a:lnTo>
                  <a:pt x="79423" y="291045"/>
                </a:lnTo>
                <a:lnTo>
                  <a:pt x="90253" y="282278"/>
                </a:lnTo>
                <a:cubicBezTo>
                  <a:pt x="97646" y="276089"/>
                  <a:pt x="102115" y="272822"/>
                  <a:pt x="103319" y="272307"/>
                </a:cubicBezTo>
                <a:cubicBezTo>
                  <a:pt x="105553" y="271619"/>
                  <a:pt x="108304" y="271619"/>
                  <a:pt x="111226" y="272479"/>
                </a:cubicBezTo>
                <a:cubicBezTo>
                  <a:pt x="114149" y="273338"/>
                  <a:pt x="121197" y="276089"/>
                  <a:pt x="132199" y="280730"/>
                </a:cubicBezTo>
                <a:cubicBezTo>
                  <a:pt x="146812" y="286575"/>
                  <a:pt x="155064" y="290185"/>
                  <a:pt x="156955" y="291045"/>
                </a:cubicBezTo>
                <a:cubicBezTo>
                  <a:pt x="158846" y="292076"/>
                  <a:pt x="160393" y="293967"/>
                  <a:pt x="161597" y="296890"/>
                </a:cubicBezTo>
                <a:cubicBezTo>
                  <a:pt x="162799" y="299812"/>
                  <a:pt x="164347" y="305314"/>
                  <a:pt x="166410" y="313909"/>
                </a:cubicBezTo>
                <a:lnTo>
                  <a:pt x="169848" y="328177"/>
                </a:lnTo>
                <a:lnTo>
                  <a:pt x="183773" y="328177"/>
                </a:lnTo>
                <a:lnTo>
                  <a:pt x="187211" y="313909"/>
                </a:lnTo>
                <a:cubicBezTo>
                  <a:pt x="189274" y="306001"/>
                  <a:pt x="190821" y="300500"/>
                  <a:pt x="192025" y="297577"/>
                </a:cubicBezTo>
                <a:cubicBezTo>
                  <a:pt x="193228" y="294655"/>
                  <a:pt x="194603" y="292592"/>
                  <a:pt x="196150" y="291560"/>
                </a:cubicBezTo>
                <a:cubicBezTo>
                  <a:pt x="197697" y="290529"/>
                  <a:pt x="205949" y="286919"/>
                  <a:pt x="220905" y="280730"/>
                </a:cubicBezTo>
                <a:cubicBezTo>
                  <a:pt x="235862" y="274541"/>
                  <a:pt x="244113" y="271447"/>
                  <a:pt x="245317" y="271103"/>
                </a:cubicBezTo>
                <a:cubicBezTo>
                  <a:pt x="247552" y="270931"/>
                  <a:pt x="250302" y="271619"/>
                  <a:pt x="253225" y="273338"/>
                </a:cubicBezTo>
                <a:cubicBezTo>
                  <a:pt x="256147" y="275057"/>
                  <a:pt x="261132" y="279011"/>
                  <a:pt x="268009" y="284856"/>
                </a:cubicBezTo>
                <a:lnTo>
                  <a:pt x="274886" y="290701"/>
                </a:lnTo>
                <a:lnTo>
                  <a:pt x="282965" y="282621"/>
                </a:lnTo>
                <a:cubicBezTo>
                  <a:pt x="288295" y="277292"/>
                  <a:pt x="291045" y="274369"/>
                  <a:pt x="291045" y="274198"/>
                </a:cubicBezTo>
                <a:cubicBezTo>
                  <a:pt x="291045" y="274026"/>
                  <a:pt x="288123" y="270416"/>
                  <a:pt x="282621" y="263711"/>
                </a:cubicBezTo>
                <a:cubicBezTo>
                  <a:pt x="277808" y="258038"/>
                  <a:pt x="274541" y="254084"/>
                  <a:pt x="273166" y="251849"/>
                </a:cubicBezTo>
                <a:cubicBezTo>
                  <a:pt x="271791" y="249614"/>
                  <a:pt x="271104" y="247380"/>
                  <a:pt x="271447" y="245488"/>
                </a:cubicBezTo>
                <a:cubicBezTo>
                  <a:pt x="271619" y="243598"/>
                  <a:pt x="274886" y="235174"/>
                  <a:pt x="281074" y="220218"/>
                </a:cubicBezTo>
                <a:cubicBezTo>
                  <a:pt x="287263" y="205261"/>
                  <a:pt x="290873" y="197010"/>
                  <a:pt x="291905" y="195462"/>
                </a:cubicBezTo>
                <a:cubicBezTo>
                  <a:pt x="292936" y="193743"/>
                  <a:pt x="294483" y="192540"/>
                  <a:pt x="296546" y="191852"/>
                </a:cubicBezTo>
                <a:cubicBezTo>
                  <a:pt x="298609" y="191165"/>
                  <a:pt x="303079" y="189790"/>
                  <a:pt x="309955" y="188070"/>
                </a:cubicBezTo>
                <a:lnTo>
                  <a:pt x="328522" y="183085"/>
                </a:lnTo>
                <a:lnTo>
                  <a:pt x="328522" y="169676"/>
                </a:lnTo>
                <a:lnTo>
                  <a:pt x="293108" y="160393"/>
                </a:lnTo>
                <a:lnTo>
                  <a:pt x="282278" y="134950"/>
                </a:lnTo>
                <a:cubicBezTo>
                  <a:pt x="277121" y="122401"/>
                  <a:pt x="274026" y="114493"/>
                  <a:pt x="272994" y="111054"/>
                </a:cubicBezTo>
                <a:cubicBezTo>
                  <a:pt x="271963" y="107616"/>
                  <a:pt x="271619" y="104866"/>
                  <a:pt x="272307" y="102631"/>
                </a:cubicBezTo>
                <a:cubicBezTo>
                  <a:pt x="272479" y="101599"/>
                  <a:pt x="275573" y="97817"/>
                  <a:pt x="281074" y="91113"/>
                </a:cubicBezTo>
                <a:lnTo>
                  <a:pt x="290357" y="79939"/>
                </a:lnTo>
                <a:cubicBezTo>
                  <a:pt x="290873" y="79251"/>
                  <a:pt x="290701" y="78391"/>
                  <a:pt x="290014" y="77360"/>
                </a:cubicBezTo>
                <a:cubicBezTo>
                  <a:pt x="289326" y="76500"/>
                  <a:pt x="286919" y="74093"/>
                  <a:pt x="283137" y="70311"/>
                </a:cubicBezTo>
                <a:cubicBezTo>
                  <a:pt x="277808" y="64982"/>
                  <a:pt x="274886" y="62232"/>
                  <a:pt x="274714" y="62232"/>
                </a:cubicBezTo>
                <a:cubicBezTo>
                  <a:pt x="274370" y="62232"/>
                  <a:pt x="270931" y="65326"/>
                  <a:pt x="263883" y="71515"/>
                </a:cubicBezTo>
                <a:cubicBezTo>
                  <a:pt x="258210" y="76157"/>
                  <a:pt x="254256" y="79079"/>
                  <a:pt x="252021" y="80282"/>
                </a:cubicBezTo>
                <a:cubicBezTo>
                  <a:pt x="249786" y="81658"/>
                  <a:pt x="247552" y="82001"/>
                  <a:pt x="245488" y="81830"/>
                </a:cubicBezTo>
                <a:cubicBezTo>
                  <a:pt x="243941" y="81658"/>
                  <a:pt x="235518" y="78219"/>
                  <a:pt x="220046" y="71859"/>
                </a:cubicBezTo>
                <a:cubicBezTo>
                  <a:pt x="204574" y="65498"/>
                  <a:pt x="196494" y="61888"/>
                  <a:pt x="195463" y="61028"/>
                </a:cubicBezTo>
                <a:cubicBezTo>
                  <a:pt x="193915" y="59825"/>
                  <a:pt x="192712" y="57934"/>
                  <a:pt x="191681" y="55871"/>
                </a:cubicBezTo>
                <a:cubicBezTo>
                  <a:pt x="190649" y="53636"/>
                  <a:pt x="189274" y="49339"/>
                  <a:pt x="187383" y="42634"/>
                </a:cubicBezTo>
                <a:cubicBezTo>
                  <a:pt x="185148" y="33179"/>
                  <a:pt x="183773" y="27850"/>
                  <a:pt x="183601" y="26818"/>
                </a:cubicBezTo>
                <a:lnTo>
                  <a:pt x="182570" y="24927"/>
                </a:lnTo>
                <a:close/>
                <a:moveTo>
                  <a:pt x="185320" y="115868"/>
                </a:moveTo>
                <a:cubicBezTo>
                  <a:pt x="191681" y="116899"/>
                  <a:pt x="197182" y="118446"/>
                  <a:pt x="201824" y="120510"/>
                </a:cubicBezTo>
                <a:cubicBezTo>
                  <a:pt x="208528" y="123260"/>
                  <a:pt x="214717" y="127558"/>
                  <a:pt x="220562" y="133403"/>
                </a:cubicBezTo>
                <a:cubicBezTo>
                  <a:pt x="226407" y="139248"/>
                  <a:pt x="230704" y="145608"/>
                  <a:pt x="233455" y="152485"/>
                </a:cubicBezTo>
                <a:cubicBezTo>
                  <a:pt x="236721" y="160221"/>
                  <a:pt x="238441" y="168301"/>
                  <a:pt x="238441" y="176724"/>
                </a:cubicBezTo>
                <a:cubicBezTo>
                  <a:pt x="238441" y="185148"/>
                  <a:pt x="236721" y="193227"/>
                  <a:pt x="233455" y="200964"/>
                </a:cubicBezTo>
                <a:cubicBezTo>
                  <a:pt x="230361" y="207840"/>
                  <a:pt x="225891" y="214373"/>
                  <a:pt x="220046" y="220390"/>
                </a:cubicBezTo>
                <a:cubicBezTo>
                  <a:pt x="214201" y="226407"/>
                  <a:pt x="207668" y="230876"/>
                  <a:pt x="200792" y="233627"/>
                </a:cubicBezTo>
                <a:cubicBezTo>
                  <a:pt x="193056" y="236721"/>
                  <a:pt x="184976" y="238269"/>
                  <a:pt x="176553" y="238096"/>
                </a:cubicBezTo>
                <a:cubicBezTo>
                  <a:pt x="168129" y="237924"/>
                  <a:pt x="160049" y="236377"/>
                  <a:pt x="152657" y="233283"/>
                </a:cubicBezTo>
                <a:cubicBezTo>
                  <a:pt x="145780" y="230189"/>
                  <a:pt x="139420" y="225719"/>
                  <a:pt x="133575" y="220046"/>
                </a:cubicBezTo>
                <a:cubicBezTo>
                  <a:pt x="127730" y="214373"/>
                  <a:pt x="123432" y="207840"/>
                  <a:pt x="120338" y="200964"/>
                </a:cubicBezTo>
                <a:cubicBezTo>
                  <a:pt x="117759" y="195119"/>
                  <a:pt x="116212" y="188758"/>
                  <a:pt x="115696" y="181882"/>
                </a:cubicBezTo>
                <a:cubicBezTo>
                  <a:pt x="115180" y="175005"/>
                  <a:pt x="115524" y="168816"/>
                  <a:pt x="116900" y="162799"/>
                </a:cubicBezTo>
                <a:cubicBezTo>
                  <a:pt x="120166" y="149906"/>
                  <a:pt x="126527" y="139420"/>
                  <a:pt x="135638" y="130996"/>
                </a:cubicBezTo>
                <a:cubicBezTo>
                  <a:pt x="144749" y="122572"/>
                  <a:pt x="155923" y="117415"/>
                  <a:pt x="168989" y="115352"/>
                </a:cubicBezTo>
                <a:cubicBezTo>
                  <a:pt x="173286" y="114664"/>
                  <a:pt x="178788" y="114836"/>
                  <a:pt x="185320" y="115868"/>
                </a:cubicBezTo>
                <a:close/>
                <a:moveTo>
                  <a:pt x="176553" y="140107"/>
                </a:moveTo>
                <a:cubicBezTo>
                  <a:pt x="172771" y="140107"/>
                  <a:pt x="169848" y="140451"/>
                  <a:pt x="167441" y="140795"/>
                </a:cubicBezTo>
                <a:cubicBezTo>
                  <a:pt x="161081" y="142514"/>
                  <a:pt x="155580" y="145780"/>
                  <a:pt x="150938" y="150422"/>
                </a:cubicBezTo>
                <a:cubicBezTo>
                  <a:pt x="146296" y="155063"/>
                  <a:pt x="143030" y="160393"/>
                  <a:pt x="141311" y="166582"/>
                </a:cubicBezTo>
                <a:cubicBezTo>
                  <a:pt x="139592" y="172771"/>
                  <a:pt x="139420" y="178959"/>
                  <a:pt x="140967" y="185492"/>
                </a:cubicBezTo>
                <a:cubicBezTo>
                  <a:pt x="142514" y="191852"/>
                  <a:pt x="145608" y="197525"/>
                  <a:pt x="150250" y="202167"/>
                </a:cubicBezTo>
                <a:cubicBezTo>
                  <a:pt x="154892" y="206981"/>
                  <a:pt x="160221" y="210247"/>
                  <a:pt x="166582" y="211966"/>
                </a:cubicBezTo>
                <a:cubicBezTo>
                  <a:pt x="172942" y="213685"/>
                  <a:pt x="179303" y="213857"/>
                  <a:pt x="185664" y="212310"/>
                </a:cubicBezTo>
                <a:cubicBezTo>
                  <a:pt x="192025" y="210763"/>
                  <a:pt x="197697" y="207668"/>
                  <a:pt x="202339" y="203027"/>
                </a:cubicBezTo>
                <a:cubicBezTo>
                  <a:pt x="206981" y="198385"/>
                  <a:pt x="210419" y="192884"/>
                  <a:pt x="212138" y="186695"/>
                </a:cubicBezTo>
                <a:cubicBezTo>
                  <a:pt x="213857" y="180334"/>
                  <a:pt x="214029" y="173974"/>
                  <a:pt x="212482" y="167441"/>
                </a:cubicBezTo>
                <a:cubicBezTo>
                  <a:pt x="210935" y="160909"/>
                  <a:pt x="207668" y="155235"/>
                  <a:pt x="202855" y="150250"/>
                </a:cubicBezTo>
                <a:cubicBezTo>
                  <a:pt x="198041" y="145436"/>
                  <a:pt x="192197" y="142170"/>
                  <a:pt x="185492" y="140623"/>
                </a:cubicBezTo>
                <a:cubicBezTo>
                  <a:pt x="183257" y="140279"/>
                  <a:pt x="180335" y="140107"/>
                  <a:pt x="176553" y="140107"/>
                </a:cubicBezTo>
                <a:close/>
              </a:path>
            </a:pathLst>
          </a:custGeom>
          <a:solidFill>
            <a:srgbClr val="F59B19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8" name="Полилиния: фигура 42">
            <a:extLst>
              <a:ext uri="{FF2B5EF4-FFF2-40B4-BE49-F238E27FC236}">
                <a16:creationId xmlns:a16="http://schemas.microsoft.com/office/drawing/2014/main" id="{D7BC410E-BA21-485F-93CD-5CA05D556894}"/>
              </a:ext>
            </a:extLst>
          </p:cNvPr>
          <p:cNvSpPr/>
          <p:nvPr/>
        </p:nvSpPr>
        <p:spPr>
          <a:xfrm>
            <a:off x="8048726" y="951892"/>
            <a:ext cx="294953" cy="295469"/>
          </a:xfrm>
          <a:custGeom>
            <a:avLst/>
            <a:gdLst>
              <a:gd name="connsiteX0" fmla="*/ 149047 w 294998"/>
              <a:gd name="connsiteY0" fmla="*/ 172 h 295514"/>
              <a:gd name="connsiteX1" fmla="*/ 269556 w 294998"/>
              <a:gd name="connsiteY1" fmla="*/ 172 h 295514"/>
              <a:gd name="connsiteX2" fmla="*/ 272994 w 294998"/>
              <a:gd name="connsiteY2" fmla="*/ 1719 h 295514"/>
              <a:gd name="connsiteX3" fmla="*/ 293452 w 294998"/>
              <a:gd name="connsiteY3" fmla="*/ 22176 h 295514"/>
              <a:gd name="connsiteX4" fmla="*/ 294999 w 294998"/>
              <a:gd name="connsiteY4" fmla="*/ 26474 h 295514"/>
              <a:gd name="connsiteX5" fmla="*/ 294999 w 294998"/>
              <a:gd name="connsiteY5" fmla="*/ 268868 h 295514"/>
              <a:gd name="connsiteX6" fmla="*/ 293452 w 294998"/>
              <a:gd name="connsiteY6" fmla="*/ 273166 h 295514"/>
              <a:gd name="connsiteX7" fmla="*/ 273338 w 294998"/>
              <a:gd name="connsiteY7" fmla="*/ 293624 h 295514"/>
              <a:gd name="connsiteX8" fmla="*/ 269556 w 294998"/>
              <a:gd name="connsiteY8" fmla="*/ 295171 h 295514"/>
              <a:gd name="connsiteX9" fmla="*/ 149906 w 294998"/>
              <a:gd name="connsiteY9" fmla="*/ 295515 h 295514"/>
              <a:gd name="connsiteX10" fmla="*/ 26646 w 294998"/>
              <a:gd name="connsiteY10" fmla="*/ 294999 h 295514"/>
              <a:gd name="connsiteX11" fmla="*/ 18395 w 294998"/>
              <a:gd name="connsiteY11" fmla="*/ 292076 h 295514"/>
              <a:gd name="connsiteX12" fmla="*/ 10830 w 294998"/>
              <a:gd name="connsiteY12" fmla="*/ 287091 h 295514"/>
              <a:gd name="connsiteX13" fmla="*/ 1547 w 294998"/>
              <a:gd name="connsiteY13" fmla="*/ 273166 h 295514"/>
              <a:gd name="connsiteX14" fmla="*/ 0 w 294998"/>
              <a:gd name="connsiteY14" fmla="*/ 268868 h 295514"/>
              <a:gd name="connsiteX15" fmla="*/ 0 w 294998"/>
              <a:gd name="connsiteY15" fmla="*/ 26302 h 295514"/>
              <a:gd name="connsiteX16" fmla="*/ 1547 w 294998"/>
              <a:gd name="connsiteY16" fmla="*/ 22005 h 295514"/>
              <a:gd name="connsiteX17" fmla="*/ 10830 w 294998"/>
              <a:gd name="connsiteY17" fmla="*/ 8080 h 295514"/>
              <a:gd name="connsiteX18" fmla="*/ 18051 w 294998"/>
              <a:gd name="connsiteY18" fmla="*/ 3438 h 295514"/>
              <a:gd name="connsiteX19" fmla="*/ 25787 w 294998"/>
              <a:gd name="connsiteY19" fmla="*/ 344 h 295514"/>
              <a:gd name="connsiteX20" fmla="*/ 149047 w 294998"/>
              <a:gd name="connsiteY20" fmla="*/ 172 h 295514"/>
              <a:gd name="connsiteX21" fmla="*/ 248239 w 294998"/>
              <a:gd name="connsiteY21" fmla="*/ 24583 h 295514"/>
              <a:gd name="connsiteX22" fmla="*/ 148703 w 294998"/>
              <a:gd name="connsiteY22" fmla="*/ 24411 h 295514"/>
              <a:gd name="connsiteX23" fmla="*/ 30429 w 294998"/>
              <a:gd name="connsiteY23" fmla="*/ 24755 h 295514"/>
              <a:gd name="connsiteX24" fmla="*/ 26646 w 294998"/>
              <a:gd name="connsiteY24" fmla="*/ 27506 h 295514"/>
              <a:gd name="connsiteX25" fmla="*/ 24583 w 294998"/>
              <a:gd name="connsiteY25" fmla="*/ 32147 h 295514"/>
              <a:gd name="connsiteX26" fmla="*/ 24239 w 294998"/>
              <a:gd name="connsiteY26" fmla="*/ 149906 h 295514"/>
              <a:gd name="connsiteX27" fmla="*/ 24755 w 294998"/>
              <a:gd name="connsiteY27" fmla="*/ 248239 h 295514"/>
              <a:gd name="connsiteX28" fmla="*/ 25959 w 294998"/>
              <a:gd name="connsiteY28" fmla="*/ 266977 h 295514"/>
              <a:gd name="connsiteX29" fmla="*/ 28537 w 294998"/>
              <a:gd name="connsiteY29" fmla="*/ 269556 h 295514"/>
              <a:gd name="connsiteX30" fmla="*/ 47448 w 294998"/>
              <a:gd name="connsiteY30" fmla="*/ 270759 h 295514"/>
              <a:gd name="connsiteX31" fmla="*/ 147843 w 294998"/>
              <a:gd name="connsiteY31" fmla="*/ 270931 h 295514"/>
              <a:gd name="connsiteX32" fmla="*/ 248239 w 294998"/>
              <a:gd name="connsiteY32" fmla="*/ 270759 h 295514"/>
              <a:gd name="connsiteX33" fmla="*/ 267149 w 294998"/>
              <a:gd name="connsiteY33" fmla="*/ 269556 h 295514"/>
              <a:gd name="connsiteX34" fmla="*/ 269728 w 294998"/>
              <a:gd name="connsiteY34" fmla="*/ 266977 h 295514"/>
              <a:gd name="connsiteX35" fmla="*/ 270931 w 294998"/>
              <a:gd name="connsiteY35" fmla="*/ 248067 h 295514"/>
              <a:gd name="connsiteX36" fmla="*/ 271104 w 294998"/>
              <a:gd name="connsiteY36" fmla="*/ 147671 h 295514"/>
              <a:gd name="connsiteX37" fmla="*/ 270931 w 294998"/>
              <a:gd name="connsiteY37" fmla="*/ 47275 h 295514"/>
              <a:gd name="connsiteX38" fmla="*/ 269728 w 294998"/>
              <a:gd name="connsiteY38" fmla="*/ 28365 h 295514"/>
              <a:gd name="connsiteX39" fmla="*/ 266806 w 294998"/>
              <a:gd name="connsiteY39" fmla="*/ 25615 h 295514"/>
              <a:gd name="connsiteX40" fmla="*/ 248239 w 294998"/>
              <a:gd name="connsiteY40" fmla="*/ 24583 h 295514"/>
              <a:gd name="connsiteX41" fmla="*/ 223312 w 294998"/>
              <a:gd name="connsiteY41" fmla="*/ 82861 h 295514"/>
              <a:gd name="connsiteX42" fmla="*/ 228297 w 294998"/>
              <a:gd name="connsiteY42" fmla="*/ 84408 h 295514"/>
              <a:gd name="connsiteX43" fmla="*/ 232079 w 294998"/>
              <a:gd name="connsiteY43" fmla="*/ 90769 h 295514"/>
              <a:gd name="connsiteX44" fmla="*/ 231564 w 294998"/>
              <a:gd name="connsiteY44" fmla="*/ 97645 h 295514"/>
              <a:gd name="connsiteX45" fmla="*/ 191680 w 294998"/>
              <a:gd name="connsiteY45" fmla="*/ 140623 h 295514"/>
              <a:gd name="connsiteX46" fmla="*/ 127042 w 294998"/>
              <a:gd name="connsiteY46" fmla="*/ 209215 h 295514"/>
              <a:gd name="connsiteX47" fmla="*/ 125151 w 294998"/>
              <a:gd name="connsiteY47" fmla="*/ 211106 h 295514"/>
              <a:gd name="connsiteX48" fmla="*/ 99021 w 294998"/>
              <a:gd name="connsiteY48" fmla="*/ 184632 h 295514"/>
              <a:gd name="connsiteX49" fmla="*/ 68593 w 294998"/>
              <a:gd name="connsiteY49" fmla="*/ 153516 h 295514"/>
              <a:gd name="connsiteX50" fmla="*/ 64811 w 294998"/>
              <a:gd name="connsiteY50" fmla="*/ 148531 h 295514"/>
              <a:gd name="connsiteX51" fmla="*/ 64123 w 294998"/>
              <a:gd name="connsiteY51" fmla="*/ 145093 h 295514"/>
              <a:gd name="connsiteX52" fmla="*/ 71859 w 294998"/>
              <a:gd name="connsiteY52" fmla="*/ 134778 h 295514"/>
              <a:gd name="connsiteX53" fmla="*/ 76844 w 294998"/>
              <a:gd name="connsiteY53" fmla="*/ 134434 h 295514"/>
              <a:gd name="connsiteX54" fmla="*/ 84065 w 294998"/>
              <a:gd name="connsiteY54" fmla="*/ 140279 h 295514"/>
              <a:gd name="connsiteX55" fmla="*/ 101771 w 294998"/>
              <a:gd name="connsiteY55" fmla="*/ 157642 h 295514"/>
              <a:gd name="connsiteX56" fmla="*/ 124807 w 294998"/>
              <a:gd name="connsiteY56" fmla="*/ 181194 h 295514"/>
              <a:gd name="connsiteX57" fmla="*/ 160565 w 294998"/>
              <a:gd name="connsiteY57" fmla="*/ 143030 h 295514"/>
              <a:gd name="connsiteX58" fmla="*/ 217983 w 294998"/>
              <a:gd name="connsiteY58" fmla="*/ 83721 h 295514"/>
              <a:gd name="connsiteX59" fmla="*/ 223312 w 294998"/>
              <a:gd name="connsiteY59" fmla="*/ 82861 h 295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4998" h="295514">
                <a:moveTo>
                  <a:pt x="149047" y="172"/>
                </a:moveTo>
                <a:lnTo>
                  <a:pt x="269556" y="172"/>
                </a:lnTo>
                <a:lnTo>
                  <a:pt x="272994" y="1719"/>
                </a:lnTo>
                <a:cubicBezTo>
                  <a:pt x="282965" y="5329"/>
                  <a:pt x="289842" y="12034"/>
                  <a:pt x="293452" y="22176"/>
                </a:cubicBezTo>
                <a:lnTo>
                  <a:pt x="294999" y="26474"/>
                </a:lnTo>
                <a:lnTo>
                  <a:pt x="294999" y="268868"/>
                </a:lnTo>
                <a:lnTo>
                  <a:pt x="293452" y="273166"/>
                </a:lnTo>
                <a:cubicBezTo>
                  <a:pt x="289842" y="282965"/>
                  <a:pt x="283137" y="289670"/>
                  <a:pt x="273338" y="293624"/>
                </a:cubicBezTo>
                <a:lnTo>
                  <a:pt x="269556" y="295171"/>
                </a:lnTo>
                <a:lnTo>
                  <a:pt x="149906" y="295515"/>
                </a:lnTo>
                <a:cubicBezTo>
                  <a:pt x="70140" y="295515"/>
                  <a:pt x="29053" y="295343"/>
                  <a:pt x="26646" y="294999"/>
                </a:cubicBezTo>
                <a:cubicBezTo>
                  <a:pt x="24239" y="294655"/>
                  <a:pt x="21661" y="293624"/>
                  <a:pt x="18395" y="292076"/>
                </a:cubicBezTo>
                <a:cubicBezTo>
                  <a:pt x="15128" y="290529"/>
                  <a:pt x="12722" y="288810"/>
                  <a:pt x="10830" y="287091"/>
                </a:cubicBezTo>
                <a:cubicBezTo>
                  <a:pt x="6705" y="283481"/>
                  <a:pt x="3610" y="278839"/>
                  <a:pt x="1547" y="273166"/>
                </a:cubicBezTo>
                <a:lnTo>
                  <a:pt x="0" y="268868"/>
                </a:lnTo>
                <a:lnTo>
                  <a:pt x="0" y="26302"/>
                </a:lnTo>
                <a:lnTo>
                  <a:pt x="1547" y="22005"/>
                </a:lnTo>
                <a:cubicBezTo>
                  <a:pt x="3610" y="16332"/>
                  <a:pt x="6705" y="11690"/>
                  <a:pt x="10830" y="8080"/>
                </a:cubicBezTo>
                <a:cubicBezTo>
                  <a:pt x="12550" y="6533"/>
                  <a:pt x="15128" y="4985"/>
                  <a:pt x="18051" y="3438"/>
                </a:cubicBezTo>
                <a:cubicBezTo>
                  <a:pt x="21145" y="1891"/>
                  <a:pt x="23724" y="860"/>
                  <a:pt x="25787" y="344"/>
                </a:cubicBezTo>
                <a:cubicBezTo>
                  <a:pt x="27849" y="-172"/>
                  <a:pt x="68936" y="0"/>
                  <a:pt x="149047" y="172"/>
                </a:cubicBezTo>
                <a:close/>
                <a:moveTo>
                  <a:pt x="248239" y="24583"/>
                </a:moveTo>
                <a:cubicBezTo>
                  <a:pt x="236721" y="24411"/>
                  <a:pt x="203714" y="24411"/>
                  <a:pt x="148703" y="24411"/>
                </a:cubicBezTo>
                <a:cubicBezTo>
                  <a:pt x="71171" y="24239"/>
                  <a:pt x="31804" y="24239"/>
                  <a:pt x="30429" y="24755"/>
                </a:cubicBezTo>
                <a:cubicBezTo>
                  <a:pt x="29053" y="25271"/>
                  <a:pt x="27678" y="26130"/>
                  <a:pt x="26646" y="27506"/>
                </a:cubicBezTo>
                <a:cubicBezTo>
                  <a:pt x="25443" y="28709"/>
                  <a:pt x="24755" y="30256"/>
                  <a:pt x="24583" y="32147"/>
                </a:cubicBezTo>
                <a:cubicBezTo>
                  <a:pt x="24412" y="33866"/>
                  <a:pt x="24239" y="73234"/>
                  <a:pt x="24239" y="149906"/>
                </a:cubicBezTo>
                <a:cubicBezTo>
                  <a:pt x="24412" y="204058"/>
                  <a:pt x="24755" y="236893"/>
                  <a:pt x="24755" y="248239"/>
                </a:cubicBezTo>
                <a:cubicBezTo>
                  <a:pt x="24927" y="259585"/>
                  <a:pt x="25271" y="265946"/>
                  <a:pt x="25959" y="266977"/>
                </a:cubicBezTo>
                <a:cubicBezTo>
                  <a:pt x="26646" y="268009"/>
                  <a:pt x="27334" y="268868"/>
                  <a:pt x="28537" y="269556"/>
                </a:cubicBezTo>
                <a:cubicBezTo>
                  <a:pt x="29569" y="270244"/>
                  <a:pt x="35758" y="270588"/>
                  <a:pt x="47448" y="270759"/>
                </a:cubicBezTo>
                <a:cubicBezTo>
                  <a:pt x="58965" y="270931"/>
                  <a:pt x="92488" y="270931"/>
                  <a:pt x="147843" y="270931"/>
                </a:cubicBezTo>
                <a:cubicBezTo>
                  <a:pt x="203199" y="270931"/>
                  <a:pt x="236721" y="270931"/>
                  <a:pt x="248239" y="270759"/>
                </a:cubicBezTo>
                <a:cubicBezTo>
                  <a:pt x="259757" y="270588"/>
                  <a:pt x="266118" y="270244"/>
                  <a:pt x="267149" y="269556"/>
                </a:cubicBezTo>
                <a:cubicBezTo>
                  <a:pt x="268181" y="268868"/>
                  <a:pt x="269040" y="268009"/>
                  <a:pt x="269728" y="266977"/>
                </a:cubicBezTo>
                <a:cubicBezTo>
                  <a:pt x="270416" y="265946"/>
                  <a:pt x="270759" y="259585"/>
                  <a:pt x="270931" y="248067"/>
                </a:cubicBezTo>
                <a:cubicBezTo>
                  <a:pt x="271104" y="236549"/>
                  <a:pt x="271104" y="203027"/>
                  <a:pt x="271104" y="147671"/>
                </a:cubicBezTo>
                <a:cubicBezTo>
                  <a:pt x="271104" y="92316"/>
                  <a:pt x="271104" y="58793"/>
                  <a:pt x="270931" y="47275"/>
                </a:cubicBezTo>
                <a:cubicBezTo>
                  <a:pt x="270759" y="35757"/>
                  <a:pt x="270416" y="29397"/>
                  <a:pt x="269728" y="28365"/>
                </a:cubicBezTo>
                <a:cubicBezTo>
                  <a:pt x="269040" y="27334"/>
                  <a:pt x="268181" y="26474"/>
                  <a:pt x="266806" y="25615"/>
                </a:cubicBezTo>
                <a:cubicBezTo>
                  <a:pt x="265774" y="25099"/>
                  <a:pt x="259585" y="24755"/>
                  <a:pt x="248239" y="24583"/>
                </a:cubicBezTo>
                <a:close/>
                <a:moveTo>
                  <a:pt x="223312" y="82861"/>
                </a:moveTo>
                <a:cubicBezTo>
                  <a:pt x="225547" y="83033"/>
                  <a:pt x="227266" y="83549"/>
                  <a:pt x="228297" y="84408"/>
                </a:cubicBezTo>
                <a:cubicBezTo>
                  <a:pt x="230017" y="85783"/>
                  <a:pt x="231392" y="87846"/>
                  <a:pt x="232079" y="90769"/>
                </a:cubicBezTo>
                <a:cubicBezTo>
                  <a:pt x="232767" y="93691"/>
                  <a:pt x="232595" y="96098"/>
                  <a:pt x="231564" y="97645"/>
                </a:cubicBezTo>
                <a:cubicBezTo>
                  <a:pt x="230360" y="99364"/>
                  <a:pt x="217123" y="113633"/>
                  <a:pt x="191680" y="140623"/>
                </a:cubicBezTo>
                <a:cubicBezTo>
                  <a:pt x="151625" y="183257"/>
                  <a:pt x="130137" y="206121"/>
                  <a:pt x="127042" y="209215"/>
                </a:cubicBezTo>
                <a:lnTo>
                  <a:pt x="125151" y="211106"/>
                </a:lnTo>
                <a:lnTo>
                  <a:pt x="99021" y="184632"/>
                </a:lnTo>
                <a:cubicBezTo>
                  <a:pt x="81830" y="167097"/>
                  <a:pt x="71687" y="156783"/>
                  <a:pt x="68593" y="153516"/>
                </a:cubicBezTo>
                <a:cubicBezTo>
                  <a:pt x="66529" y="150938"/>
                  <a:pt x="65326" y="149219"/>
                  <a:pt x="64811" y="148531"/>
                </a:cubicBezTo>
                <a:cubicBezTo>
                  <a:pt x="64295" y="147843"/>
                  <a:pt x="64123" y="146640"/>
                  <a:pt x="64123" y="145093"/>
                </a:cubicBezTo>
                <a:cubicBezTo>
                  <a:pt x="64123" y="139763"/>
                  <a:pt x="66701" y="136325"/>
                  <a:pt x="71859" y="134778"/>
                </a:cubicBezTo>
                <a:cubicBezTo>
                  <a:pt x="73922" y="134090"/>
                  <a:pt x="75641" y="133918"/>
                  <a:pt x="76844" y="134434"/>
                </a:cubicBezTo>
                <a:cubicBezTo>
                  <a:pt x="78048" y="134950"/>
                  <a:pt x="80626" y="136841"/>
                  <a:pt x="84065" y="140279"/>
                </a:cubicBezTo>
                <a:cubicBezTo>
                  <a:pt x="86643" y="142858"/>
                  <a:pt x="92488" y="148703"/>
                  <a:pt x="101771" y="157642"/>
                </a:cubicBezTo>
                <a:lnTo>
                  <a:pt x="124807" y="181194"/>
                </a:lnTo>
                <a:lnTo>
                  <a:pt x="160565" y="143030"/>
                </a:lnTo>
                <a:cubicBezTo>
                  <a:pt x="197182" y="104006"/>
                  <a:pt x="216436" y="84236"/>
                  <a:pt x="217983" y="83721"/>
                </a:cubicBezTo>
                <a:cubicBezTo>
                  <a:pt x="219186" y="82861"/>
                  <a:pt x="221077" y="82689"/>
                  <a:pt x="223312" y="82861"/>
                </a:cubicBezTo>
                <a:close/>
              </a:path>
            </a:pathLst>
          </a:custGeom>
          <a:solidFill>
            <a:schemeClr val="accent3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1794143" y="1993197"/>
            <a:ext cx="1066476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050" kern="0" dirty="0" smtClean="0"/>
              <a:t>Действие</a:t>
            </a:r>
            <a:endParaRPr lang="ru-RU" sz="1050" kern="0" dirty="0"/>
          </a:p>
        </p:txBody>
      </p:sp>
      <p:grpSp>
        <p:nvGrpSpPr>
          <p:cNvPr id="40" name="Группа 39"/>
          <p:cNvGrpSpPr/>
          <p:nvPr/>
        </p:nvGrpSpPr>
        <p:grpSpPr>
          <a:xfrm>
            <a:off x="4994334" y="1787776"/>
            <a:ext cx="145694" cy="145696"/>
            <a:chOff x="406925" y="1787776"/>
            <a:chExt cx="145694" cy="145696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B0BC8224-39EE-478C-B88A-A85BEA8B7BAC}"/>
                </a:ext>
              </a:extLst>
            </p:cNvPr>
            <p:cNvSpPr/>
            <p:nvPr/>
          </p:nvSpPr>
          <p:spPr>
            <a:xfrm rot="2700000">
              <a:off x="406924" y="1787777"/>
              <a:ext cx="145696" cy="145694"/>
            </a:xfrm>
            <a:prstGeom prst="ellipse">
              <a:avLst/>
            </a:prstGeom>
            <a:gradFill>
              <a:gsLst>
                <a:gs pos="100000">
                  <a:schemeClr val="accent2">
                    <a:alpha val="18000"/>
                  </a:schemeClr>
                </a:gs>
                <a:gs pos="25000">
                  <a:schemeClr val="accent2">
                    <a:alpha val="49000"/>
                  </a:schemeClr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0DC08B63-75F5-4954-9A71-2344E6F9544B}"/>
                </a:ext>
              </a:extLst>
            </p:cNvPr>
            <p:cNvSpPr/>
            <p:nvPr/>
          </p:nvSpPr>
          <p:spPr>
            <a:xfrm rot="2700000">
              <a:off x="439051" y="1819904"/>
              <a:ext cx="81442" cy="81441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8" name="Полилиния: фигура 250">
            <a:extLst>
              <a:ext uri="{FF2B5EF4-FFF2-40B4-BE49-F238E27FC236}">
                <a16:creationId xmlns:a16="http://schemas.microsoft.com/office/drawing/2014/main" id="{868B4238-226F-4BB4-B69E-BE31EC623CE4}"/>
              </a:ext>
            </a:extLst>
          </p:cNvPr>
          <p:cNvSpPr/>
          <p:nvPr/>
        </p:nvSpPr>
        <p:spPr>
          <a:xfrm>
            <a:off x="1709462" y="2891878"/>
            <a:ext cx="153337" cy="153136"/>
          </a:xfrm>
          <a:custGeom>
            <a:avLst/>
            <a:gdLst>
              <a:gd name="connsiteX0" fmla="*/ 159705 w 287502"/>
              <a:gd name="connsiteY0" fmla="*/ 1003 h 287126"/>
              <a:gd name="connsiteX1" fmla="*/ 188070 w 287502"/>
              <a:gd name="connsiteY1" fmla="*/ 7020 h 287126"/>
              <a:gd name="connsiteX2" fmla="*/ 195462 w 287502"/>
              <a:gd name="connsiteY2" fmla="*/ 10630 h 287126"/>
              <a:gd name="connsiteX3" fmla="*/ 198901 w 287502"/>
              <a:gd name="connsiteY3" fmla="*/ 15100 h 287126"/>
              <a:gd name="connsiteX4" fmla="*/ 198901 w 287502"/>
              <a:gd name="connsiteY4" fmla="*/ 24899 h 287126"/>
              <a:gd name="connsiteX5" fmla="*/ 192368 w 287502"/>
              <a:gd name="connsiteY5" fmla="*/ 31087 h 287126"/>
              <a:gd name="connsiteX6" fmla="*/ 182053 w 287502"/>
              <a:gd name="connsiteY6" fmla="*/ 30916 h 287126"/>
              <a:gd name="connsiteX7" fmla="*/ 170364 w 287502"/>
              <a:gd name="connsiteY7" fmla="*/ 27649 h 287126"/>
              <a:gd name="connsiteX8" fmla="*/ 157126 w 287502"/>
              <a:gd name="connsiteY8" fmla="*/ 25586 h 287126"/>
              <a:gd name="connsiteX9" fmla="*/ 140107 w 287502"/>
              <a:gd name="connsiteY9" fmla="*/ 25071 h 287126"/>
              <a:gd name="connsiteX10" fmla="*/ 123604 w 287502"/>
              <a:gd name="connsiteY10" fmla="*/ 26446 h 287126"/>
              <a:gd name="connsiteX11" fmla="*/ 77016 w 287502"/>
              <a:gd name="connsiteY11" fmla="*/ 45356 h 287126"/>
              <a:gd name="connsiteX12" fmla="*/ 46416 w 287502"/>
              <a:gd name="connsiteY12" fmla="*/ 75440 h 287126"/>
              <a:gd name="connsiteX13" fmla="*/ 28537 w 287502"/>
              <a:gd name="connsiteY13" fmla="*/ 113948 h 287126"/>
              <a:gd name="connsiteX14" fmla="*/ 25615 w 287502"/>
              <a:gd name="connsiteY14" fmla="*/ 128217 h 287126"/>
              <a:gd name="connsiteX15" fmla="*/ 25099 w 287502"/>
              <a:gd name="connsiteY15" fmla="*/ 144033 h 287126"/>
              <a:gd name="connsiteX16" fmla="*/ 25615 w 287502"/>
              <a:gd name="connsiteY16" fmla="*/ 159849 h 287126"/>
              <a:gd name="connsiteX17" fmla="*/ 28537 w 287502"/>
              <a:gd name="connsiteY17" fmla="*/ 174117 h 287126"/>
              <a:gd name="connsiteX18" fmla="*/ 42806 w 287502"/>
              <a:gd name="connsiteY18" fmla="*/ 207296 h 287126"/>
              <a:gd name="connsiteX19" fmla="*/ 66357 w 287502"/>
              <a:gd name="connsiteY19" fmla="*/ 234630 h 287126"/>
              <a:gd name="connsiteX20" fmla="*/ 125323 w 287502"/>
              <a:gd name="connsiteY20" fmla="*/ 261964 h 287126"/>
              <a:gd name="connsiteX21" fmla="*/ 143889 w 287502"/>
              <a:gd name="connsiteY21" fmla="*/ 262651 h 287126"/>
              <a:gd name="connsiteX22" fmla="*/ 162627 w 287502"/>
              <a:gd name="connsiteY22" fmla="*/ 261619 h 287126"/>
              <a:gd name="connsiteX23" fmla="*/ 175349 w 287502"/>
              <a:gd name="connsiteY23" fmla="*/ 258697 h 287126"/>
              <a:gd name="connsiteX24" fmla="*/ 187039 w 287502"/>
              <a:gd name="connsiteY24" fmla="*/ 254915 h 287126"/>
              <a:gd name="connsiteX25" fmla="*/ 232595 w 287502"/>
              <a:gd name="connsiteY25" fmla="*/ 223112 h 287126"/>
              <a:gd name="connsiteX26" fmla="*/ 258553 w 287502"/>
              <a:gd name="connsiteY26" fmla="*/ 174805 h 287126"/>
              <a:gd name="connsiteX27" fmla="*/ 261476 w 287502"/>
              <a:gd name="connsiteY27" fmla="*/ 162427 h 287126"/>
              <a:gd name="connsiteX28" fmla="*/ 262851 w 287502"/>
              <a:gd name="connsiteY28" fmla="*/ 149706 h 287126"/>
              <a:gd name="connsiteX29" fmla="*/ 264055 w 287502"/>
              <a:gd name="connsiteY29" fmla="*/ 139219 h 287126"/>
              <a:gd name="connsiteX30" fmla="*/ 267493 w 287502"/>
              <a:gd name="connsiteY30" fmla="*/ 134578 h 287126"/>
              <a:gd name="connsiteX31" fmla="*/ 279011 w 287502"/>
              <a:gd name="connsiteY31" fmla="*/ 131999 h 287126"/>
              <a:gd name="connsiteX32" fmla="*/ 287091 w 287502"/>
              <a:gd name="connsiteY32" fmla="*/ 140595 h 287126"/>
              <a:gd name="connsiteX33" fmla="*/ 287263 w 287502"/>
              <a:gd name="connsiteY33" fmla="*/ 152457 h 287126"/>
              <a:gd name="connsiteX34" fmla="*/ 285200 w 287502"/>
              <a:gd name="connsiteY34" fmla="*/ 169819 h 287126"/>
              <a:gd name="connsiteX35" fmla="*/ 268009 w 287502"/>
              <a:gd name="connsiteY35" fmla="*/ 216063 h 287126"/>
              <a:gd name="connsiteX36" fmla="*/ 236205 w 287502"/>
              <a:gd name="connsiteY36" fmla="*/ 253368 h 287126"/>
              <a:gd name="connsiteX37" fmla="*/ 161596 w 287502"/>
              <a:gd name="connsiteY37" fmla="*/ 286547 h 287126"/>
              <a:gd name="connsiteX38" fmla="*/ 142858 w 287502"/>
              <a:gd name="connsiteY38" fmla="*/ 287062 h 287126"/>
              <a:gd name="connsiteX39" fmla="*/ 124120 w 287502"/>
              <a:gd name="connsiteY39" fmla="*/ 286031 h 287126"/>
              <a:gd name="connsiteX40" fmla="*/ 51401 w 287502"/>
              <a:gd name="connsiteY40" fmla="*/ 253368 h 287126"/>
              <a:gd name="connsiteX41" fmla="*/ 18395 w 287502"/>
              <a:gd name="connsiteY41" fmla="*/ 213485 h 287126"/>
              <a:gd name="connsiteX42" fmla="*/ 1204 w 287502"/>
              <a:gd name="connsiteY42" fmla="*/ 163287 h 287126"/>
              <a:gd name="connsiteX43" fmla="*/ 0 w 287502"/>
              <a:gd name="connsiteY43" fmla="*/ 143689 h 287126"/>
              <a:gd name="connsiteX44" fmla="*/ 1204 w 287502"/>
              <a:gd name="connsiteY44" fmla="*/ 124091 h 287126"/>
              <a:gd name="connsiteX45" fmla="*/ 41946 w 287502"/>
              <a:gd name="connsiteY45" fmla="*/ 42090 h 287126"/>
              <a:gd name="connsiteX46" fmla="*/ 82689 w 287502"/>
              <a:gd name="connsiteY46" fmla="*/ 13380 h 287126"/>
              <a:gd name="connsiteX47" fmla="*/ 131168 w 287502"/>
              <a:gd name="connsiteY47" fmla="*/ 487 h 287126"/>
              <a:gd name="connsiteX48" fmla="*/ 159705 w 287502"/>
              <a:gd name="connsiteY48" fmla="*/ 1003 h 287126"/>
              <a:gd name="connsiteX49" fmla="*/ 274541 w 287502"/>
              <a:gd name="connsiteY49" fmla="*/ 32806 h 287126"/>
              <a:gd name="connsiteX50" fmla="*/ 278667 w 287502"/>
              <a:gd name="connsiteY50" fmla="*/ 33151 h 287126"/>
              <a:gd name="connsiteX51" fmla="*/ 286231 w 287502"/>
              <a:gd name="connsiteY51" fmla="*/ 40198 h 287126"/>
              <a:gd name="connsiteX52" fmla="*/ 285716 w 287502"/>
              <a:gd name="connsiteY52" fmla="*/ 50857 h 287126"/>
              <a:gd name="connsiteX53" fmla="*/ 217639 w 287502"/>
              <a:gd name="connsiteY53" fmla="*/ 120137 h 287126"/>
              <a:gd name="connsiteX54" fmla="*/ 160049 w 287502"/>
              <a:gd name="connsiteY54" fmla="*/ 177040 h 287126"/>
              <a:gd name="connsiteX55" fmla="*/ 147156 w 287502"/>
              <a:gd name="connsiteY55" fmla="*/ 188214 h 287126"/>
              <a:gd name="connsiteX56" fmla="*/ 137872 w 287502"/>
              <a:gd name="connsiteY56" fmla="*/ 187010 h 287126"/>
              <a:gd name="connsiteX57" fmla="*/ 109851 w 287502"/>
              <a:gd name="connsiteY57" fmla="*/ 159677 h 287126"/>
              <a:gd name="connsiteX58" fmla="*/ 87675 w 287502"/>
              <a:gd name="connsiteY58" fmla="*/ 137156 h 287126"/>
              <a:gd name="connsiteX59" fmla="*/ 82517 w 287502"/>
              <a:gd name="connsiteY59" fmla="*/ 130452 h 287126"/>
              <a:gd name="connsiteX60" fmla="*/ 85611 w 287502"/>
              <a:gd name="connsiteY60" fmla="*/ 118590 h 287126"/>
              <a:gd name="connsiteX61" fmla="*/ 97989 w 287502"/>
              <a:gd name="connsiteY61" fmla="*/ 115495 h 287126"/>
              <a:gd name="connsiteX62" fmla="*/ 104006 w 287502"/>
              <a:gd name="connsiteY62" fmla="*/ 119622 h 287126"/>
              <a:gd name="connsiteX63" fmla="*/ 122228 w 287502"/>
              <a:gd name="connsiteY63" fmla="*/ 137500 h 287126"/>
              <a:gd name="connsiteX64" fmla="*/ 143717 w 287502"/>
              <a:gd name="connsiteY64" fmla="*/ 158989 h 287126"/>
              <a:gd name="connsiteX65" fmla="*/ 206121 w 287502"/>
              <a:gd name="connsiteY65" fmla="*/ 96586 h 287126"/>
              <a:gd name="connsiteX66" fmla="*/ 256147 w 287502"/>
              <a:gd name="connsiteY66" fmla="*/ 46903 h 287126"/>
              <a:gd name="connsiteX67" fmla="*/ 270759 w 287502"/>
              <a:gd name="connsiteY67" fmla="*/ 33494 h 287126"/>
              <a:gd name="connsiteX68" fmla="*/ 274541 w 287502"/>
              <a:gd name="connsiteY68" fmla="*/ 32806 h 28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87502" h="287126">
                <a:moveTo>
                  <a:pt x="159705" y="1003"/>
                </a:moveTo>
                <a:cubicBezTo>
                  <a:pt x="170364" y="2206"/>
                  <a:pt x="179818" y="4098"/>
                  <a:pt x="188070" y="7020"/>
                </a:cubicBezTo>
                <a:cubicBezTo>
                  <a:pt x="191337" y="8395"/>
                  <a:pt x="193915" y="9598"/>
                  <a:pt x="195462" y="10630"/>
                </a:cubicBezTo>
                <a:cubicBezTo>
                  <a:pt x="197010" y="11833"/>
                  <a:pt x="198213" y="13209"/>
                  <a:pt x="198901" y="15100"/>
                </a:cubicBezTo>
                <a:cubicBezTo>
                  <a:pt x="200276" y="18710"/>
                  <a:pt x="200276" y="21976"/>
                  <a:pt x="198901" y="24899"/>
                </a:cubicBezTo>
                <a:cubicBezTo>
                  <a:pt x="197697" y="27821"/>
                  <a:pt x="195462" y="29884"/>
                  <a:pt x="192368" y="31087"/>
                </a:cubicBezTo>
                <a:cubicBezTo>
                  <a:pt x="189273" y="32291"/>
                  <a:pt x="185835" y="32119"/>
                  <a:pt x="182053" y="30916"/>
                </a:cubicBezTo>
                <a:cubicBezTo>
                  <a:pt x="179475" y="29884"/>
                  <a:pt x="175521" y="28853"/>
                  <a:pt x="170364" y="27649"/>
                </a:cubicBezTo>
                <a:cubicBezTo>
                  <a:pt x="165034" y="26446"/>
                  <a:pt x="160737" y="25758"/>
                  <a:pt x="157126" y="25586"/>
                </a:cubicBezTo>
                <a:cubicBezTo>
                  <a:pt x="153000" y="25071"/>
                  <a:pt x="147328" y="24899"/>
                  <a:pt x="140107" y="25071"/>
                </a:cubicBezTo>
                <a:cubicBezTo>
                  <a:pt x="132887" y="25242"/>
                  <a:pt x="127386" y="25586"/>
                  <a:pt x="123604" y="26446"/>
                </a:cubicBezTo>
                <a:cubicBezTo>
                  <a:pt x="106584" y="29540"/>
                  <a:pt x="91112" y="35729"/>
                  <a:pt x="77016" y="45356"/>
                </a:cubicBezTo>
                <a:cubicBezTo>
                  <a:pt x="65154" y="53264"/>
                  <a:pt x="55011" y="63235"/>
                  <a:pt x="46416" y="75440"/>
                </a:cubicBezTo>
                <a:cubicBezTo>
                  <a:pt x="37820" y="87474"/>
                  <a:pt x="31804" y="100367"/>
                  <a:pt x="28537" y="113948"/>
                </a:cubicBezTo>
                <a:cubicBezTo>
                  <a:pt x="26990" y="119793"/>
                  <a:pt x="25958" y="124607"/>
                  <a:pt x="25615" y="128217"/>
                </a:cubicBezTo>
                <a:cubicBezTo>
                  <a:pt x="25271" y="131827"/>
                  <a:pt x="25099" y="136984"/>
                  <a:pt x="25099" y="144033"/>
                </a:cubicBezTo>
                <a:cubicBezTo>
                  <a:pt x="25099" y="150909"/>
                  <a:pt x="25271" y="156238"/>
                  <a:pt x="25615" y="159849"/>
                </a:cubicBezTo>
                <a:cubicBezTo>
                  <a:pt x="25958" y="163459"/>
                  <a:pt x="26990" y="168272"/>
                  <a:pt x="28537" y="174117"/>
                </a:cubicBezTo>
                <a:cubicBezTo>
                  <a:pt x="31288" y="185463"/>
                  <a:pt x="36101" y="196466"/>
                  <a:pt x="42806" y="207296"/>
                </a:cubicBezTo>
                <a:cubicBezTo>
                  <a:pt x="49510" y="218126"/>
                  <a:pt x="57246" y="227237"/>
                  <a:pt x="66357" y="234630"/>
                </a:cubicBezTo>
                <a:cubicBezTo>
                  <a:pt x="83377" y="248726"/>
                  <a:pt x="102974" y="257837"/>
                  <a:pt x="125323" y="261964"/>
                </a:cubicBezTo>
                <a:cubicBezTo>
                  <a:pt x="128589" y="262479"/>
                  <a:pt x="134778" y="262651"/>
                  <a:pt x="143889" y="262651"/>
                </a:cubicBezTo>
                <a:cubicBezTo>
                  <a:pt x="152828" y="262651"/>
                  <a:pt x="159017" y="262307"/>
                  <a:pt x="162627" y="261619"/>
                </a:cubicBezTo>
                <a:cubicBezTo>
                  <a:pt x="166066" y="260932"/>
                  <a:pt x="170364" y="260072"/>
                  <a:pt x="175349" y="258697"/>
                </a:cubicBezTo>
                <a:cubicBezTo>
                  <a:pt x="180334" y="257494"/>
                  <a:pt x="184288" y="256119"/>
                  <a:pt x="187039" y="254915"/>
                </a:cubicBezTo>
                <a:cubicBezTo>
                  <a:pt x="204746" y="248039"/>
                  <a:pt x="219873" y="237380"/>
                  <a:pt x="232595" y="223112"/>
                </a:cubicBezTo>
                <a:cubicBezTo>
                  <a:pt x="245316" y="208843"/>
                  <a:pt x="253912" y="192684"/>
                  <a:pt x="258553" y="174805"/>
                </a:cubicBezTo>
                <a:cubicBezTo>
                  <a:pt x="259929" y="169991"/>
                  <a:pt x="260788" y="165866"/>
                  <a:pt x="261476" y="162427"/>
                </a:cubicBezTo>
                <a:cubicBezTo>
                  <a:pt x="262164" y="159161"/>
                  <a:pt x="262507" y="154863"/>
                  <a:pt x="262851" y="149706"/>
                </a:cubicBezTo>
                <a:cubicBezTo>
                  <a:pt x="263023" y="144548"/>
                  <a:pt x="263539" y="141110"/>
                  <a:pt x="264055" y="139219"/>
                </a:cubicBezTo>
                <a:cubicBezTo>
                  <a:pt x="264570" y="137500"/>
                  <a:pt x="265774" y="135953"/>
                  <a:pt x="267493" y="134578"/>
                </a:cubicBezTo>
                <a:cubicBezTo>
                  <a:pt x="270759" y="131483"/>
                  <a:pt x="274713" y="130624"/>
                  <a:pt x="279011" y="131999"/>
                </a:cubicBezTo>
                <a:cubicBezTo>
                  <a:pt x="283309" y="133374"/>
                  <a:pt x="286059" y="136297"/>
                  <a:pt x="287091" y="140595"/>
                </a:cubicBezTo>
                <a:cubicBezTo>
                  <a:pt x="287606" y="142313"/>
                  <a:pt x="287606" y="146440"/>
                  <a:pt x="287263" y="152457"/>
                </a:cubicBezTo>
                <a:cubicBezTo>
                  <a:pt x="286919" y="158473"/>
                  <a:pt x="286231" y="164318"/>
                  <a:pt x="285200" y="169819"/>
                </a:cubicBezTo>
                <a:cubicBezTo>
                  <a:pt x="282277" y="185979"/>
                  <a:pt x="276604" y="201451"/>
                  <a:pt x="268009" y="216063"/>
                </a:cubicBezTo>
                <a:cubicBezTo>
                  <a:pt x="259413" y="230676"/>
                  <a:pt x="248755" y="243225"/>
                  <a:pt x="236205" y="253368"/>
                </a:cubicBezTo>
                <a:cubicBezTo>
                  <a:pt x="214373" y="271591"/>
                  <a:pt x="189445" y="282593"/>
                  <a:pt x="161596" y="286547"/>
                </a:cubicBezTo>
                <a:cubicBezTo>
                  <a:pt x="156955" y="287062"/>
                  <a:pt x="150766" y="287235"/>
                  <a:pt x="142858" y="287062"/>
                </a:cubicBezTo>
                <a:cubicBezTo>
                  <a:pt x="134950" y="286890"/>
                  <a:pt x="128761" y="286547"/>
                  <a:pt x="124120" y="286031"/>
                </a:cubicBezTo>
                <a:cubicBezTo>
                  <a:pt x="96614" y="281905"/>
                  <a:pt x="72374" y="271075"/>
                  <a:pt x="51401" y="253368"/>
                </a:cubicBezTo>
                <a:cubicBezTo>
                  <a:pt x="37992" y="242366"/>
                  <a:pt x="26990" y="229129"/>
                  <a:pt x="18395" y="213485"/>
                </a:cubicBezTo>
                <a:cubicBezTo>
                  <a:pt x="9799" y="198013"/>
                  <a:pt x="4126" y="181165"/>
                  <a:pt x="1204" y="163287"/>
                </a:cubicBezTo>
                <a:cubicBezTo>
                  <a:pt x="516" y="158129"/>
                  <a:pt x="0" y="151597"/>
                  <a:pt x="0" y="143689"/>
                </a:cubicBezTo>
                <a:cubicBezTo>
                  <a:pt x="0" y="135781"/>
                  <a:pt x="344" y="129249"/>
                  <a:pt x="1204" y="124091"/>
                </a:cubicBezTo>
                <a:cubicBezTo>
                  <a:pt x="6017" y="91772"/>
                  <a:pt x="19770" y="64438"/>
                  <a:pt x="41946" y="42090"/>
                </a:cubicBezTo>
                <a:cubicBezTo>
                  <a:pt x="53980" y="30056"/>
                  <a:pt x="67561" y="20429"/>
                  <a:pt x="82689" y="13380"/>
                </a:cubicBezTo>
                <a:cubicBezTo>
                  <a:pt x="97817" y="6333"/>
                  <a:pt x="113977" y="2035"/>
                  <a:pt x="131168" y="487"/>
                </a:cubicBezTo>
                <a:cubicBezTo>
                  <a:pt x="139591" y="-372"/>
                  <a:pt x="149046" y="-29"/>
                  <a:pt x="159705" y="1003"/>
                </a:cubicBezTo>
                <a:close/>
                <a:moveTo>
                  <a:pt x="274541" y="32806"/>
                </a:moveTo>
                <a:cubicBezTo>
                  <a:pt x="275401" y="32806"/>
                  <a:pt x="276776" y="32978"/>
                  <a:pt x="278667" y="33151"/>
                </a:cubicBezTo>
                <a:cubicBezTo>
                  <a:pt x="282277" y="34182"/>
                  <a:pt x="284684" y="36588"/>
                  <a:pt x="286231" y="40198"/>
                </a:cubicBezTo>
                <a:cubicBezTo>
                  <a:pt x="287606" y="43980"/>
                  <a:pt x="287435" y="47419"/>
                  <a:pt x="285716" y="50857"/>
                </a:cubicBezTo>
                <a:cubicBezTo>
                  <a:pt x="285200" y="52060"/>
                  <a:pt x="262507" y="75268"/>
                  <a:pt x="217639" y="120137"/>
                </a:cubicBezTo>
                <a:cubicBezTo>
                  <a:pt x="186523" y="150909"/>
                  <a:pt x="167441" y="169991"/>
                  <a:pt x="160049" y="177040"/>
                </a:cubicBezTo>
                <a:cubicBezTo>
                  <a:pt x="152657" y="184260"/>
                  <a:pt x="148359" y="187870"/>
                  <a:pt x="147156" y="188214"/>
                </a:cubicBezTo>
                <a:cubicBezTo>
                  <a:pt x="143889" y="188902"/>
                  <a:pt x="140795" y="188557"/>
                  <a:pt x="137872" y="187010"/>
                </a:cubicBezTo>
                <a:cubicBezTo>
                  <a:pt x="136497" y="186495"/>
                  <a:pt x="127214" y="177383"/>
                  <a:pt x="109851" y="159677"/>
                </a:cubicBezTo>
                <a:cubicBezTo>
                  <a:pt x="97989" y="147815"/>
                  <a:pt x="90597" y="140423"/>
                  <a:pt x="87675" y="137156"/>
                </a:cubicBezTo>
                <a:cubicBezTo>
                  <a:pt x="84752" y="133890"/>
                  <a:pt x="83033" y="131655"/>
                  <a:pt x="82517" y="130452"/>
                </a:cubicBezTo>
                <a:cubicBezTo>
                  <a:pt x="81142" y="125810"/>
                  <a:pt x="82345" y="121856"/>
                  <a:pt x="85611" y="118590"/>
                </a:cubicBezTo>
                <a:cubicBezTo>
                  <a:pt x="88878" y="115324"/>
                  <a:pt x="93004" y="114292"/>
                  <a:pt x="97989" y="115495"/>
                </a:cubicBezTo>
                <a:cubicBezTo>
                  <a:pt x="99192" y="115667"/>
                  <a:pt x="101255" y="117043"/>
                  <a:pt x="104006" y="119622"/>
                </a:cubicBezTo>
                <a:cubicBezTo>
                  <a:pt x="106756" y="122028"/>
                  <a:pt x="112773" y="128045"/>
                  <a:pt x="122228" y="137500"/>
                </a:cubicBezTo>
                <a:lnTo>
                  <a:pt x="143717" y="158989"/>
                </a:lnTo>
                <a:lnTo>
                  <a:pt x="206121" y="96586"/>
                </a:lnTo>
                <a:cubicBezTo>
                  <a:pt x="230704" y="72002"/>
                  <a:pt x="247379" y="55327"/>
                  <a:pt x="256147" y="46903"/>
                </a:cubicBezTo>
                <a:cubicBezTo>
                  <a:pt x="264914" y="38480"/>
                  <a:pt x="269728" y="34010"/>
                  <a:pt x="270759" y="33494"/>
                </a:cubicBezTo>
                <a:cubicBezTo>
                  <a:pt x="272134" y="32978"/>
                  <a:pt x="273510" y="32806"/>
                  <a:pt x="274541" y="32806"/>
                </a:cubicBezTo>
                <a:close/>
              </a:path>
            </a:pathLst>
          </a:custGeom>
          <a:solidFill>
            <a:schemeClr val="accent1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1955111" y="2838606"/>
            <a:ext cx="155806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400" b="1" kern="0" dirty="0" smtClean="0"/>
              <a:t>результат этапа</a:t>
            </a:r>
            <a:endParaRPr lang="ru-RU" sz="1400" b="1" kern="0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B0BC8224-39EE-478C-B88A-A85BEA8B7BAC}"/>
              </a:ext>
            </a:extLst>
          </p:cNvPr>
          <p:cNvSpPr/>
          <p:nvPr/>
        </p:nvSpPr>
        <p:spPr>
          <a:xfrm rot="2700000">
            <a:off x="1809275" y="1787777"/>
            <a:ext cx="145696" cy="145694"/>
          </a:xfrm>
          <a:prstGeom prst="ellipse">
            <a:avLst/>
          </a:prstGeom>
          <a:gradFill>
            <a:gsLst>
              <a:gs pos="100000">
                <a:schemeClr val="accent1">
                  <a:alpha val="18000"/>
                </a:schemeClr>
              </a:gs>
              <a:gs pos="25000">
                <a:schemeClr val="accent1">
                  <a:alpha val="49000"/>
                </a:schemeClr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0DC08B63-75F5-4954-9A71-2344E6F9544B}"/>
              </a:ext>
            </a:extLst>
          </p:cNvPr>
          <p:cNvSpPr/>
          <p:nvPr/>
        </p:nvSpPr>
        <p:spPr>
          <a:xfrm rot="2700000">
            <a:off x="1841402" y="1819904"/>
            <a:ext cx="81442" cy="81441"/>
          </a:xfrm>
          <a:prstGeom prst="ellipse">
            <a:avLst/>
          </a:prstGeom>
          <a:solidFill>
            <a:srgbClr val="FFC800"/>
          </a:solidFill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88" name="Группа 87"/>
          <p:cNvGrpSpPr/>
          <p:nvPr/>
        </p:nvGrpSpPr>
        <p:grpSpPr>
          <a:xfrm>
            <a:off x="8172431" y="1787776"/>
            <a:ext cx="145694" cy="145696"/>
            <a:chOff x="406925" y="1787776"/>
            <a:chExt cx="145694" cy="145696"/>
          </a:xfrm>
        </p:grpSpPr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B0BC8224-39EE-478C-B88A-A85BEA8B7BAC}"/>
                </a:ext>
              </a:extLst>
            </p:cNvPr>
            <p:cNvSpPr/>
            <p:nvPr/>
          </p:nvSpPr>
          <p:spPr>
            <a:xfrm rot="2700000">
              <a:off x="406924" y="1787777"/>
              <a:ext cx="145696" cy="145694"/>
            </a:xfrm>
            <a:prstGeom prst="ellipse">
              <a:avLst/>
            </a:prstGeom>
            <a:gradFill>
              <a:gsLst>
                <a:gs pos="100000">
                  <a:schemeClr val="accent3">
                    <a:alpha val="18000"/>
                  </a:schemeClr>
                </a:gs>
                <a:gs pos="25000">
                  <a:schemeClr val="accent3">
                    <a:alpha val="49000"/>
                  </a:schemeClr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0DC08B63-75F5-4954-9A71-2344E6F9544B}"/>
                </a:ext>
              </a:extLst>
            </p:cNvPr>
            <p:cNvSpPr/>
            <p:nvPr/>
          </p:nvSpPr>
          <p:spPr>
            <a:xfrm rot="2700000">
              <a:off x="439051" y="1819904"/>
              <a:ext cx="81442" cy="81441"/>
            </a:xfrm>
            <a:prstGeom prst="ellipse">
              <a:avLst/>
            </a:prstGeom>
            <a:solidFill>
              <a:schemeClr val="accent3"/>
            </a:solidFill>
            <a:ln w="952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4887731" y="2838606"/>
            <a:ext cx="1803717" cy="215444"/>
            <a:chOff x="5838116" y="2875883"/>
            <a:chExt cx="1803717" cy="215444"/>
          </a:xfrm>
        </p:grpSpPr>
        <p:sp>
          <p:nvSpPr>
            <p:cNvPr id="91" name="Полилиния: фигура 250">
              <a:extLst>
                <a:ext uri="{FF2B5EF4-FFF2-40B4-BE49-F238E27FC236}">
                  <a16:creationId xmlns:a16="http://schemas.microsoft.com/office/drawing/2014/main" id="{868B4238-226F-4BB4-B69E-BE31EC623CE4}"/>
                </a:ext>
              </a:extLst>
            </p:cNvPr>
            <p:cNvSpPr/>
            <p:nvPr/>
          </p:nvSpPr>
          <p:spPr>
            <a:xfrm>
              <a:off x="5838116" y="2929155"/>
              <a:ext cx="153337" cy="153136"/>
            </a:xfrm>
            <a:custGeom>
              <a:avLst/>
              <a:gdLst>
                <a:gd name="connsiteX0" fmla="*/ 159705 w 287502"/>
                <a:gd name="connsiteY0" fmla="*/ 1003 h 287126"/>
                <a:gd name="connsiteX1" fmla="*/ 188070 w 287502"/>
                <a:gd name="connsiteY1" fmla="*/ 7020 h 287126"/>
                <a:gd name="connsiteX2" fmla="*/ 195462 w 287502"/>
                <a:gd name="connsiteY2" fmla="*/ 10630 h 287126"/>
                <a:gd name="connsiteX3" fmla="*/ 198901 w 287502"/>
                <a:gd name="connsiteY3" fmla="*/ 15100 h 287126"/>
                <a:gd name="connsiteX4" fmla="*/ 198901 w 287502"/>
                <a:gd name="connsiteY4" fmla="*/ 24899 h 287126"/>
                <a:gd name="connsiteX5" fmla="*/ 192368 w 287502"/>
                <a:gd name="connsiteY5" fmla="*/ 31087 h 287126"/>
                <a:gd name="connsiteX6" fmla="*/ 182053 w 287502"/>
                <a:gd name="connsiteY6" fmla="*/ 30916 h 287126"/>
                <a:gd name="connsiteX7" fmla="*/ 170364 w 287502"/>
                <a:gd name="connsiteY7" fmla="*/ 27649 h 287126"/>
                <a:gd name="connsiteX8" fmla="*/ 157126 w 287502"/>
                <a:gd name="connsiteY8" fmla="*/ 25586 h 287126"/>
                <a:gd name="connsiteX9" fmla="*/ 140107 w 287502"/>
                <a:gd name="connsiteY9" fmla="*/ 25071 h 287126"/>
                <a:gd name="connsiteX10" fmla="*/ 123604 w 287502"/>
                <a:gd name="connsiteY10" fmla="*/ 26446 h 287126"/>
                <a:gd name="connsiteX11" fmla="*/ 77016 w 287502"/>
                <a:gd name="connsiteY11" fmla="*/ 45356 h 287126"/>
                <a:gd name="connsiteX12" fmla="*/ 46416 w 287502"/>
                <a:gd name="connsiteY12" fmla="*/ 75440 h 287126"/>
                <a:gd name="connsiteX13" fmla="*/ 28537 w 287502"/>
                <a:gd name="connsiteY13" fmla="*/ 113948 h 287126"/>
                <a:gd name="connsiteX14" fmla="*/ 25615 w 287502"/>
                <a:gd name="connsiteY14" fmla="*/ 128217 h 287126"/>
                <a:gd name="connsiteX15" fmla="*/ 25099 w 287502"/>
                <a:gd name="connsiteY15" fmla="*/ 144033 h 287126"/>
                <a:gd name="connsiteX16" fmla="*/ 25615 w 287502"/>
                <a:gd name="connsiteY16" fmla="*/ 159849 h 287126"/>
                <a:gd name="connsiteX17" fmla="*/ 28537 w 287502"/>
                <a:gd name="connsiteY17" fmla="*/ 174117 h 287126"/>
                <a:gd name="connsiteX18" fmla="*/ 42806 w 287502"/>
                <a:gd name="connsiteY18" fmla="*/ 207296 h 287126"/>
                <a:gd name="connsiteX19" fmla="*/ 66357 w 287502"/>
                <a:gd name="connsiteY19" fmla="*/ 234630 h 287126"/>
                <a:gd name="connsiteX20" fmla="*/ 125323 w 287502"/>
                <a:gd name="connsiteY20" fmla="*/ 261964 h 287126"/>
                <a:gd name="connsiteX21" fmla="*/ 143889 w 287502"/>
                <a:gd name="connsiteY21" fmla="*/ 262651 h 287126"/>
                <a:gd name="connsiteX22" fmla="*/ 162627 w 287502"/>
                <a:gd name="connsiteY22" fmla="*/ 261619 h 287126"/>
                <a:gd name="connsiteX23" fmla="*/ 175349 w 287502"/>
                <a:gd name="connsiteY23" fmla="*/ 258697 h 287126"/>
                <a:gd name="connsiteX24" fmla="*/ 187039 w 287502"/>
                <a:gd name="connsiteY24" fmla="*/ 254915 h 287126"/>
                <a:gd name="connsiteX25" fmla="*/ 232595 w 287502"/>
                <a:gd name="connsiteY25" fmla="*/ 223112 h 287126"/>
                <a:gd name="connsiteX26" fmla="*/ 258553 w 287502"/>
                <a:gd name="connsiteY26" fmla="*/ 174805 h 287126"/>
                <a:gd name="connsiteX27" fmla="*/ 261476 w 287502"/>
                <a:gd name="connsiteY27" fmla="*/ 162427 h 287126"/>
                <a:gd name="connsiteX28" fmla="*/ 262851 w 287502"/>
                <a:gd name="connsiteY28" fmla="*/ 149706 h 287126"/>
                <a:gd name="connsiteX29" fmla="*/ 264055 w 287502"/>
                <a:gd name="connsiteY29" fmla="*/ 139219 h 287126"/>
                <a:gd name="connsiteX30" fmla="*/ 267493 w 287502"/>
                <a:gd name="connsiteY30" fmla="*/ 134578 h 287126"/>
                <a:gd name="connsiteX31" fmla="*/ 279011 w 287502"/>
                <a:gd name="connsiteY31" fmla="*/ 131999 h 287126"/>
                <a:gd name="connsiteX32" fmla="*/ 287091 w 287502"/>
                <a:gd name="connsiteY32" fmla="*/ 140595 h 287126"/>
                <a:gd name="connsiteX33" fmla="*/ 287263 w 287502"/>
                <a:gd name="connsiteY33" fmla="*/ 152457 h 287126"/>
                <a:gd name="connsiteX34" fmla="*/ 285200 w 287502"/>
                <a:gd name="connsiteY34" fmla="*/ 169819 h 287126"/>
                <a:gd name="connsiteX35" fmla="*/ 268009 w 287502"/>
                <a:gd name="connsiteY35" fmla="*/ 216063 h 287126"/>
                <a:gd name="connsiteX36" fmla="*/ 236205 w 287502"/>
                <a:gd name="connsiteY36" fmla="*/ 253368 h 287126"/>
                <a:gd name="connsiteX37" fmla="*/ 161596 w 287502"/>
                <a:gd name="connsiteY37" fmla="*/ 286547 h 287126"/>
                <a:gd name="connsiteX38" fmla="*/ 142858 w 287502"/>
                <a:gd name="connsiteY38" fmla="*/ 287062 h 287126"/>
                <a:gd name="connsiteX39" fmla="*/ 124120 w 287502"/>
                <a:gd name="connsiteY39" fmla="*/ 286031 h 287126"/>
                <a:gd name="connsiteX40" fmla="*/ 51401 w 287502"/>
                <a:gd name="connsiteY40" fmla="*/ 253368 h 287126"/>
                <a:gd name="connsiteX41" fmla="*/ 18395 w 287502"/>
                <a:gd name="connsiteY41" fmla="*/ 213485 h 287126"/>
                <a:gd name="connsiteX42" fmla="*/ 1204 w 287502"/>
                <a:gd name="connsiteY42" fmla="*/ 163287 h 287126"/>
                <a:gd name="connsiteX43" fmla="*/ 0 w 287502"/>
                <a:gd name="connsiteY43" fmla="*/ 143689 h 287126"/>
                <a:gd name="connsiteX44" fmla="*/ 1204 w 287502"/>
                <a:gd name="connsiteY44" fmla="*/ 124091 h 287126"/>
                <a:gd name="connsiteX45" fmla="*/ 41946 w 287502"/>
                <a:gd name="connsiteY45" fmla="*/ 42090 h 287126"/>
                <a:gd name="connsiteX46" fmla="*/ 82689 w 287502"/>
                <a:gd name="connsiteY46" fmla="*/ 13380 h 287126"/>
                <a:gd name="connsiteX47" fmla="*/ 131168 w 287502"/>
                <a:gd name="connsiteY47" fmla="*/ 487 h 287126"/>
                <a:gd name="connsiteX48" fmla="*/ 159705 w 287502"/>
                <a:gd name="connsiteY48" fmla="*/ 1003 h 287126"/>
                <a:gd name="connsiteX49" fmla="*/ 274541 w 287502"/>
                <a:gd name="connsiteY49" fmla="*/ 32806 h 287126"/>
                <a:gd name="connsiteX50" fmla="*/ 278667 w 287502"/>
                <a:gd name="connsiteY50" fmla="*/ 33151 h 287126"/>
                <a:gd name="connsiteX51" fmla="*/ 286231 w 287502"/>
                <a:gd name="connsiteY51" fmla="*/ 40198 h 287126"/>
                <a:gd name="connsiteX52" fmla="*/ 285716 w 287502"/>
                <a:gd name="connsiteY52" fmla="*/ 50857 h 287126"/>
                <a:gd name="connsiteX53" fmla="*/ 217639 w 287502"/>
                <a:gd name="connsiteY53" fmla="*/ 120137 h 287126"/>
                <a:gd name="connsiteX54" fmla="*/ 160049 w 287502"/>
                <a:gd name="connsiteY54" fmla="*/ 177040 h 287126"/>
                <a:gd name="connsiteX55" fmla="*/ 147156 w 287502"/>
                <a:gd name="connsiteY55" fmla="*/ 188214 h 287126"/>
                <a:gd name="connsiteX56" fmla="*/ 137872 w 287502"/>
                <a:gd name="connsiteY56" fmla="*/ 187010 h 287126"/>
                <a:gd name="connsiteX57" fmla="*/ 109851 w 287502"/>
                <a:gd name="connsiteY57" fmla="*/ 159677 h 287126"/>
                <a:gd name="connsiteX58" fmla="*/ 87675 w 287502"/>
                <a:gd name="connsiteY58" fmla="*/ 137156 h 287126"/>
                <a:gd name="connsiteX59" fmla="*/ 82517 w 287502"/>
                <a:gd name="connsiteY59" fmla="*/ 130452 h 287126"/>
                <a:gd name="connsiteX60" fmla="*/ 85611 w 287502"/>
                <a:gd name="connsiteY60" fmla="*/ 118590 h 287126"/>
                <a:gd name="connsiteX61" fmla="*/ 97989 w 287502"/>
                <a:gd name="connsiteY61" fmla="*/ 115495 h 287126"/>
                <a:gd name="connsiteX62" fmla="*/ 104006 w 287502"/>
                <a:gd name="connsiteY62" fmla="*/ 119622 h 287126"/>
                <a:gd name="connsiteX63" fmla="*/ 122228 w 287502"/>
                <a:gd name="connsiteY63" fmla="*/ 137500 h 287126"/>
                <a:gd name="connsiteX64" fmla="*/ 143717 w 287502"/>
                <a:gd name="connsiteY64" fmla="*/ 158989 h 287126"/>
                <a:gd name="connsiteX65" fmla="*/ 206121 w 287502"/>
                <a:gd name="connsiteY65" fmla="*/ 96586 h 287126"/>
                <a:gd name="connsiteX66" fmla="*/ 256147 w 287502"/>
                <a:gd name="connsiteY66" fmla="*/ 46903 h 287126"/>
                <a:gd name="connsiteX67" fmla="*/ 270759 w 287502"/>
                <a:gd name="connsiteY67" fmla="*/ 33494 h 287126"/>
                <a:gd name="connsiteX68" fmla="*/ 274541 w 287502"/>
                <a:gd name="connsiteY68" fmla="*/ 32806 h 28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87502" h="287126">
                  <a:moveTo>
                    <a:pt x="159705" y="1003"/>
                  </a:moveTo>
                  <a:cubicBezTo>
                    <a:pt x="170364" y="2206"/>
                    <a:pt x="179818" y="4098"/>
                    <a:pt x="188070" y="7020"/>
                  </a:cubicBezTo>
                  <a:cubicBezTo>
                    <a:pt x="191337" y="8395"/>
                    <a:pt x="193915" y="9598"/>
                    <a:pt x="195462" y="10630"/>
                  </a:cubicBezTo>
                  <a:cubicBezTo>
                    <a:pt x="197010" y="11833"/>
                    <a:pt x="198213" y="13209"/>
                    <a:pt x="198901" y="15100"/>
                  </a:cubicBezTo>
                  <a:cubicBezTo>
                    <a:pt x="200276" y="18710"/>
                    <a:pt x="200276" y="21976"/>
                    <a:pt x="198901" y="24899"/>
                  </a:cubicBezTo>
                  <a:cubicBezTo>
                    <a:pt x="197697" y="27821"/>
                    <a:pt x="195462" y="29884"/>
                    <a:pt x="192368" y="31087"/>
                  </a:cubicBezTo>
                  <a:cubicBezTo>
                    <a:pt x="189273" y="32291"/>
                    <a:pt x="185835" y="32119"/>
                    <a:pt x="182053" y="30916"/>
                  </a:cubicBezTo>
                  <a:cubicBezTo>
                    <a:pt x="179475" y="29884"/>
                    <a:pt x="175521" y="28853"/>
                    <a:pt x="170364" y="27649"/>
                  </a:cubicBezTo>
                  <a:cubicBezTo>
                    <a:pt x="165034" y="26446"/>
                    <a:pt x="160737" y="25758"/>
                    <a:pt x="157126" y="25586"/>
                  </a:cubicBezTo>
                  <a:cubicBezTo>
                    <a:pt x="153000" y="25071"/>
                    <a:pt x="147328" y="24899"/>
                    <a:pt x="140107" y="25071"/>
                  </a:cubicBezTo>
                  <a:cubicBezTo>
                    <a:pt x="132887" y="25242"/>
                    <a:pt x="127386" y="25586"/>
                    <a:pt x="123604" y="26446"/>
                  </a:cubicBezTo>
                  <a:cubicBezTo>
                    <a:pt x="106584" y="29540"/>
                    <a:pt x="91112" y="35729"/>
                    <a:pt x="77016" y="45356"/>
                  </a:cubicBezTo>
                  <a:cubicBezTo>
                    <a:pt x="65154" y="53264"/>
                    <a:pt x="55011" y="63235"/>
                    <a:pt x="46416" y="75440"/>
                  </a:cubicBezTo>
                  <a:cubicBezTo>
                    <a:pt x="37820" y="87474"/>
                    <a:pt x="31804" y="100367"/>
                    <a:pt x="28537" y="113948"/>
                  </a:cubicBezTo>
                  <a:cubicBezTo>
                    <a:pt x="26990" y="119793"/>
                    <a:pt x="25958" y="124607"/>
                    <a:pt x="25615" y="128217"/>
                  </a:cubicBezTo>
                  <a:cubicBezTo>
                    <a:pt x="25271" y="131827"/>
                    <a:pt x="25099" y="136984"/>
                    <a:pt x="25099" y="144033"/>
                  </a:cubicBezTo>
                  <a:cubicBezTo>
                    <a:pt x="25099" y="150909"/>
                    <a:pt x="25271" y="156238"/>
                    <a:pt x="25615" y="159849"/>
                  </a:cubicBezTo>
                  <a:cubicBezTo>
                    <a:pt x="25958" y="163459"/>
                    <a:pt x="26990" y="168272"/>
                    <a:pt x="28537" y="174117"/>
                  </a:cubicBezTo>
                  <a:cubicBezTo>
                    <a:pt x="31288" y="185463"/>
                    <a:pt x="36101" y="196466"/>
                    <a:pt x="42806" y="207296"/>
                  </a:cubicBezTo>
                  <a:cubicBezTo>
                    <a:pt x="49510" y="218126"/>
                    <a:pt x="57246" y="227237"/>
                    <a:pt x="66357" y="234630"/>
                  </a:cubicBezTo>
                  <a:cubicBezTo>
                    <a:pt x="83377" y="248726"/>
                    <a:pt x="102974" y="257837"/>
                    <a:pt x="125323" y="261964"/>
                  </a:cubicBezTo>
                  <a:cubicBezTo>
                    <a:pt x="128589" y="262479"/>
                    <a:pt x="134778" y="262651"/>
                    <a:pt x="143889" y="262651"/>
                  </a:cubicBezTo>
                  <a:cubicBezTo>
                    <a:pt x="152828" y="262651"/>
                    <a:pt x="159017" y="262307"/>
                    <a:pt x="162627" y="261619"/>
                  </a:cubicBezTo>
                  <a:cubicBezTo>
                    <a:pt x="166066" y="260932"/>
                    <a:pt x="170364" y="260072"/>
                    <a:pt x="175349" y="258697"/>
                  </a:cubicBezTo>
                  <a:cubicBezTo>
                    <a:pt x="180334" y="257494"/>
                    <a:pt x="184288" y="256119"/>
                    <a:pt x="187039" y="254915"/>
                  </a:cubicBezTo>
                  <a:cubicBezTo>
                    <a:pt x="204746" y="248039"/>
                    <a:pt x="219873" y="237380"/>
                    <a:pt x="232595" y="223112"/>
                  </a:cubicBezTo>
                  <a:cubicBezTo>
                    <a:pt x="245316" y="208843"/>
                    <a:pt x="253912" y="192684"/>
                    <a:pt x="258553" y="174805"/>
                  </a:cubicBezTo>
                  <a:cubicBezTo>
                    <a:pt x="259929" y="169991"/>
                    <a:pt x="260788" y="165866"/>
                    <a:pt x="261476" y="162427"/>
                  </a:cubicBezTo>
                  <a:cubicBezTo>
                    <a:pt x="262164" y="159161"/>
                    <a:pt x="262507" y="154863"/>
                    <a:pt x="262851" y="149706"/>
                  </a:cubicBezTo>
                  <a:cubicBezTo>
                    <a:pt x="263023" y="144548"/>
                    <a:pt x="263539" y="141110"/>
                    <a:pt x="264055" y="139219"/>
                  </a:cubicBezTo>
                  <a:cubicBezTo>
                    <a:pt x="264570" y="137500"/>
                    <a:pt x="265774" y="135953"/>
                    <a:pt x="267493" y="134578"/>
                  </a:cubicBezTo>
                  <a:cubicBezTo>
                    <a:pt x="270759" y="131483"/>
                    <a:pt x="274713" y="130624"/>
                    <a:pt x="279011" y="131999"/>
                  </a:cubicBezTo>
                  <a:cubicBezTo>
                    <a:pt x="283309" y="133374"/>
                    <a:pt x="286059" y="136297"/>
                    <a:pt x="287091" y="140595"/>
                  </a:cubicBezTo>
                  <a:cubicBezTo>
                    <a:pt x="287606" y="142313"/>
                    <a:pt x="287606" y="146440"/>
                    <a:pt x="287263" y="152457"/>
                  </a:cubicBezTo>
                  <a:cubicBezTo>
                    <a:pt x="286919" y="158473"/>
                    <a:pt x="286231" y="164318"/>
                    <a:pt x="285200" y="169819"/>
                  </a:cubicBezTo>
                  <a:cubicBezTo>
                    <a:pt x="282277" y="185979"/>
                    <a:pt x="276604" y="201451"/>
                    <a:pt x="268009" y="216063"/>
                  </a:cubicBezTo>
                  <a:cubicBezTo>
                    <a:pt x="259413" y="230676"/>
                    <a:pt x="248755" y="243225"/>
                    <a:pt x="236205" y="253368"/>
                  </a:cubicBezTo>
                  <a:cubicBezTo>
                    <a:pt x="214373" y="271591"/>
                    <a:pt x="189445" y="282593"/>
                    <a:pt x="161596" y="286547"/>
                  </a:cubicBezTo>
                  <a:cubicBezTo>
                    <a:pt x="156955" y="287062"/>
                    <a:pt x="150766" y="287235"/>
                    <a:pt x="142858" y="287062"/>
                  </a:cubicBezTo>
                  <a:cubicBezTo>
                    <a:pt x="134950" y="286890"/>
                    <a:pt x="128761" y="286547"/>
                    <a:pt x="124120" y="286031"/>
                  </a:cubicBezTo>
                  <a:cubicBezTo>
                    <a:pt x="96614" y="281905"/>
                    <a:pt x="72374" y="271075"/>
                    <a:pt x="51401" y="253368"/>
                  </a:cubicBezTo>
                  <a:cubicBezTo>
                    <a:pt x="37992" y="242366"/>
                    <a:pt x="26990" y="229129"/>
                    <a:pt x="18395" y="213485"/>
                  </a:cubicBezTo>
                  <a:cubicBezTo>
                    <a:pt x="9799" y="198013"/>
                    <a:pt x="4126" y="181165"/>
                    <a:pt x="1204" y="163287"/>
                  </a:cubicBezTo>
                  <a:cubicBezTo>
                    <a:pt x="516" y="158129"/>
                    <a:pt x="0" y="151597"/>
                    <a:pt x="0" y="143689"/>
                  </a:cubicBezTo>
                  <a:cubicBezTo>
                    <a:pt x="0" y="135781"/>
                    <a:pt x="344" y="129249"/>
                    <a:pt x="1204" y="124091"/>
                  </a:cubicBezTo>
                  <a:cubicBezTo>
                    <a:pt x="6017" y="91772"/>
                    <a:pt x="19770" y="64438"/>
                    <a:pt x="41946" y="42090"/>
                  </a:cubicBezTo>
                  <a:cubicBezTo>
                    <a:pt x="53980" y="30056"/>
                    <a:pt x="67561" y="20429"/>
                    <a:pt x="82689" y="13380"/>
                  </a:cubicBezTo>
                  <a:cubicBezTo>
                    <a:pt x="97817" y="6333"/>
                    <a:pt x="113977" y="2035"/>
                    <a:pt x="131168" y="487"/>
                  </a:cubicBezTo>
                  <a:cubicBezTo>
                    <a:pt x="139591" y="-372"/>
                    <a:pt x="149046" y="-29"/>
                    <a:pt x="159705" y="1003"/>
                  </a:cubicBezTo>
                  <a:close/>
                  <a:moveTo>
                    <a:pt x="274541" y="32806"/>
                  </a:moveTo>
                  <a:cubicBezTo>
                    <a:pt x="275401" y="32806"/>
                    <a:pt x="276776" y="32978"/>
                    <a:pt x="278667" y="33151"/>
                  </a:cubicBezTo>
                  <a:cubicBezTo>
                    <a:pt x="282277" y="34182"/>
                    <a:pt x="284684" y="36588"/>
                    <a:pt x="286231" y="40198"/>
                  </a:cubicBezTo>
                  <a:cubicBezTo>
                    <a:pt x="287606" y="43980"/>
                    <a:pt x="287435" y="47419"/>
                    <a:pt x="285716" y="50857"/>
                  </a:cubicBezTo>
                  <a:cubicBezTo>
                    <a:pt x="285200" y="52060"/>
                    <a:pt x="262507" y="75268"/>
                    <a:pt x="217639" y="120137"/>
                  </a:cubicBezTo>
                  <a:cubicBezTo>
                    <a:pt x="186523" y="150909"/>
                    <a:pt x="167441" y="169991"/>
                    <a:pt x="160049" y="177040"/>
                  </a:cubicBezTo>
                  <a:cubicBezTo>
                    <a:pt x="152657" y="184260"/>
                    <a:pt x="148359" y="187870"/>
                    <a:pt x="147156" y="188214"/>
                  </a:cubicBezTo>
                  <a:cubicBezTo>
                    <a:pt x="143889" y="188902"/>
                    <a:pt x="140795" y="188557"/>
                    <a:pt x="137872" y="187010"/>
                  </a:cubicBezTo>
                  <a:cubicBezTo>
                    <a:pt x="136497" y="186495"/>
                    <a:pt x="127214" y="177383"/>
                    <a:pt x="109851" y="159677"/>
                  </a:cubicBezTo>
                  <a:cubicBezTo>
                    <a:pt x="97989" y="147815"/>
                    <a:pt x="90597" y="140423"/>
                    <a:pt x="87675" y="137156"/>
                  </a:cubicBezTo>
                  <a:cubicBezTo>
                    <a:pt x="84752" y="133890"/>
                    <a:pt x="83033" y="131655"/>
                    <a:pt x="82517" y="130452"/>
                  </a:cubicBezTo>
                  <a:cubicBezTo>
                    <a:pt x="81142" y="125810"/>
                    <a:pt x="82345" y="121856"/>
                    <a:pt x="85611" y="118590"/>
                  </a:cubicBezTo>
                  <a:cubicBezTo>
                    <a:pt x="88878" y="115324"/>
                    <a:pt x="93004" y="114292"/>
                    <a:pt x="97989" y="115495"/>
                  </a:cubicBezTo>
                  <a:cubicBezTo>
                    <a:pt x="99192" y="115667"/>
                    <a:pt x="101255" y="117043"/>
                    <a:pt x="104006" y="119622"/>
                  </a:cubicBezTo>
                  <a:cubicBezTo>
                    <a:pt x="106756" y="122028"/>
                    <a:pt x="112773" y="128045"/>
                    <a:pt x="122228" y="137500"/>
                  </a:cubicBezTo>
                  <a:lnTo>
                    <a:pt x="143717" y="158989"/>
                  </a:lnTo>
                  <a:lnTo>
                    <a:pt x="206121" y="96586"/>
                  </a:lnTo>
                  <a:cubicBezTo>
                    <a:pt x="230704" y="72002"/>
                    <a:pt x="247379" y="55327"/>
                    <a:pt x="256147" y="46903"/>
                  </a:cubicBezTo>
                  <a:cubicBezTo>
                    <a:pt x="264914" y="38480"/>
                    <a:pt x="269728" y="34010"/>
                    <a:pt x="270759" y="33494"/>
                  </a:cubicBezTo>
                  <a:cubicBezTo>
                    <a:pt x="272134" y="32978"/>
                    <a:pt x="273510" y="32806"/>
                    <a:pt x="274541" y="32806"/>
                  </a:cubicBezTo>
                  <a:close/>
                </a:path>
              </a:pathLst>
            </a:custGeom>
            <a:solidFill>
              <a:srgbClr val="F59B19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92" name="Прямоугольник 91">
              <a:extLst>
                <a:ext uri="{FF2B5EF4-FFF2-40B4-BE49-F238E27FC236}">
                  <a16:creationId xmlns:a16="http://schemas.microsoft.com/office/drawing/2014/main" id="{AB24AEE0-580F-E54D-9D2D-F1F1CCCBC152}"/>
                </a:ext>
              </a:extLst>
            </p:cNvPr>
            <p:cNvSpPr/>
            <p:nvPr/>
          </p:nvSpPr>
          <p:spPr>
            <a:xfrm>
              <a:off x="6083765" y="2875883"/>
              <a:ext cx="1558068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863909">
                <a:defRPr/>
              </a:pPr>
              <a:r>
                <a:rPr lang="ru-RU" sz="1400" b="1" kern="0" dirty="0" smtClean="0"/>
                <a:t>результат этапа</a:t>
              </a:r>
              <a:endParaRPr lang="ru-RU" sz="1400" b="1" kern="0" dirty="0"/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8048726" y="2838606"/>
            <a:ext cx="1803717" cy="215444"/>
            <a:chOff x="5838116" y="2875883"/>
            <a:chExt cx="1803717" cy="215444"/>
          </a:xfrm>
        </p:grpSpPr>
        <p:sp>
          <p:nvSpPr>
            <p:cNvPr id="95" name="Полилиния: фигура 250">
              <a:extLst>
                <a:ext uri="{FF2B5EF4-FFF2-40B4-BE49-F238E27FC236}">
                  <a16:creationId xmlns:a16="http://schemas.microsoft.com/office/drawing/2014/main" id="{868B4238-226F-4BB4-B69E-BE31EC623CE4}"/>
                </a:ext>
              </a:extLst>
            </p:cNvPr>
            <p:cNvSpPr/>
            <p:nvPr/>
          </p:nvSpPr>
          <p:spPr>
            <a:xfrm>
              <a:off x="5838116" y="2929155"/>
              <a:ext cx="153337" cy="153136"/>
            </a:xfrm>
            <a:custGeom>
              <a:avLst/>
              <a:gdLst>
                <a:gd name="connsiteX0" fmla="*/ 159705 w 287502"/>
                <a:gd name="connsiteY0" fmla="*/ 1003 h 287126"/>
                <a:gd name="connsiteX1" fmla="*/ 188070 w 287502"/>
                <a:gd name="connsiteY1" fmla="*/ 7020 h 287126"/>
                <a:gd name="connsiteX2" fmla="*/ 195462 w 287502"/>
                <a:gd name="connsiteY2" fmla="*/ 10630 h 287126"/>
                <a:gd name="connsiteX3" fmla="*/ 198901 w 287502"/>
                <a:gd name="connsiteY3" fmla="*/ 15100 h 287126"/>
                <a:gd name="connsiteX4" fmla="*/ 198901 w 287502"/>
                <a:gd name="connsiteY4" fmla="*/ 24899 h 287126"/>
                <a:gd name="connsiteX5" fmla="*/ 192368 w 287502"/>
                <a:gd name="connsiteY5" fmla="*/ 31087 h 287126"/>
                <a:gd name="connsiteX6" fmla="*/ 182053 w 287502"/>
                <a:gd name="connsiteY6" fmla="*/ 30916 h 287126"/>
                <a:gd name="connsiteX7" fmla="*/ 170364 w 287502"/>
                <a:gd name="connsiteY7" fmla="*/ 27649 h 287126"/>
                <a:gd name="connsiteX8" fmla="*/ 157126 w 287502"/>
                <a:gd name="connsiteY8" fmla="*/ 25586 h 287126"/>
                <a:gd name="connsiteX9" fmla="*/ 140107 w 287502"/>
                <a:gd name="connsiteY9" fmla="*/ 25071 h 287126"/>
                <a:gd name="connsiteX10" fmla="*/ 123604 w 287502"/>
                <a:gd name="connsiteY10" fmla="*/ 26446 h 287126"/>
                <a:gd name="connsiteX11" fmla="*/ 77016 w 287502"/>
                <a:gd name="connsiteY11" fmla="*/ 45356 h 287126"/>
                <a:gd name="connsiteX12" fmla="*/ 46416 w 287502"/>
                <a:gd name="connsiteY12" fmla="*/ 75440 h 287126"/>
                <a:gd name="connsiteX13" fmla="*/ 28537 w 287502"/>
                <a:gd name="connsiteY13" fmla="*/ 113948 h 287126"/>
                <a:gd name="connsiteX14" fmla="*/ 25615 w 287502"/>
                <a:gd name="connsiteY14" fmla="*/ 128217 h 287126"/>
                <a:gd name="connsiteX15" fmla="*/ 25099 w 287502"/>
                <a:gd name="connsiteY15" fmla="*/ 144033 h 287126"/>
                <a:gd name="connsiteX16" fmla="*/ 25615 w 287502"/>
                <a:gd name="connsiteY16" fmla="*/ 159849 h 287126"/>
                <a:gd name="connsiteX17" fmla="*/ 28537 w 287502"/>
                <a:gd name="connsiteY17" fmla="*/ 174117 h 287126"/>
                <a:gd name="connsiteX18" fmla="*/ 42806 w 287502"/>
                <a:gd name="connsiteY18" fmla="*/ 207296 h 287126"/>
                <a:gd name="connsiteX19" fmla="*/ 66357 w 287502"/>
                <a:gd name="connsiteY19" fmla="*/ 234630 h 287126"/>
                <a:gd name="connsiteX20" fmla="*/ 125323 w 287502"/>
                <a:gd name="connsiteY20" fmla="*/ 261964 h 287126"/>
                <a:gd name="connsiteX21" fmla="*/ 143889 w 287502"/>
                <a:gd name="connsiteY21" fmla="*/ 262651 h 287126"/>
                <a:gd name="connsiteX22" fmla="*/ 162627 w 287502"/>
                <a:gd name="connsiteY22" fmla="*/ 261619 h 287126"/>
                <a:gd name="connsiteX23" fmla="*/ 175349 w 287502"/>
                <a:gd name="connsiteY23" fmla="*/ 258697 h 287126"/>
                <a:gd name="connsiteX24" fmla="*/ 187039 w 287502"/>
                <a:gd name="connsiteY24" fmla="*/ 254915 h 287126"/>
                <a:gd name="connsiteX25" fmla="*/ 232595 w 287502"/>
                <a:gd name="connsiteY25" fmla="*/ 223112 h 287126"/>
                <a:gd name="connsiteX26" fmla="*/ 258553 w 287502"/>
                <a:gd name="connsiteY26" fmla="*/ 174805 h 287126"/>
                <a:gd name="connsiteX27" fmla="*/ 261476 w 287502"/>
                <a:gd name="connsiteY27" fmla="*/ 162427 h 287126"/>
                <a:gd name="connsiteX28" fmla="*/ 262851 w 287502"/>
                <a:gd name="connsiteY28" fmla="*/ 149706 h 287126"/>
                <a:gd name="connsiteX29" fmla="*/ 264055 w 287502"/>
                <a:gd name="connsiteY29" fmla="*/ 139219 h 287126"/>
                <a:gd name="connsiteX30" fmla="*/ 267493 w 287502"/>
                <a:gd name="connsiteY30" fmla="*/ 134578 h 287126"/>
                <a:gd name="connsiteX31" fmla="*/ 279011 w 287502"/>
                <a:gd name="connsiteY31" fmla="*/ 131999 h 287126"/>
                <a:gd name="connsiteX32" fmla="*/ 287091 w 287502"/>
                <a:gd name="connsiteY32" fmla="*/ 140595 h 287126"/>
                <a:gd name="connsiteX33" fmla="*/ 287263 w 287502"/>
                <a:gd name="connsiteY33" fmla="*/ 152457 h 287126"/>
                <a:gd name="connsiteX34" fmla="*/ 285200 w 287502"/>
                <a:gd name="connsiteY34" fmla="*/ 169819 h 287126"/>
                <a:gd name="connsiteX35" fmla="*/ 268009 w 287502"/>
                <a:gd name="connsiteY35" fmla="*/ 216063 h 287126"/>
                <a:gd name="connsiteX36" fmla="*/ 236205 w 287502"/>
                <a:gd name="connsiteY36" fmla="*/ 253368 h 287126"/>
                <a:gd name="connsiteX37" fmla="*/ 161596 w 287502"/>
                <a:gd name="connsiteY37" fmla="*/ 286547 h 287126"/>
                <a:gd name="connsiteX38" fmla="*/ 142858 w 287502"/>
                <a:gd name="connsiteY38" fmla="*/ 287062 h 287126"/>
                <a:gd name="connsiteX39" fmla="*/ 124120 w 287502"/>
                <a:gd name="connsiteY39" fmla="*/ 286031 h 287126"/>
                <a:gd name="connsiteX40" fmla="*/ 51401 w 287502"/>
                <a:gd name="connsiteY40" fmla="*/ 253368 h 287126"/>
                <a:gd name="connsiteX41" fmla="*/ 18395 w 287502"/>
                <a:gd name="connsiteY41" fmla="*/ 213485 h 287126"/>
                <a:gd name="connsiteX42" fmla="*/ 1204 w 287502"/>
                <a:gd name="connsiteY42" fmla="*/ 163287 h 287126"/>
                <a:gd name="connsiteX43" fmla="*/ 0 w 287502"/>
                <a:gd name="connsiteY43" fmla="*/ 143689 h 287126"/>
                <a:gd name="connsiteX44" fmla="*/ 1204 w 287502"/>
                <a:gd name="connsiteY44" fmla="*/ 124091 h 287126"/>
                <a:gd name="connsiteX45" fmla="*/ 41946 w 287502"/>
                <a:gd name="connsiteY45" fmla="*/ 42090 h 287126"/>
                <a:gd name="connsiteX46" fmla="*/ 82689 w 287502"/>
                <a:gd name="connsiteY46" fmla="*/ 13380 h 287126"/>
                <a:gd name="connsiteX47" fmla="*/ 131168 w 287502"/>
                <a:gd name="connsiteY47" fmla="*/ 487 h 287126"/>
                <a:gd name="connsiteX48" fmla="*/ 159705 w 287502"/>
                <a:gd name="connsiteY48" fmla="*/ 1003 h 287126"/>
                <a:gd name="connsiteX49" fmla="*/ 274541 w 287502"/>
                <a:gd name="connsiteY49" fmla="*/ 32806 h 287126"/>
                <a:gd name="connsiteX50" fmla="*/ 278667 w 287502"/>
                <a:gd name="connsiteY50" fmla="*/ 33151 h 287126"/>
                <a:gd name="connsiteX51" fmla="*/ 286231 w 287502"/>
                <a:gd name="connsiteY51" fmla="*/ 40198 h 287126"/>
                <a:gd name="connsiteX52" fmla="*/ 285716 w 287502"/>
                <a:gd name="connsiteY52" fmla="*/ 50857 h 287126"/>
                <a:gd name="connsiteX53" fmla="*/ 217639 w 287502"/>
                <a:gd name="connsiteY53" fmla="*/ 120137 h 287126"/>
                <a:gd name="connsiteX54" fmla="*/ 160049 w 287502"/>
                <a:gd name="connsiteY54" fmla="*/ 177040 h 287126"/>
                <a:gd name="connsiteX55" fmla="*/ 147156 w 287502"/>
                <a:gd name="connsiteY55" fmla="*/ 188214 h 287126"/>
                <a:gd name="connsiteX56" fmla="*/ 137872 w 287502"/>
                <a:gd name="connsiteY56" fmla="*/ 187010 h 287126"/>
                <a:gd name="connsiteX57" fmla="*/ 109851 w 287502"/>
                <a:gd name="connsiteY57" fmla="*/ 159677 h 287126"/>
                <a:gd name="connsiteX58" fmla="*/ 87675 w 287502"/>
                <a:gd name="connsiteY58" fmla="*/ 137156 h 287126"/>
                <a:gd name="connsiteX59" fmla="*/ 82517 w 287502"/>
                <a:gd name="connsiteY59" fmla="*/ 130452 h 287126"/>
                <a:gd name="connsiteX60" fmla="*/ 85611 w 287502"/>
                <a:gd name="connsiteY60" fmla="*/ 118590 h 287126"/>
                <a:gd name="connsiteX61" fmla="*/ 97989 w 287502"/>
                <a:gd name="connsiteY61" fmla="*/ 115495 h 287126"/>
                <a:gd name="connsiteX62" fmla="*/ 104006 w 287502"/>
                <a:gd name="connsiteY62" fmla="*/ 119622 h 287126"/>
                <a:gd name="connsiteX63" fmla="*/ 122228 w 287502"/>
                <a:gd name="connsiteY63" fmla="*/ 137500 h 287126"/>
                <a:gd name="connsiteX64" fmla="*/ 143717 w 287502"/>
                <a:gd name="connsiteY64" fmla="*/ 158989 h 287126"/>
                <a:gd name="connsiteX65" fmla="*/ 206121 w 287502"/>
                <a:gd name="connsiteY65" fmla="*/ 96586 h 287126"/>
                <a:gd name="connsiteX66" fmla="*/ 256147 w 287502"/>
                <a:gd name="connsiteY66" fmla="*/ 46903 h 287126"/>
                <a:gd name="connsiteX67" fmla="*/ 270759 w 287502"/>
                <a:gd name="connsiteY67" fmla="*/ 33494 h 287126"/>
                <a:gd name="connsiteX68" fmla="*/ 274541 w 287502"/>
                <a:gd name="connsiteY68" fmla="*/ 32806 h 28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87502" h="287126">
                  <a:moveTo>
                    <a:pt x="159705" y="1003"/>
                  </a:moveTo>
                  <a:cubicBezTo>
                    <a:pt x="170364" y="2206"/>
                    <a:pt x="179818" y="4098"/>
                    <a:pt x="188070" y="7020"/>
                  </a:cubicBezTo>
                  <a:cubicBezTo>
                    <a:pt x="191337" y="8395"/>
                    <a:pt x="193915" y="9598"/>
                    <a:pt x="195462" y="10630"/>
                  </a:cubicBezTo>
                  <a:cubicBezTo>
                    <a:pt x="197010" y="11833"/>
                    <a:pt x="198213" y="13209"/>
                    <a:pt x="198901" y="15100"/>
                  </a:cubicBezTo>
                  <a:cubicBezTo>
                    <a:pt x="200276" y="18710"/>
                    <a:pt x="200276" y="21976"/>
                    <a:pt x="198901" y="24899"/>
                  </a:cubicBezTo>
                  <a:cubicBezTo>
                    <a:pt x="197697" y="27821"/>
                    <a:pt x="195462" y="29884"/>
                    <a:pt x="192368" y="31087"/>
                  </a:cubicBezTo>
                  <a:cubicBezTo>
                    <a:pt x="189273" y="32291"/>
                    <a:pt x="185835" y="32119"/>
                    <a:pt x="182053" y="30916"/>
                  </a:cubicBezTo>
                  <a:cubicBezTo>
                    <a:pt x="179475" y="29884"/>
                    <a:pt x="175521" y="28853"/>
                    <a:pt x="170364" y="27649"/>
                  </a:cubicBezTo>
                  <a:cubicBezTo>
                    <a:pt x="165034" y="26446"/>
                    <a:pt x="160737" y="25758"/>
                    <a:pt x="157126" y="25586"/>
                  </a:cubicBezTo>
                  <a:cubicBezTo>
                    <a:pt x="153000" y="25071"/>
                    <a:pt x="147328" y="24899"/>
                    <a:pt x="140107" y="25071"/>
                  </a:cubicBezTo>
                  <a:cubicBezTo>
                    <a:pt x="132887" y="25242"/>
                    <a:pt x="127386" y="25586"/>
                    <a:pt x="123604" y="26446"/>
                  </a:cubicBezTo>
                  <a:cubicBezTo>
                    <a:pt x="106584" y="29540"/>
                    <a:pt x="91112" y="35729"/>
                    <a:pt x="77016" y="45356"/>
                  </a:cubicBezTo>
                  <a:cubicBezTo>
                    <a:pt x="65154" y="53264"/>
                    <a:pt x="55011" y="63235"/>
                    <a:pt x="46416" y="75440"/>
                  </a:cubicBezTo>
                  <a:cubicBezTo>
                    <a:pt x="37820" y="87474"/>
                    <a:pt x="31804" y="100367"/>
                    <a:pt x="28537" y="113948"/>
                  </a:cubicBezTo>
                  <a:cubicBezTo>
                    <a:pt x="26990" y="119793"/>
                    <a:pt x="25958" y="124607"/>
                    <a:pt x="25615" y="128217"/>
                  </a:cubicBezTo>
                  <a:cubicBezTo>
                    <a:pt x="25271" y="131827"/>
                    <a:pt x="25099" y="136984"/>
                    <a:pt x="25099" y="144033"/>
                  </a:cubicBezTo>
                  <a:cubicBezTo>
                    <a:pt x="25099" y="150909"/>
                    <a:pt x="25271" y="156238"/>
                    <a:pt x="25615" y="159849"/>
                  </a:cubicBezTo>
                  <a:cubicBezTo>
                    <a:pt x="25958" y="163459"/>
                    <a:pt x="26990" y="168272"/>
                    <a:pt x="28537" y="174117"/>
                  </a:cubicBezTo>
                  <a:cubicBezTo>
                    <a:pt x="31288" y="185463"/>
                    <a:pt x="36101" y="196466"/>
                    <a:pt x="42806" y="207296"/>
                  </a:cubicBezTo>
                  <a:cubicBezTo>
                    <a:pt x="49510" y="218126"/>
                    <a:pt x="57246" y="227237"/>
                    <a:pt x="66357" y="234630"/>
                  </a:cubicBezTo>
                  <a:cubicBezTo>
                    <a:pt x="83377" y="248726"/>
                    <a:pt x="102974" y="257837"/>
                    <a:pt x="125323" y="261964"/>
                  </a:cubicBezTo>
                  <a:cubicBezTo>
                    <a:pt x="128589" y="262479"/>
                    <a:pt x="134778" y="262651"/>
                    <a:pt x="143889" y="262651"/>
                  </a:cubicBezTo>
                  <a:cubicBezTo>
                    <a:pt x="152828" y="262651"/>
                    <a:pt x="159017" y="262307"/>
                    <a:pt x="162627" y="261619"/>
                  </a:cubicBezTo>
                  <a:cubicBezTo>
                    <a:pt x="166066" y="260932"/>
                    <a:pt x="170364" y="260072"/>
                    <a:pt x="175349" y="258697"/>
                  </a:cubicBezTo>
                  <a:cubicBezTo>
                    <a:pt x="180334" y="257494"/>
                    <a:pt x="184288" y="256119"/>
                    <a:pt x="187039" y="254915"/>
                  </a:cubicBezTo>
                  <a:cubicBezTo>
                    <a:pt x="204746" y="248039"/>
                    <a:pt x="219873" y="237380"/>
                    <a:pt x="232595" y="223112"/>
                  </a:cubicBezTo>
                  <a:cubicBezTo>
                    <a:pt x="245316" y="208843"/>
                    <a:pt x="253912" y="192684"/>
                    <a:pt x="258553" y="174805"/>
                  </a:cubicBezTo>
                  <a:cubicBezTo>
                    <a:pt x="259929" y="169991"/>
                    <a:pt x="260788" y="165866"/>
                    <a:pt x="261476" y="162427"/>
                  </a:cubicBezTo>
                  <a:cubicBezTo>
                    <a:pt x="262164" y="159161"/>
                    <a:pt x="262507" y="154863"/>
                    <a:pt x="262851" y="149706"/>
                  </a:cubicBezTo>
                  <a:cubicBezTo>
                    <a:pt x="263023" y="144548"/>
                    <a:pt x="263539" y="141110"/>
                    <a:pt x="264055" y="139219"/>
                  </a:cubicBezTo>
                  <a:cubicBezTo>
                    <a:pt x="264570" y="137500"/>
                    <a:pt x="265774" y="135953"/>
                    <a:pt x="267493" y="134578"/>
                  </a:cubicBezTo>
                  <a:cubicBezTo>
                    <a:pt x="270759" y="131483"/>
                    <a:pt x="274713" y="130624"/>
                    <a:pt x="279011" y="131999"/>
                  </a:cubicBezTo>
                  <a:cubicBezTo>
                    <a:pt x="283309" y="133374"/>
                    <a:pt x="286059" y="136297"/>
                    <a:pt x="287091" y="140595"/>
                  </a:cubicBezTo>
                  <a:cubicBezTo>
                    <a:pt x="287606" y="142313"/>
                    <a:pt x="287606" y="146440"/>
                    <a:pt x="287263" y="152457"/>
                  </a:cubicBezTo>
                  <a:cubicBezTo>
                    <a:pt x="286919" y="158473"/>
                    <a:pt x="286231" y="164318"/>
                    <a:pt x="285200" y="169819"/>
                  </a:cubicBezTo>
                  <a:cubicBezTo>
                    <a:pt x="282277" y="185979"/>
                    <a:pt x="276604" y="201451"/>
                    <a:pt x="268009" y="216063"/>
                  </a:cubicBezTo>
                  <a:cubicBezTo>
                    <a:pt x="259413" y="230676"/>
                    <a:pt x="248755" y="243225"/>
                    <a:pt x="236205" y="253368"/>
                  </a:cubicBezTo>
                  <a:cubicBezTo>
                    <a:pt x="214373" y="271591"/>
                    <a:pt x="189445" y="282593"/>
                    <a:pt x="161596" y="286547"/>
                  </a:cubicBezTo>
                  <a:cubicBezTo>
                    <a:pt x="156955" y="287062"/>
                    <a:pt x="150766" y="287235"/>
                    <a:pt x="142858" y="287062"/>
                  </a:cubicBezTo>
                  <a:cubicBezTo>
                    <a:pt x="134950" y="286890"/>
                    <a:pt x="128761" y="286547"/>
                    <a:pt x="124120" y="286031"/>
                  </a:cubicBezTo>
                  <a:cubicBezTo>
                    <a:pt x="96614" y="281905"/>
                    <a:pt x="72374" y="271075"/>
                    <a:pt x="51401" y="253368"/>
                  </a:cubicBezTo>
                  <a:cubicBezTo>
                    <a:pt x="37992" y="242366"/>
                    <a:pt x="26990" y="229129"/>
                    <a:pt x="18395" y="213485"/>
                  </a:cubicBezTo>
                  <a:cubicBezTo>
                    <a:pt x="9799" y="198013"/>
                    <a:pt x="4126" y="181165"/>
                    <a:pt x="1204" y="163287"/>
                  </a:cubicBezTo>
                  <a:cubicBezTo>
                    <a:pt x="516" y="158129"/>
                    <a:pt x="0" y="151597"/>
                    <a:pt x="0" y="143689"/>
                  </a:cubicBezTo>
                  <a:cubicBezTo>
                    <a:pt x="0" y="135781"/>
                    <a:pt x="344" y="129249"/>
                    <a:pt x="1204" y="124091"/>
                  </a:cubicBezTo>
                  <a:cubicBezTo>
                    <a:pt x="6017" y="91772"/>
                    <a:pt x="19770" y="64438"/>
                    <a:pt x="41946" y="42090"/>
                  </a:cubicBezTo>
                  <a:cubicBezTo>
                    <a:pt x="53980" y="30056"/>
                    <a:pt x="67561" y="20429"/>
                    <a:pt x="82689" y="13380"/>
                  </a:cubicBezTo>
                  <a:cubicBezTo>
                    <a:pt x="97817" y="6333"/>
                    <a:pt x="113977" y="2035"/>
                    <a:pt x="131168" y="487"/>
                  </a:cubicBezTo>
                  <a:cubicBezTo>
                    <a:pt x="139591" y="-372"/>
                    <a:pt x="149046" y="-29"/>
                    <a:pt x="159705" y="1003"/>
                  </a:cubicBezTo>
                  <a:close/>
                  <a:moveTo>
                    <a:pt x="274541" y="32806"/>
                  </a:moveTo>
                  <a:cubicBezTo>
                    <a:pt x="275401" y="32806"/>
                    <a:pt x="276776" y="32978"/>
                    <a:pt x="278667" y="33151"/>
                  </a:cubicBezTo>
                  <a:cubicBezTo>
                    <a:pt x="282277" y="34182"/>
                    <a:pt x="284684" y="36588"/>
                    <a:pt x="286231" y="40198"/>
                  </a:cubicBezTo>
                  <a:cubicBezTo>
                    <a:pt x="287606" y="43980"/>
                    <a:pt x="287435" y="47419"/>
                    <a:pt x="285716" y="50857"/>
                  </a:cubicBezTo>
                  <a:cubicBezTo>
                    <a:pt x="285200" y="52060"/>
                    <a:pt x="262507" y="75268"/>
                    <a:pt x="217639" y="120137"/>
                  </a:cubicBezTo>
                  <a:cubicBezTo>
                    <a:pt x="186523" y="150909"/>
                    <a:pt x="167441" y="169991"/>
                    <a:pt x="160049" y="177040"/>
                  </a:cubicBezTo>
                  <a:cubicBezTo>
                    <a:pt x="152657" y="184260"/>
                    <a:pt x="148359" y="187870"/>
                    <a:pt x="147156" y="188214"/>
                  </a:cubicBezTo>
                  <a:cubicBezTo>
                    <a:pt x="143889" y="188902"/>
                    <a:pt x="140795" y="188557"/>
                    <a:pt x="137872" y="187010"/>
                  </a:cubicBezTo>
                  <a:cubicBezTo>
                    <a:pt x="136497" y="186495"/>
                    <a:pt x="127214" y="177383"/>
                    <a:pt x="109851" y="159677"/>
                  </a:cubicBezTo>
                  <a:cubicBezTo>
                    <a:pt x="97989" y="147815"/>
                    <a:pt x="90597" y="140423"/>
                    <a:pt x="87675" y="137156"/>
                  </a:cubicBezTo>
                  <a:cubicBezTo>
                    <a:pt x="84752" y="133890"/>
                    <a:pt x="83033" y="131655"/>
                    <a:pt x="82517" y="130452"/>
                  </a:cubicBezTo>
                  <a:cubicBezTo>
                    <a:pt x="81142" y="125810"/>
                    <a:pt x="82345" y="121856"/>
                    <a:pt x="85611" y="118590"/>
                  </a:cubicBezTo>
                  <a:cubicBezTo>
                    <a:pt x="88878" y="115324"/>
                    <a:pt x="93004" y="114292"/>
                    <a:pt x="97989" y="115495"/>
                  </a:cubicBezTo>
                  <a:cubicBezTo>
                    <a:pt x="99192" y="115667"/>
                    <a:pt x="101255" y="117043"/>
                    <a:pt x="104006" y="119622"/>
                  </a:cubicBezTo>
                  <a:cubicBezTo>
                    <a:pt x="106756" y="122028"/>
                    <a:pt x="112773" y="128045"/>
                    <a:pt x="122228" y="137500"/>
                  </a:cubicBezTo>
                  <a:lnTo>
                    <a:pt x="143717" y="158989"/>
                  </a:lnTo>
                  <a:lnTo>
                    <a:pt x="206121" y="96586"/>
                  </a:lnTo>
                  <a:cubicBezTo>
                    <a:pt x="230704" y="72002"/>
                    <a:pt x="247379" y="55327"/>
                    <a:pt x="256147" y="46903"/>
                  </a:cubicBezTo>
                  <a:cubicBezTo>
                    <a:pt x="264914" y="38480"/>
                    <a:pt x="269728" y="34010"/>
                    <a:pt x="270759" y="33494"/>
                  </a:cubicBezTo>
                  <a:cubicBezTo>
                    <a:pt x="272134" y="32978"/>
                    <a:pt x="273510" y="32806"/>
                    <a:pt x="274541" y="32806"/>
                  </a:cubicBezTo>
                  <a:close/>
                </a:path>
              </a:pathLst>
            </a:custGeom>
            <a:solidFill>
              <a:srgbClr val="F47300"/>
            </a:solidFill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96" name="Прямоугольник 95">
              <a:extLst>
                <a:ext uri="{FF2B5EF4-FFF2-40B4-BE49-F238E27FC236}">
                  <a16:creationId xmlns:a16="http://schemas.microsoft.com/office/drawing/2014/main" id="{AB24AEE0-580F-E54D-9D2D-F1F1CCCBC152}"/>
                </a:ext>
              </a:extLst>
            </p:cNvPr>
            <p:cNvSpPr/>
            <p:nvPr/>
          </p:nvSpPr>
          <p:spPr>
            <a:xfrm>
              <a:off x="6083765" y="2875883"/>
              <a:ext cx="1558068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863909">
                <a:defRPr/>
              </a:pPr>
              <a:r>
                <a:rPr lang="ru-RU" sz="1400" b="1" kern="0" dirty="0" smtClean="0"/>
                <a:t>результат этапа</a:t>
              </a:r>
              <a:endParaRPr lang="ru-RU" sz="1400" b="1" kern="0" dirty="0"/>
            </a:p>
          </p:txBody>
        </p:sp>
      </p:grp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3066683" y="1993197"/>
            <a:ext cx="1066476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050" kern="0" dirty="0" smtClean="0"/>
              <a:t>Действие</a:t>
            </a:r>
            <a:endParaRPr lang="ru-RU" sz="1050" kern="0" dirty="0"/>
          </a:p>
        </p:txBody>
      </p:sp>
      <p:sp>
        <p:nvSpPr>
          <p:cNvPr id="98" name="Овал 97">
            <a:extLst>
              <a:ext uri="{FF2B5EF4-FFF2-40B4-BE49-F238E27FC236}">
                <a16:creationId xmlns:a16="http://schemas.microsoft.com/office/drawing/2014/main" id="{B0BC8224-39EE-478C-B88A-A85BEA8B7BAC}"/>
              </a:ext>
            </a:extLst>
          </p:cNvPr>
          <p:cNvSpPr/>
          <p:nvPr/>
        </p:nvSpPr>
        <p:spPr>
          <a:xfrm rot="2700000">
            <a:off x="3081815" y="1787777"/>
            <a:ext cx="145696" cy="145694"/>
          </a:xfrm>
          <a:prstGeom prst="ellipse">
            <a:avLst/>
          </a:prstGeom>
          <a:gradFill>
            <a:gsLst>
              <a:gs pos="100000">
                <a:schemeClr val="accent1">
                  <a:alpha val="18000"/>
                </a:schemeClr>
              </a:gs>
              <a:gs pos="25000">
                <a:schemeClr val="accent1">
                  <a:alpha val="49000"/>
                </a:schemeClr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0DC08B63-75F5-4954-9A71-2344E6F9544B}"/>
              </a:ext>
            </a:extLst>
          </p:cNvPr>
          <p:cNvSpPr/>
          <p:nvPr/>
        </p:nvSpPr>
        <p:spPr>
          <a:xfrm rot="2700000">
            <a:off x="3113942" y="1819904"/>
            <a:ext cx="81442" cy="81441"/>
          </a:xfrm>
          <a:prstGeom prst="ellipse">
            <a:avLst/>
          </a:prstGeom>
          <a:solidFill>
            <a:srgbClr val="FFC800"/>
          </a:solidFill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4986923" y="1993197"/>
            <a:ext cx="1066476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050" kern="0" dirty="0" smtClean="0"/>
              <a:t>Действие</a:t>
            </a:r>
            <a:endParaRPr lang="ru-RU" sz="1050" kern="0" dirty="0"/>
          </a:p>
        </p:txBody>
      </p:sp>
      <p:grpSp>
        <p:nvGrpSpPr>
          <p:cNvPr id="105" name="Группа 104"/>
          <p:cNvGrpSpPr/>
          <p:nvPr/>
        </p:nvGrpSpPr>
        <p:grpSpPr>
          <a:xfrm>
            <a:off x="6251634" y="1787776"/>
            <a:ext cx="145694" cy="145696"/>
            <a:chOff x="406925" y="1787776"/>
            <a:chExt cx="145694" cy="145696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B0BC8224-39EE-478C-B88A-A85BEA8B7BAC}"/>
                </a:ext>
              </a:extLst>
            </p:cNvPr>
            <p:cNvSpPr/>
            <p:nvPr/>
          </p:nvSpPr>
          <p:spPr>
            <a:xfrm rot="2700000">
              <a:off x="406924" y="1787777"/>
              <a:ext cx="145696" cy="145694"/>
            </a:xfrm>
            <a:prstGeom prst="ellipse">
              <a:avLst/>
            </a:prstGeom>
            <a:gradFill>
              <a:gsLst>
                <a:gs pos="100000">
                  <a:schemeClr val="accent2">
                    <a:alpha val="18000"/>
                  </a:schemeClr>
                </a:gs>
                <a:gs pos="25000">
                  <a:schemeClr val="accent2">
                    <a:alpha val="49000"/>
                  </a:schemeClr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0DC08B63-75F5-4954-9A71-2344E6F9544B}"/>
                </a:ext>
              </a:extLst>
            </p:cNvPr>
            <p:cNvSpPr/>
            <p:nvPr/>
          </p:nvSpPr>
          <p:spPr>
            <a:xfrm rot="2700000">
              <a:off x="439051" y="1819904"/>
              <a:ext cx="81442" cy="81441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6244223" y="1993197"/>
            <a:ext cx="1066476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050" kern="0" dirty="0" smtClean="0"/>
              <a:t>Действие</a:t>
            </a:r>
            <a:endParaRPr lang="ru-RU" sz="1050" kern="0" dirty="0"/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8156843" y="1993197"/>
            <a:ext cx="1066476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050" kern="0" dirty="0" smtClean="0"/>
              <a:t>Действие</a:t>
            </a:r>
            <a:endParaRPr lang="ru-RU" sz="1050" kern="0" dirty="0"/>
          </a:p>
        </p:txBody>
      </p:sp>
      <p:grpSp>
        <p:nvGrpSpPr>
          <p:cNvPr id="111" name="Группа 110"/>
          <p:cNvGrpSpPr/>
          <p:nvPr/>
        </p:nvGrpSpPr>
        <p:grpSpPr>
          <a:xfrm>
            <a:off x="9475451" y="1787776"/>
            <a:ext cx="145694" cy="145696"/>
            <a:chOff x="406925" y="1787776"/>
            <a:chExt cx="145694" cy="145696"/>
          </a:xfrm>
        </p:grpSpPr>
        <p:sp>
          <p:nvSpPr>
            <p:cNvPr id="112" name="Овал 111">
              <a:extLst>
                <a:ext uri="{FF2B5EF4-FFF2-40B4-BE49-F238E27FC236}">
                  <a16:creationId xmlns:a16="http://schemas.microsoft.com/office/drawing/2014/main" id="{B0BC8224-39EE-478C-B88A-A85BEA8B7BAC}"/>
                </a:ext>
              </a:extLst>
            </p:cNvPr>
            <p:cNvSpPr/>
            <p:nvPr/>
          </p:nvSpPr>
          <p:spPr>
            <a:xfrm rot="2700000">
              <a:off x="406924" y="1787777"/>
              <a:ext cx="145696" cy="145694"/>
            </a:xfrm>
            <a:prstGeom prst="ellipse">
              <a:avLst/>
            </a:prstGeom>
            <a:gradFill>
              <a:gsLst>
                <a:gs pos="100000">
                  <a:schemeClr val="accent3">
                    <a:alpha val="18000"/>
                  </a:schemeClr>
                </a:gs>
                <a:gs pos="25000">
                  <a:schemeClr val="accent3">
                    <a:alpha val="49000"/>
                  </a:schemeClr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3" name="Овал 112">
              <a:extLst>
                <a:ext uri="{FF2B5EF4-FFF2-40B4-BE49-F238E27FC236}">
                  <a16:creationId xmlns:a16="http://schemas.microsoft.com/office/drawing/2014/main" id="{0DC08B63-75F5-4954-9A71-2344E6F9544B}"/>
                </a:ext>
              </a:extLst>
            </p:cNvPr>
            <p:cNvSpPr/>
            <p:nvPr/>
          </p:nvSpPr>
          <p:spPr>
            <a:xfrm rot="2700000">
              <a:off x="439051" y="1819904"/>
              <a:ext cx="81442" cy="81441"/>
            </a:xfrm>
            <a:prstGeom prst="ellipse">
              <a:avLst/>
            </a:prstGeom>
            <a:solidFill>
              <a:schemeClr val="accent3"/>
            </a:solidFill>
            <a:ln w="952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AB24AEE0-580F-E54D-9D2D-F1F1CCCBC152}"/>
              </a:ext>
            </a:extLst>
          </p:cNvPr>
          <p:cNvSpPr/>
          <p:nvPr/>
        </p:nvSpPr>
        <p:spPr>
          <a:xfrm>
            <a:off x="9459863" y="1993197"/>
            <a:ext cx="1066476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63909">
              <a:defRPr/>
            </a:pPr>
            <a:r>
              <a:rPr lang="ru-RU" sz="1050" kern="0" dirty="0" smtClean="0"/>
              <a:t>Действие</a:t>
            </a:r>
            <a:endParaRPr lang="ru-RU" sz="1050" kern="0" dirty="0"/>
          </a:p>
        </p:txBody>
      </p:sp>
      <p:sp>
        <p:nvSpPr>
          <p:cNvPr id="115" name="Скругленный прямоугольник 114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№2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92135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23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архитектурные </a:t>
            </a:r>
            <a:r>
              <a:rPr lang="ru-RU" dirty="0"/>
              <a:t>решения</a:t>
            </a:r>
            <a:endParaRPr lang="ru-RU" sz="20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4"/>
            <a:ext cx="8938630" cy="1682463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рамках раздела описываются: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основные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архитектурные решения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точки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принятия решения (</a:t>
            </a:r>
            <a:r>
              <a:rPr lang="ru-RU" altLang="ru-RU" sz="1200" dirty="0" err="1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trade-off</a:t>
            </a: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)</a:t>
            </a:r>
          </a:p>
          <a:p>
            <a:pPr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описание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базовых компонент и точек </a:t>
            </a: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взаимодействия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Большим </a:t>
            </a:r>
            <a:r>
              <a:rPr 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преимуществом является наличие архитектурной схемы решения</a:t>
            </a:r>
            <a:r>
              <a:rPr 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.….</a:t>
            </a:r>
            <a:endParaRPr 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4154574"/>
            <a:ext cx="6286123" cy="1682463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 целях общности терминологии, базовых понятий и подходов к проектированию, при подготовке архитектурных решений рекомендуется ознакомиться с Технической политикой и Глоссарием терминов</a:t>
            </a: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endParaRPr lang="ru-RU" altLang="ru-RU" sz="11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При необходимости получения консультаций и помощи в формировании, подготовке, оформлении архитектуры решения для защиты на АК, подготовке концепции решения вы можете запросить консультацию в корпоративной архитектуре</a:t>
            </a: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endParaRPr lang="ru-RU" altLang="ru-RU" sz="11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Рекомендуется перед выходом на АК провести консультации с Центром корпоративной архитектуры по формируемой концепции решения. </a:t>
            </a: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05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endParaRPr lang="ru-RU" altLang="ru-RU" sz="105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912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>
                <a:latin typeface="+mj-lt"/>
              </a:rPr>
              <a:t>24</a:t>
            </a:fld>
            <a:endParaRPr lang="ru-RU" dirty="0">
              <a:latin typeface="+mj-lt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j-lt"/>
              </a:rPr>
              <a:t>роадмап решения. вариант 1</a:t>
            </a:r>
            <a:endParaRPr lang="ru-RU" sz="2000" dirty="0">
              <a:latin typeface="+mj-lt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4"/>
            <a:ext cx="8938630" cy="750279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180000" indent="-18000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Роадмап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в формате реализуемых ценностей, место в мастер-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роадмапе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 (если применимо)</a:t>
            </a:r>
          </a:p>
          <a:p>
            <a:pPr marL="180000" indent="-18000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Включая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описание связанных, важных трансформационных активностей 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/>
            </a:r>
            <a:b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</a:b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(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миграция, внедрение и 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тд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) (если применимо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)</a:t>
            </a: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453906"/>
            <a:ext cx="1236603" cy="254866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пример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: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081088" y="1627491"/>
            <a:ext cx="10078402" cy="0"/>
          </a:xfrm>
          <a:prstGeom prst="line">
            <a:avLst/>
          </a:prstGeom>
          <a:ln>
            <a:solidFill>
              <a:schemeClr val="tx1">
                <a:lumMod val="90000"/>
                <a:lumOff val="1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Группа 94"/>
          <p:cNvGrpSpPr/>
          <p:nvPr/>
        </p:nvGrpSpPr>
        <p:grpSpPr>
          <a:xfrm>
            <a:off x="1750885" y="2052644"/>
            <a:ext cx="7044916" cy="3654994"/>
            <a:chOff x="1852038" y="1506478"/>
            <a:chExt cx="7455669" cy="4613335"/>
          </a:xfrm>
        </p:grpSpPr>
        <p:cxnSp>
          <p:nvCxnSpPr>
            <p:cNvPr id="99" name="Прямая соединительная линия 98">
              <a:extLst>
                <a:ext uri="{FF2B5EF4-FFF2-40B4-BE49-F238E27FC236}">
                  <a16:creationId xmlns:a16="http://schemas.microsoft.com/office/drawing/2014/main" id="{ED70574D-4219-4465-8347-0E33BB863184}"/>
                </a:ext>
              </a:extLst>
            </p:cNvPr>
            <p:cNvCxnSpPr>
              <a:cxnSpLocks/>
            </p:cNvCxnSpPr>
            <p:nvPr/>
          </p:nvCxnSpPr>
          <p:spPr>
            <a:xfrm>
              <a:off x="4282075" y="1506478"/>
              <a:ext cx="0" cy="461333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единительная линия 102">
              <a:extLst>
                <a:ext uri="{FF2B5EF4-FFF2-40B4-BE49-F238E27FC236}">
                  <a16:creationId xmlns:a16="http://schemas.microsoft.com/office/drawing/2014/main" id="{ED70574D-4219-4465-8347-0E33BB863184}"/>
                </a:ext>
              </a:extLst>
            </p:cNvPr>
            <p:cNvCxnSpPr>
              <a:cxnSpLocks/>
            </p:cNvCxnSpPr>
            <p:nvPr/>
          </p:nvCxnSpPr>
          <p:spPr>
            <a:xfrm>
              <a:off x="6794891" y="1506478"/>
              <a:ext cx="0" cy="461333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единительная линия 106">
              <a:extLst>
                <a:ext uri="{FF2B5EF4-FFF2-40B4-BE49-F238E27FC236}">
                  <a16:creationId xmlns:a16="http://schemas.microsoft.com/office/drawing/2014/main" id="{ED70574D-4219-4465-8347-0E33BB863184}"/>
                </a:ext>
              </a:extLst>
            </p:cNvPr>
            <p:cNvCxnSpPr>
              <a:cxnSpLocks/>
            </p:cNvCxnSpPr>
            <p:nvPr/>
          </p:nvCxnSpPr>
          <p:spPr>
            <a:xfrm>
              <a:off x="9307707" y="1506478"/>
              <a:ext cx="0" cy="461333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Прямая соединительная линия 194">
              <a:extLst>
                <a:ext uri="{FF2B5EF4-FFF2-40B4-BE49-F238E27FC236}">
                  <a16:creationId xmlns:a16="http://schemas.microsoft.com/office/drawing/2014/main" id="{ED70574D-4219-4465-8347-0E33BB863184}"/>
                </a:ext>
              </a:extLst>
            </p:cNvPr>
            <p:cNvCxnSpPr>
              <a:cxnSpLocks/>
            </p:cNvCxnSpPr>
            <p:nvPr/>
          </p:nvCxnSpPr>
          <p:spPr>
            <a:xfrm>
              <a:off x="1852038" y="1506478"/>
              <a:ext cx="0" cy="461333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正方形/長方形 24">
            <a:extLst>
              <a:ext uri="{FF2B5EF4-FFF2-40B4-BE49-F238E27FC236}">
                <a16:creationId xmlns:a16="http://schemas.microsoft.com/office/drawing/2014/main" id="{C6272B66-1E9A-8E43-8A2D-093AB67A597A}"/>
              </a:ext>
            </a:extLst>
          </p:cNvPr>
          <p:cNvSpPr/>
          <p:nvPr/>
        </p:nvSpPr>
        <p:spPr>
          <a:xfrm>
            <a:off x="349869" y="2758809"/>
            <a:ext cx="1701046" cy="157094"/>
          </a:xfrm>
          <a:prstGeom prst="rect">
            <a:avLst/>
          </a:prstGeom>
          <a:noFill/>
          <a:ln w="6350" cap="rnd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378"/>
              </a:spcAft>
              <a:defRPr/>
            </a:pPr>
            <a:r>
              <a:rPr lang="ru-RU" altLang="ja-JP" sz="1134" b="1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Цель (</a:t>
            </a:r>
            <a:r>
              <a:rPr lang="ru-RU" altLang="ja-JP" sz="1134" b="1" dirty="0" err="1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стрим</a:t>
            </a:r>
            <a:r>
              <a:rPr lang="ru-RU" altLang="ja-JP" sz="1134" b="1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) 3</a:t>
            </a:r>
          </a:p>
        </p:txBody>
      </p:sp>
      <p:grpSp>
        <p:nvGrpSpPr>
          <p:cNvPr id="112" name="Группа 111"/>
          <p:cNvGrpSpPr/>
          <p:nvPr/>
        </p:nvGrpSpPr>
        <p:grpSpPr>
          <a:xfrm>
            <a:off x="1729043" y="1793357"/>
            <a:ext cx="2270642" cy="323282"/>
            <a:chOff x="1749716" y="987548"/>
            <a:chExt cx="2403031" cy="44399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E334AEE-EFEA-494C-850A-23E0D6D607F9}"/>
                </a:ext>
              </a:extLst>
            </p:cNvPr>
            <p:cNvSpPr txBox="1"/>
            <p:nvPr/>
          </p:nvSpPr>
          <p:spPr>
            <a:xfrm>
              <a:off x="1749716" y="987548"/>
              <a:ext cx="1070133" cy="33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852969">
                <a:spcBef>
                  <a:spcPts val="571"/>
                </a:spcBef>
              </a:pPr>
              <a:r>
                <a:rPr lang="en-US" sz="1600" b="1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Q1 </a:t>
              </a: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202</a:t>
              </a:r>
              <a:r>
                <a:rPr lang="ru-RU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2</a:t>
              </a:r>
              <a:endParaRPr lang="en-US" sz="16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endParaRPr>
            </a:p>
          </p:txBody>
        </p:sp>
        <p:cxnSp>
          <p:nvCxnSpPr>
            <p:cNvPr id="114" name="Прямая со стрелкой 113">
              <a:extLst>
                <a:ext uri="{FF2B5EF4-FFF2-40B4-BE49-F238E27FC236}">
                  <a16:creationId xmlns:a16="http://schemas.microsoft.com/office/drawing/2014/main" id="{AFAFD1C7-D335-4C6F-9E80-9B6213581035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94831"/>
              <a:ext cx="238688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единительная линия 114">
              <a:extLst>
                <a:ext uri="{FF2B5EF4-FFF2-40B4-BE49-F238E27FC236}">
                  <a16:creationId xmlns:a16="http://schemas.microsoft.com/office/drawing/2014/main" id="{D56045B9-E927-48EA-B960-7D8F698FCD42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58119"/>
              <a:ext cx="0" cy="7342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正方形/長方形 24">
            <a:extLst>
              <a:ext uri="{FF2B5EF4-FFF2-40B4-BE49-F238E27FC236}">
                <a16:creationId xmlns:a16="http://schemas.microsoft.com/office/drawing/2014/main" id="{C6272B66-1E9A-8E43-8A2D-093AB67A597A}"/>
              </a:ext>
            </a:extLst>
          </p:cNvPr>
          <p:cNvSpPr/>
          <p:nvPr/>
        </p:nvSpPr>
        <p:spPr>
          <a:xfrm>
            <a:off x="349869" y="4234320"/>
            <a:ext cx="1701046" cy="157094"/>
          </a:xfrm>
          <a:prstGeom prst="rect">
            <a:avLst/>
          </a:prstGeom>
          <a:noFill/>
          <a:ln w="6350" cap="rnd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378"/>
              </a:spcAft>
              <a:defRPr/>
            </a:pPr>
            <a:r>
              <a:rPr lang="ru-RU" altLang="ja-JP" sz="1134" b="1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Цель (</a:t>
            </a:r>
            <a:r>
              <a:rPr lang="ru-RU" altLang="ja-JP" sz="1134" b="1" dirty="0" err="1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стрим</a:t>
            </a:r>
            <a:r>
              <a:rPr lang="ru-RU" altLang="ja-JP" sz="1134" b="1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) 2</a:t>
            </a:r>
          </a:p>
        </p:txBody>
      </p:sp>
      <p:sp>
        <p:nvSpPr>
          <p:cNvPr id="146" name="正方形/長方形 24">
            <a:extLst>
              <a:ext uri="{FF2B5EF4-FFF2-40B4-BE49-F238E27FC236}">
                <a16:creationId xmlns:a16="http://schemas.microsoft.com/office/drawing/2014/main" id="{C6272B66-1E9A-8E43-8A2D-093AB67A597A}"/>
              </a:ext>
            </a:extLst>
          </p:cNvPr>
          <p:cNvSpPr/>
          <p:nvPr/>
        </p:nvSpPr>
        <p:spPr>
          <a:xfrm>
            <a:off x="349869" y="5352715"/>
            <a:ext cx="1701046" cy="157094"/>
          </a:xfrm>
          <a:prstGeom prst="rect">
            <a:avLst/>
          </a:prstGeom>
          <a:noFill/>
          <a:ln w="6350" cap="rnd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378"/>
              </a:spcAft>
              <a:defRPr/>
            </a:pPr>
            <a:r>
              <a:rPr lang="ru-RU" altLang="ja-JP" sz="1134" b="1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Цель (</a:t>
            </a:r>
            <a:r>
              <a:rPr lang="ru-RU" altLang="ja-JP" sz="1134" b="1" dirty="0" err="1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стрим</a:t>
            </a:r>
            <a:r>
              <a:rPr lang="ru-RU" altLang="ja-JP" sz="1134" b="1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) </a:t>
            </a:r>
            <a:r>
              <a:rPr lang="ru-RU" altLang="ja-JP" sz="1134" b="1" dirty="0" smtClean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rPr>
              <a:t>1</a:t>
            </a:r>
            <a:endParaRPr lang="ru-RU" altLang="ja-JP" sz="1134" b="1" dirty="0">
              <a:solidFill>
                <a:schemeClr val="tx2"/>
              </a:solidFill>
              <a:latin typeface="+mj-lt"/>
              <a:cs typeface="Open Sans ExtraBold" panose="020B0906030804020204" pitchFamily="34" charset="0"/>
            </a:endParaRPr>
          </a:p>
        </p:txBody>
      </p:sp>
      <p:grpSp>
        <p:nvGrpSpPr>
          <p:cNvPr id="163" name="Группа 162"/>
          <p:cNvGrpSpPr/>
          <p:nvPr/>
        </p:nvGrpSpPr>
        <p:grpSpPr>
          <a:xfrm>
            <a:off x="4102834" y="1793357"/>
            <a:ext cx="2270642" cy="323282"/>
            <a:chOff x="1749716" y="987548"/>
            <a:chExt cx="2403031" cy="44399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E334AEE-EFEA-494C-850A-23E0D6D607F9}"/>
                </a:ext>
              </a:extLst>
            </p:cNvPr>
            <p:cNvSpPr txBox="1"/>
            <p:nvPr/>
          </p:nvSpPr>
          <p:spPr>
            <a:xfrm>
              <a:off x="1749716" y="987548"/>
              <a:ext cx="1070133" cy="33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852969">
                <a:spcBef>
                  <a:spcPts val="571"/>
                </a:spcBef>
              </a:pP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Q</a:t>
              </a:r>
              <a:r>
                <a:rPr lang="ru-RU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2</a:t>
              </a: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1600" b="1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2022</a:t>
              </a:r>
            </a:p>
          </p:txBody>
        </p:sp>
        <p:cxnSp>
          <p:nvCxnSpPr>
            <p:cNvPr id="165" name="Прямая со стрелкой 164">
              <a:extLst>
                <a:ext uri="{FF2B5EF4-FFF2-40B4-BE49-F238E27FC236}">
                  <a16:creationId xmlns:a16="http://schemas.microsoft.com/office/drawing/2014/main" id="{AFAFD1C7-D335-4C6F-9E80-9B6213581035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94831"/>
              <a:ext cx="238688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Прямая соединительная линия 165">
              <a:extLst>
                <a:ext uri="{FF2B5EF4-FFF2-40B4-BE49-F238E27FC236}">
                  <a16:creationId xmlns:a16="http://schemas.microsoft.com/office/drawing/2014/main" id="{D56045B9-E927-48EA-B960-7D8F698FCD42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58119"/>
              <a:ext cx="0" cy="7342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Группа 166"/>
          <p:cNvGrpSpPr/>
          <p:nvPr/>
        </p:nvGrpSpPr>
        <p:grpSpPr>
          <a:xfrm>
            <a:off x="6476624" y="1793357"/>
            <a:ext cx="2270642" cy="323282"/>
            <a:chOff x="1749716" y="987548"/>
            <a:chExt cx="2403031" cy="443994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E334AEE-EFEA-494C-850A-23E0D6D607F9}"/>
                </a:ext>
              </a:extLst>
            </p:cNvPr>
            <p:cNvSpPr txBox="1"/>
            <p:nvPr/>
          </p:nvSpPr>
          <p:spPr>
            <a:xfrm>
              <a:off x="1749716" y="987548"/>
              <a:ext cx="1070133" cy="33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852969">
                <a:spcBef>
                  <a:spcPts val="571"/>
                </a:spcBef>
              </a:pP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Q</a:t>
              </a:r>
              <a:r>
                <a:rPr lang="ru-RU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3</a:t>
              </a: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1600" b="1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2022</a:t>
              </a:r>
            </a:p>
          </p:txBody>
        </p:sp>
        <p:cxnSp>
          <p:nvCxnSpPr>
            <p:cNvPr id="169" name="Прямая со стрелкой 168">
              <a:extLst>
                <a:ext uri="{FF2B5EF4-FFF2-40B4-BE49-F238E27FC236}">
                  <a16:creationId xmlns:a16="http://schemas.microsoft.com/office/drawing/2014/main" id="{AFAFD1C7-D335-4C6F-9E80-9B6213581035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94831"/>
              <a:ext cx="238688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Прямая соединительная линия 169">
              <a:extLst>
                <a:ext uri="{FF2B5EF4-FFF2-40B4-BE49-F238E27FC236}">
                  <a16:creationId xmlns:a16="http://schemas.microsoft.com/office/drawing/2014/main" id="{D56045B9-E927-48EA-B960-7D8F698FCD42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58119"/>
              <a:ext cx="0" cy="7342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Группа 170"/>
          <p:cNvGrpSpPr/>
          <p:nvPr/>
        </p:nvGrpSpPr>
        <p:grpSpPr>
          <a:xfrm>
            <a:off x="8850414" y="1793357"/>
            <a:ext cx="2270642" cy="323282"/>
            <a:chOff x="1749716" y="987548"/>
            <a:chExt cx="2403031" cy="443994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9E334AEE-EFEA-494C-850A-23E0D6D607F9}"/>
                </a:ext>
              </a:extLst>
            </p:cNvPr>
            <p:cNvSpPr txBox="1"/>
            <p:nvPr/>
          </p:nvSpPr>
          <p:spPr>
            <a:xfrm>
              <a:off x="1749716" y="987548"/>
              <a:ext cx="1070133" cy="33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852969">
                <a:spcBef>
                  <a:spcPts val="571"/>
                </a:spcBef>
              </a:pP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Q</a:t>
              </a:r>
              <a:r>
                <a:rPr lang="ru-RU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4</a:t>
              </a:r>
              <a:r>
                <a:rPr lang="en-US" sz="1600" b="1" dirty="0" smtClean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1600" b="1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2022</a:t>
              </a:r>
            </a:p>
          </p:txBody>
        </p:sp>
        <p:cxnSp>
          <p:nvCxnSpPr>
            <p:cNvPr id="173" name="Прямая со стрелкой 172">
              <a:extLst>
                <a:ext uri="{FF2B5EF4-FFF2-40B4-BE49-F238E27FC236}">
                  <a16:creationId xmlns:a16="http://schemas.microsoft.com/office/drawing/2014/main" id="{AFAFD1C7-D335-4C6F-9E80-9B6213581035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94831"/>
              <a:ext cx="238688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Прямая соединительная линия 173">
              <a:extLst>
                <a:ext uri="{FF2B5EF4-FFF2-40B4-BE49-F238E27FC236}">
                  <a16:creationId xmlns:a16="http://schemas.microsoft.com/office/drawing/2014/main" id="{D56045B9-E927-48EA-B960-7D8F698FCD42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61" y="1358119"/>
              <a:ext cx="0" cy="7342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7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1750886" y="2218065"/>
            <a:ext cx="2296160" cy="410400"/>
          </a:xfrm>
          <a:prstGeom prst="homePlate">
            <a:avLst>
              <a:gd name="adj" fmla="val 17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tx1"/>
                </a:solidFill>
                <a:latin typeface="+mj-lt"/>
                <a:sym typeface="Helvetica Neue Light"/>
              </a:rPr>
              <a:t>Подготовка концепции, защита </a:t>
            </a:r>
            <a:r>
              <a:rPr lang="ru-RU" sz="800" dirty="0" smtClean="0">
                <a:solidFill>
                  <a:schemeClr val="tx1"/>
                </a:solidFill>
                <a:latin typeface="+mj-lt"/>
                <a:sym typeface="Helvetica Neue Light"/>
              </a:rPr>
              <a:t/>
            </a:r>
            <a:br>
              <a:rPr lang="ru-RU" sz="800" dirty="0" smtClean="0">
                <a:solidFill>
                  <a:schemeClr val="tx1"/>
                </a:solidFill>
                <a:latin typeface="+mj-lt"/>
                <a:sym typeface="Helvetica Neue Light"/>
              </a:rPr>
            </a:br>
            <a:r>
              <a:rPr lang="ru-RU" sz="800" dirty="0" smtClean="0">
                <a:solidFill>
                  <a:schemeClr val="tx1"/>
                </a:solidFill>
                <a:latin typeface="+mj-lt"/>
                <a:sym typeface="Helvetica Neue Light"/>
              </a:rPr>
              <a:t>концепции </a:t>
            </a:r>
            <a:r>
              <a:rPr lang="ru-RU" sz="800" dirty="0">
                <a:solidFill>
                  <a:schemeClr val="tx1"/>
                </a:solidFill>
                <a:latin typeface="+mj-lt"/>
                <a:sym typeface="Helvetica Neue Light"/>
              </a:rPr>
              <a:t>на АК</a:t>
            </a:r>
          </a:p>
        </p:txBody>
      </p:sp>
      <p:sp>
        <p:nvSpPr>
          <p:cNvPr id="198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1750886" y="2659443"/>
            <a:ext cx="2296160" cy="410400"/>
          </a:xfrm>
          <a:prstGeom prst="homePlate">
            <a:avLst>
              <a:gd name="adj" fmla="val 17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tx1"/>
                </a:solidFill>
                <a:latin typeface="+mj-lt"/>
                <a:sym typeface="Helvetica Neue Light"/>
              </a:rPr>
              <a:t>Активность 2</a:t>
            </a:r>
          </a:p>
        </p:txBody>
      </p:sp>
      <p:sp>
        <p:nvSpPr>
          <p:cNvPr id="199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1750885" y="3100822"/>
            <a:ext cx="4670537" cy="410400"/>
          </a:xfrm>
          <a:prstGeom prst="homePlate">
            <a:avLst>
              <a:gd name="adj" fmla="val 17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tx1"/>
                </a:solidFill>
                <a:latin typeface="+mj-lt"/>
                <a:sym typeface="Helvetica Neue Light"/>
              </a:rPr>
              <a:t>Активность 3</a:t>
            </a:r>
          </a:p>
        </p:txBody>
      </p:sp>
      <p:sp>
        <p:nvSpPr>
          <p:cNvPr id="200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6435910" y="2659443"/>
            <a:ext cx="4740291" cy="410400"/>
          </a:xfrm>
          <a:prstGeom prst="chevron">
            <a:avLst>
              <a:gd name="adj" fmla="val 179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tx1"/>
                </a:solidFill>
                <a:latin typeface="+mj-lt"/>
                <a:sym typeface="Helvetica Neue Light"/>
              </a:rPr>
              <a:t>Формирование </a:t>
            </a:r>
            <a:r>
              <a:rPr lang="ru-RU" sz="800" dirty="0" err="1">
                <a:solidFill>
                  <a:schemeClr val="tx1"/>
                </a:solidFill>
                <a:latin typeface="+mj-lt"/>
                <a:sym typeface="Helvetica Neue Light"/>
              </a:rPr>
              <a:t>Roadmap</a:t>
            </a:r>
            <a:r>
              <a:rPr lang="ru-RU" sz="800" dirty="0">
                <a:solidFill>
                  <a:schemeClr val="tx1"/>
                </a:solidFill>
                <a:latin typeface="+mj-lt"/>
                <a:sym typeface="Helvetica Neue Light"/>
              </a:rPr>
              <a:t> на среднесрочную перспективу и защита финансов</a:t>
            </a:r>
          </a:p>
        </p:txBody>
      </p:sp>
      <p:sp>
        <p:nvSpPr>
          <p:cNvPr id="202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4047044" y="3647692"/>
            <a:ext cx="2374377" cy="410400"/>
          </a:xfrm>
          <a:prstGeom prst="homePlate">
            <a:avLst>
              <a:gd name="adj" fmla="val 178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Аналитика структуры компонентов </a:t>
            </a: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/>
            </a:r>
            <a:b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</a:b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>и </a:t>
            </a: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способов их развертывания</a:t>
            </a:r>
          </a:p>
        </p:txBody>
      </p:sp>
      <p:sp>
        <p:nvSpPr>
          <p:cNvPr id="203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6432529" y="3647692"/>
            <a:ext cx="2374376" cy="410400"/>
          </a:xfrm>
          <a:prstGeom prst="chevron">
            <a:avLst>
              <a:gd name="adj" fmla="val 179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Платформизация и каталогизация компонентов </a:t>
            </a:r>
          </a:p>
        </p:txBody>
      </p:sp>
      <p:sp>
        <p:nvSpPr>
          <p:cNvPr id="204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8801825" y="3647692"/>
            <a:ext cx="2374376" cy="410400"/>
          </a:xfrm>
          <a:prstGeom prst="chevron">
            <a:avLst>
              <a:gd name="adj" fmla="val 179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Разработка сценариев развертывания </a:t>
            </a: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/>
            </a:r>
            <a:b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</a:b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>в </a:t>
            </a: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исполнимой среде экземпляра ….</a:t>
            </a:r>
          </a:p>
        </p:txBody>
      </p:sp>
      <p:sp>
        <p:nvSpPr>
          <p:cNvPr id="205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6432529" y="4085491"/>
            <a:ext cx="2374376" cy="410400"/>
          </a:xfrm>
          <a:prstGeom prst="chevron">
            <a:avLst>
              <a:gd name="adj" fmla="val 179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Активность 4</a:t>
            </a:r>
          </a:p>
        </p:txBody>
      </p:sp>
      <p:sp>
        <p:nvSpPr>
          <p:cNvPr id="206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8801825" y="4085491"/>
            <a:ext cx="2374376" cy="410400"/>
          </a:xfrm>
          <a:prstGeom prst="chevron">
            <a:avLst>
              <a:gd name="adj" fmla="val 179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>
                <a:solidFill>
                  <a:schemeClr val="bg1"/>
                </a:solidFill>
                <a:latin typeface="+mj-lt"/>
                <a:sym typeface="Helvetica Neue Light"/>
              </a:rPr>
              <a:t>Активность 4</a:t>
            </a:r>
            <a:endParaRPr lang="ru-RU" sz="800" dirty="0">
              <a:solidFill>
                <a:schemeClr val="bg1"/>
              </a:solidFill>
              <a:latin typeface="+mj-lt"/>
              <a:sym typeface="Helvetica Neue Light"/>
            </a:endParaRPr>
          </a:p>
        </p:txBody>
      </p:sp>
      <p:sp>
        <p:nvSpPr>
          <p:cNvPr id="208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8801825" y="4531040"/>
            <a:ext cx="2374376" cy="410400"/>
          </a:xfrm>
          <a:prstGeom prst="chevron">
            <a:avLst>
              <a:gd name="adj" fmla="val 179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Активность 4</a:t>
            </a:r>
          </a:p>
        </p:txBody>
      </p:sp>
      <p:cxnSp>
        <p:nvCxnSpPr>
          <p:cNvPr id="212" name="Прямая соединительная линия 211"/>
          <p:cNvCxnSpPr/>
          <p:nvPr/>
        </p:nvCxnSpPr>
        <p:spPr>
          <a:xfrm>
            <a:off x="349869" y="3573768"/>
            <a:ext cx="10771187" cy="0"/>
          </a:xfrm>
          <a:prstGeom prst="line">
            <a:avLst/>
          </a:prstGeom>
          <a:ln w="3175">
            <a:solidFill>
              <a:schemeClr val="tx1">
                <a:lumMod val="90000"/>
                <a:lumOff val="1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единительная линия 212"/>
          <p:cNvCxnSpPr/>
          <p:nvPr/>
        </p:nvCxnSpPr>
        <p:spPr>
          <a:xfrm>
            <a:off x="349869" y="5006651"/>
            <a:ext cx="10771187" cy="0"/>
          </a:xfrm>
          <a:prstGeom prst="line">
            <a:avLst/>
          </a:prstGeom>
          <a:ln w="3175">
            <a:solidFill>
              <a:schemeClr val="tx1">
                <a:lumMod val="90000"/>
                <a:lumOff val="1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6432529" y="5075805"/>
            <a:ext cx="2374376" cy="410400"/>
          </a:xfrm>
          <a:prstGeom prst="chevron">
            <a:avLst>
              <a:gd name="adj" fmla="val 1794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Реализация прототипа интерфейса добавления компонентов в Каталог</a:t>
            </a:r>
          </a:p>
        </p:txBody>
      </p:sp>
      <p:sp>
        <p:nvSpPr>
          <p:cNvPr id="215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8801825" y="5075805"/>
            <a:ext cx="2374376" cy="411718"/>
          </a:xfrm>
          <a:prstGeom prst="chevron">
            <a:avLst>
              <a:gd name="adj" fmla="val 1794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Реализация прототипа интерфейса отображения информации о компонентах </a:t>
            </a: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/>
            </a:r>
            <a:b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</a:b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>и </a:t>
            </a: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их поиска в </a:t>
            </a: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>Каталоге</a:t>
            </a:r>
            <a:endParaRPr lang="ru-RU" sz="800" dirty="0">
              <a:solidFill>
                <a:schemeClr val="bg1"/>
              </a:solidFill>
              <a:latin typeface="+mj-lt"/>
              <a:sym typeface="Helvetica Neue Light"/>
            </a:endParaRPr>
          </a:p>
        </p:txBody>
      </p:sp>
      <p:sp>
        <p:nvSpPr>
          <p:cNvPr id="219" name="Стрелка: пятиугольник 65">
            <a:extLst>
              <a:ext uri="{FF2B5EF4-FFF2-40B4-BE49-F238E27FC236}">
                <a16:creationId xmlns:a16="http://schemas.microsoft.com/office/drawing/2014/main" id="{FC6F8F46-EB0E-2142-8580-5D3BA7239722}"/>
              </a:ext>
            </a:extLst>
          </p:cNvPr>
          <p:cNvSpPr/>
          <p:nvPr/>
        </p:nvSpPr>
        <p:spPr>
          <a:xfrm>
            <a:off x="8801825" y="5516079"/>
            <a:ext cx="2374376" cy="411718"/>
          </a:xfrm>
          <a:prstGeom prst="chevron">
            <a:avLst>
              <a:gd name="adj" fmla="val 1794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0083" rtlCol="0" anchor="ctr"/>
          <a:lstStyle/>
          <a:p>
            <a:pPr defTabSz="864017">
              <a:lnSpc>
                <a:spcPct val="90000"/>
              </a:lnSpc>
            </a:pP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Реализация инструментов развертывания исполнимой среды и компонентов </a:t>
            </a: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/>
            </a:r>
            <a:b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</a:br>
            <a:r>
              <a:rPr lang="ru-RU" sz="800" dirty="0" smtClean="0">
                <a:solidFill>
                  <a:schemeClr val="bg1"/>
                </a:solidFill>
                <a:latin typeface="+mj-lt"/>
                <a:sym typeface="Helvetica Neue Light"/>
              </a:rPr>
              <a:t>из </a:t>
            </a:r>
            <a:r>
              <a:rPr lang="ru-RU" sz="800" dirty="0">
                <a:solidFill>
                  <a:schemeClr val="bg1"/>
                </a:solidFill>
                <a:latin typeface="+mj-lt"/>
                <a:sym typeface="Helvetica Neue Light"/>
              </a:rPr>
              <a:t>Каталога в полуавтоматическом режиме</a:t>
            </a:r>
          </a:p>
        </p:txBody>
      </p:sp>
      <p:sp>
        <p:nvSpPr>
          <p:cNvPr id="220" name="Скругленный прямоугольник 219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№1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7368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>
                <a:latin typeface="+mj-lt"/>
              </a:rPr>
              <a:t>25</a:t>
            </a:fld>
            <a:endParaRPr lang="ru-RU" dirty="0">
              <a:latin typeface="+mj-lt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j-lt"/>
              </a:rPr>
              <a:t>роадмап решения. </a:t>
            </a:r>
            <a:endParaRPr lang="ru-RU" sz="2000" dirty="0">
              <a:latin typeface="+mj-lt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4"/>
            <a:ext cx="8938630" cy="750279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180000" indent="-18000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Роадмап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в формате реализуемых ценностей, место в мастер-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роадмапе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 (если применимо)</a:t>
            </a:r>
          </a:p>
          <a:p>
            <a:pPr marL="180000" indent="-18000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Включая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описание связанных, важных трансформационных активностей 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/>
            </a:r>
            <a:b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</a:b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(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миграция, внедрение и 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тд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) (если применимо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)</a:t>
            </a: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  <a:cs typeface="Calibri" panose="020F0502020204030204" pitchFamily="34" charset="0"/>
            </a:endParaRP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604B4BED-FCF8-0C49-8DD9-3D2FD9815B9A}"/>
              </a:ext>
            </a:extLst>
          </p:cNvPr>
          <p:cNvCxnSpPr>
            <a:cxnSpLocks/>
          </p:cNvCxnSpPr>
          <p:nvPr/>
        </p:nvCxnSpPr>
        <p:spPr>
          <a:xfrm>
            <a:off x="423321" y="3756677"/>
            <a:ext cx="10746862" cy="0"/>
          </a:xfrm>
          <a:prstGeom prst="straightConnector1">
            <a:avLst/>
          </a:prstGeom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1658624" y="3869783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Овал 49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349836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4240442" y="3869783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2949533" y="1893139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5538649" y="1893139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6827448" y="3869783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8114830" y="1893139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9403628" y="3869783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Группа 62"/>
          <p:cNvGrpSpPr/>
          <p:nvPr/>
        </p:nvGrpSpPr>
        <p:grpSpPr>
          <a:xfrm>
            <a:off x="539083" y="1882036"/>
            <a:ext cx="1112627" cy="482101"/>
            <a:chOff x="478755" y="1374323"/>
            <a:chExt cx="1118941" cy="551474"/>
          </a:xfrm>
        </p:grpSpPr>
        <p:sp>
          <p:nvSpPr>
            <p:cNvPr id="64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6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709104E9-85D8-764D-98AD-40404A75CA03}"/>
              </a:ext>
            </a:extLst>
          </p:cNvPr>
          <p:cNvCxnSpPr>
            <a:cxnSpLocks/>
          </p:cNvCxnSpPr>
          <p:nvPr/>
        </p:nvCxnSpPr>
        <p:spPr>
          <a:xfrm>
            <a:off x="421836" y="1893139"/>
            <a:ext cx="0" cy="17392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277236" y="3395474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1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85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1514684" y="3869783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2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86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2789903" y="3395474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3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87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4094962" y="3869783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4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88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5392181" y="3395474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5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89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6682847" y="3869783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6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7968371" y="3395474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7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AEEC705D-3E8D-8445-BCC8-6FC7D5053154}"/>
              </a:ext>
            </a:extLst>
          </p:cNvPr>
          <p:cNvSpPr txBox="1">
            <a:spLocks/>
          </p:cNvSpPr>
          <p:nvPr/>
        </p:nvSpPr>
        <p:spPr>
          <a:xfrm>
            <a:off x="9261951" y="3869783"/>
            <a:ext cx="275375" cy="2369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Beeline Sans V0.3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O</a:t>
            </a:r>
            <a:r>
              <a:rPr lang="en-US" b="1" dirty="0" smtClean="0">
                <a:solidFill>
                  <a:schemeClr val="tx2">
                    <a:lumMod val="10000"/>
                    <a:lumOff val="90000"/>
                  </a:schemeClr>
                </a:solidFill>
              </a:rPr>
              <a:t>8</a:t>
            </a:r>
            <a:endParaRPr lang="ru-RU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08" name="Овал 107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1586624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09" name="Овал 108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2877533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7" name="Овал 116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4168442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8" name="Овал 117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5466649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9" name="Овал 118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6755448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0" name="Овал 119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8042830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1" name="Овал 120">
            <a:extLst>
              <a:ext uri="{FF2B5EF4-FFF2-40B4-BE49-F238E27FC236}">
                <a16:creationId xmlns:a16="http://schemas.microsoft.com/office/drawing/2014/main" id="{B3A2E5FD-0519-7F47-B944-545CCEC81CF7}"/>
              </a:ext>
            </a:extLst>
          </p:cNvPr>
          <p:cNvSpPr/>
          <p:nvPr/>
        </p:nvSpPr>
        <p:spPr>
          <a:xfrm>
            <a:off x="9331628" y="3683309"/>
            <a:ext cx="144000" cy="144000"/>
          </a:xfrm>
          <a:prstGeom prst="ellipse">
            <a:avLst/>
          </a:prstGeom>
          <a:solidFill>
            <a:schemeClr val="bg1"/>
          </a:solidFill>
          <a:ln w="22225" cap="rnd">
            <a:solidFill>
              <a:schemeClr val="accent1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64017">
              <a:defRPr/>
            </a:pPr>
            <a:endParaRPr lang="ru-RU" sz="1701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122" name="Группа 121"/>
          <p:cNvGrpSpPr/>
          <p:nvPr/>
        </p:nvGrpSpPr>
        <p:grpSpPr>
          <a:xfrm>
            <a:off x="3064912" y="1882036"/>
            <a:ext cx="1112627" cy="482101"/>
            <a:chOff x="478755" y="1374323"/>
            <a:chExt cx="1118941" cy="551474"/>
          </a:xfrm>
        </p:grpSpPr>
        <p:sp>
          <p:nvSpPr>
            <p:cNvPr id="123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5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26" name="Группа 125"/>
          <p:cNvGrpSpPr/>
          <p:nvPr/>
        </p:nvGrpSpPr>
        <p:grpSpPr>
          <a:xfrm>
            <a:off x="5654028" y="1882036"/>
            <a:ext cx="1112627" cy="482101"/>
            <a:chOff x="478755" y="1374323"/>
            <a:chExt cx="1118941" cy="551474"/>
          </a:xfrm>
        </p:grpSpPr>
        <p:sp>
          <p:nvSpPr>
            <p:cNvPr id="127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28" name="Прямоугольник 127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9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8230209" y="1882036"/>
            <a:ext cx="1112627" cy="482101"/>
            <a:chOff x="478755" y="1374323"/>
            <a:chExt cx="1118941" cy="551474"/>
          </a:xfrm>
        </p:grpSpPr>
        <p:sp>
          <p:nvSpPr>
            <p:cNvPr id="131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32" name="Прямоугольник 131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33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1784548" y="4512998"/>
            <a:ext cx="1112627" cy="482101"/>
            <a:chOff x="478755" y="1374323"/>
            <a:chExt cx="1118941" cy="551474"/>
          </a:xfrm>
        </p:grpSpPr>
        <p:sp>
          <p:nvSpPr>
            <p:cNvPr id="135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36" name="Прямоугольник 135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37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4363417" y="4512998"/>
            <a:ext cx="1112627" cy="482101"/>
            <a:chOff x="478755" y="1374323"/>
            <a:chExt cx="1118941" cy="551474"/>
          </a:xfrm>
        </p:grpSpPr>
        <p:sp>
          <p:nvSpPr>
            <p:cNvPr id="139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40" name="Прямоугольник 139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1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6950422" y="4512998"/>
            <a:ext cx="1112627" cy="482101"/>
            <a:chOff x="478755" y="1374323"/>
            <a:chExt cx="1118941" cy="551474"/>
          </a:xfrm>
        </p:grpSpPr>
        <p:sp>
          <p:nvSpPr>
            <p:cNvPr id="143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5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47" name="Группа 146"/>
          <p:cNvGrpSpPr/>
          <p:nvPr/>
        </p:nvGrpSpPr>
        <p:grpSpPr>
          <a:xfrm>
            <a:off x="9526603" y="4512998"/>
            <a:ext cx="1112627" cy="482101"/>
            <a:chOff x="478755" y="1374323"/>
            <a:chExt cx="1118941" cy="551474"/>
          </a:xfrm>
        </p:grpSpPr>
        <p:sp>
          <p:nvSpPr>
            <p:cNvPr id="148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478755" y="1703996"/>
              <a:ext cx="773807" cy="221801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ru-RU" altLang="ja-JP" sz="1400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Описание</a:t>
              </a:r>
              <a:endParaRPr lang="ru-RU" altLang="ja-JP" sz="1400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id="{72A36618-F2E2-BC48-8B8B-97CF7470A000}"/>
                </a:ext>
              </a:extLst>
            </p:cNvPr>
            <p:cNvSpPr/>
            <p:nvPr/>
          </p:nvSpPr>
          <p:spPr>
            <a:xfrm>
              <a:off x="482064" y="1434899"/>
              <a:ext cx="1115632" cy="217414"/>
            </a:xfrm>
            <a:prstGeom prst="rect">
              <a:avLst/>
            </a:prstGeom>
            <a:solidFill>
              <a:srgbClr val="FF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ru-RU" sz="1399" dirty="0" err="1">
                <a:solidFill>
                  <a:srgbClr val="FFC800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0" name="正方形/長方形 24">
              <a:extLst>
                <a:ext uri="{FF2B5EF4-FFF2-40B4-BE49-F238E27FC236}">
                  <a16:creationId xmlns:a16="http://schemas.microsoft.com/office/drawing/2014/main" id="{C6272B66-1E9A-8E43-8A2D-093AB67A597A}"/>
                </a:ext>
              </a:extLst>
            </p:cNvPr>
            <p:cNvSpPr/>
            <p:nvPr/>
          </p:nvSpPr>
          <p:spPr>
            <a:xfrm>
              <a:off x="553127" y="1374323"/>
              <a:ext cx="1017235" cy="359326"/>
            </a:xfrm>
            <a:prstGeom prst="rect">
              <a:avLst/>
            </a:prstGeom>
            <a:noFill/>
            <a:ln w="6350" cap="rnd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anchor="t">
              <a:spAutoFit/>
            </a:bodyPr>
            <a:lstStyle/>
            <a:p>
              <a:pPr defTabSz="864017">
                <a:lnSpc>
                  <a:spcPct val="90000"/>
                </a:lnSpc>
                <a:spcAft>
                  <a:spcPts val="378"/>
                </a:spcAft>
                <a:defRPr/>
              </a:pP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XX</a:t>
              </a:r>
              <a:r>
                <a:rPr lang="ru-RU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.202</a:t>
              </a:r>
              <a:r>
                <a:rPr lang="en-US" altLang="ja-JP" sz="2268" dirty="0" smtClean="0">
                  <a:solidFill>
                    <a:schemeClr val="tx2"/>
                  </a:solidFill>
                  <a:latin typeface="+mj-lt"/>
                  <a:cs typeface="Open Sans ExtraBold" panose="020B0906030804020204" pitchFamily="34" charset="0"/>
                </a:rPr>
                <a:t>2</a:t>
              </a:r>
              <a:endParaRPr lang="ru-RU" altLang="ja-JP" sz="2268" dirty="0">
                <a:solidFill>
                  <a:schemeClr val="tx2"/>
                </a:solidFill>
                <a:latin typeface="+mj-lt"/>
                <a:cs typeface="Open Sans ExtraBold" panose="020B0906030804020204" pitchFamily="34" charset="0"/>
              </a:endParaRPr>
            </a:p>
          </p:txBody>
        </p:sp>
      </p:grpSp>
      <p:sp>
        <p:nvSpPr>
          <p:cNvPr id="151" name="Скругленный прямоугольник 150"/>
          <p:cNvSpPr/>
          <p:nvPr/>
        </p:nvSpPr>
        <p:spPr>
          <a:xfrm>
            <a:off x="8640763" y="223243"/>
            <a:ext cx="2567080" cy="38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 smtClean="0">
                <a:solidFill>
                  <a:schemeClr val="tx2"/>
                </a:solidFill>
              </a:rPr>
              <a:t>вариант визуализации №2</a:t>
            </a:r>
            <a:endParaRPr lang="ru-RU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9128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система </a:t>
            </a:r>
            <a:r>
              <a:rPr lang="ru-RU" dirty="0"/>
              <a:t>КПЭ и ключевые метрики решения</a:t>
            </a:r>
            <a:endParaRPr lang="ru-RU" sz="20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720494"/>
            <a:ext cx="8938630" cy="750279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180000" indent="-180000">
              <a:spcBef>
                <a:spcPct val="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КПЭ для оценки проекта решения, в привязке к этапам и активностям 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роадмапа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, 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место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 мастер-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роадмапе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(если применимо)</a:t>
            </a:r>
          </a:p>
        </p:txBody>
      </p:sp>
      <p:sp>
        <p:nvSpPr>
          <p:cNvPr id="47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524159"/>
            <a:ext cx="1236603" cy="254866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пример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:</a:t>
            </a:r>
          </a:p>
        </p:txBody>
      </p:sp>
      <p:cxnSp>
        <p:nvCxnSpPr>
          <p:cNvPr id="48" name="Прямая соединительная линия 47"/>
          <p:cNvCxnSpPr/>
          <p:nvPr/>
        </p:nvCxnSpPr>
        <p:spPr>
          <a:xfrm>
            <a:off x="1081088" y="1697744"/>
            <a:ext cx="10078402" cy="0"/>
          </a:xfrm>
          <a:prstGeom prst="line">
            <a:avLst/>
          </a:prstGeom>
          <a:ln>
            <a:solidFill>
              <a:schemeClr val="tx1">
                <a:lumMod val="90000"/>
                <a:lumOff val="1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800942"/>
              </p:ext>
            </p:extLst>
          </p:nvPr>
        </p:nvGraphicFramePr>
        <p:xfrm>
          <a:off x="360362" y="2042537"/>
          <a:ext cx="10799128" cy="37323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99782">
                  <a:extLst>
                    <a:ext uri="{9D8B030D-6E8A-4147-A177-3AD203B41FA5}">
                      <a16:colId xmlns:a16="http://schemas.microsoft.com/office/drawing/2014/main" val="4059383895"/>
                    </a:ext>
                  </a:extLst>
                </a:gridCol>
                <a:gridCol w="2699782">
                  <a:extLst>
                    <a:ext uri="{9D8B030D-6E8A-4147-A177-3AD203B41FA5}">
                      <a16:colId xmlns:a16="http://schemas.microsoft.com/office/drawing/2014/main" val="4134434669"/>
                    </a:ext>
                  </a:extLst>
                </a:gridCol>
                <a:gridCol w="2699782">
                  <a:extLst>
                    <a:ext uri="{9D8B030D-6E8A-4147-A177-3AD203B41FA5}">
                      <a16:colId xmlns:a16="http://schemas.microsoft.com/office/drawing/2014/main" val="914940741"/>
                    </a:ext>
                  </a:extLst>
                </a:gridCol>
                <a:gridCol w="2699782">
                  <a:extLst>
                    <a:ext uri="{9D8B030D-6E8A-4147-A177-3AD203B41FA5}">
                      <a16:colId xmlns:a16="http://schemas.microsoft.com/office/drawing/2014/main" val="3135374272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Метрика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Текущее значение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Целевое значение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Источник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503255"/>
                  </a:ext>
                </a:extLst>
              </a:tr>
              <a:tr h="724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Сокращение планового </a:t>
                      </a: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аварийного простоя </a:t>
                      </a: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платформы</a:t>
                      </a:r>
                      <a:r>
                        <a:rPr lang="en-US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показатель доступности</a:t>
                      </a:r>
                    </a:p>
                  </a:txBody>
                  <a:tcPr marL="180000" marR="86402" marT="47521" marB="4752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98, 79%</a:t>
                      </a:r>
                    </a:p>
                  </a:txBody>
                  <a:tcPr marL="180000" marR="86402" marT="47521" marB="4752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99,99</a:t>
                      </a: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%*</a:t>
                      </a: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Remedy</a:t>
                      </a: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11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Dashbord</a:t>
                      </a: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67404"/>
                  </a:ext>
                </a:extLst>
              </a:tr>
              <a:tr h="414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инцидентов, связанных с </a:t>
                      </a: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  <a:endParaRPr lang="ru-RU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Среднее значение </a:t>
                      </a:r>
                      <a:r>
                        <a:rPr 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~ 20 </a:t>
                      </a: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в год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Среднее количество </a:t>
                      </a:r>
                      <a:r>
                        <a:rPr 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&lt; </a:t>
                      </a: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 в год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Remedy</a:t>
                      </a: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11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Dashbord</a:t>
                      </a: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876648"/>
                  </a:ext>
                </a:extLst>
              </a:tr>
              <a:tr h="724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Надежность в случае выхода </a:t>
                      </a: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из </a:t>
                      </a: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строя одного из узлов </a:t>
                      </a:r>
                      <a:r>
                        <a:rPr lang="ru-RU" sz="12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или </a:t>
                      </a:r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интерфейсного модуля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Отсутствует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Выход из строя/отключение серверов не приводит к нарушениям в работе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Отчёт о результатам внедрения актуальной версии платформы в составе продукта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23776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494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02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8616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27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позиционирование </a:t>
            </a:r>
            <a:r>
              <a:rPr lang="ru-RU" dirty="0"/>
              <a:t>на </a:t>
            </a:r>
            <a:r>
              <a:rPr lang="ru-RU" dirty="0" smtClean="0"/>
              <a:t>Функционально-</a:t>
            </a:r>
            <a:br>
              <a:rPr lang="ru-RU" dirty="0" smtClean="0"/>
            </a:br>
            <a:r>
              <a:rPr lang="ru-RU" dirty="0" smtClean="0"/>
              <a:t>доменной </a:t>
            </a:r>
            <a:r>
              <a:rPr lang="ru-RU" dirty="0"/>
              <a:t>модели и в ИТ-ландшафте</a:t>
            </a:r>
            <a:endParaRPr lang="ru-RU" sz="2000" dirty="0"/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260555"/>
            <a:ext cx="8938630" cy="2635304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Производится определение и 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маппинг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формируемых ИТ-решением (ИТ-платформой/ ИТ-системой/ ИТ-продуктом) возможностей на актуальную версию функционально-доменной модели (ФДМ) и обоснование выбранного позиционирования.</a:t>
            </a:r>
          </a:p>
          <a:p>
            <a:pPr>
              <a:spcBef>
                <a:spcPct val="0"/>
              </a:spcBef>
              <a:buClr>
                <a:srgbClr val="ED1C24"/>
              </a:buClr>
            </a:pPr>
            <a:endParaRPr lang="ru-RU" alt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rgbClr val="ED1C24"/>
              </a:buClr>
            </a:pP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Дополнительно может производиться </a:t>
            </a:r>
            <a:r>
              <a:rPr lang="ru-RU" altLang="ru-RU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маппинг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компонент продукта на карту ИТ-ландшафта </a:t>
            </a: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и </a:t>
            </a: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обоснование выбранного позиционирования.</a:t>
            </a:r>
          </a:p>
          <a:p>
            <a:pPr>
              <a:spcBef>
                <a:spcPct val="0"/>
              </a:spcBef>
              <a:buClr>
                <a:srgbClr val="ED1C24"/>
              </a:buClr>
            </a:pPr>
            <a:endParaRPr lang="ru-RU" altLang="ru-RU" sz="14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3939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28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изменения </a:t>
            </a:r>
            <a:r>
              <a:rPr lang="ru-RU" dirty="0"/>
              <a:t>в корпоративной модели данных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4923" y="1344309"/>
            <a:ext cx="2541707" cy="206735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5741713" y="1301473"/>
            <a:ext cx="2677121" cy="2153029"/>
          </a:xfrm>
          <a:prstGeom prst="rect">
            <a:avLst/>
          </a:prstGeom>
        </p:spPr>
      </p:pic>
      <p:pic>
        <p:nvPicPr>
          <p:cNvPr id="10" name="Picture 2" descr="Image2"/>
          <p:cNvPicPr>
            <a:picLocks noChangeAspect="1" noChangeArrowheads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86" y="3828342"/>
            <a:ext cx="3871753" cy="184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Прямая со стрелкой 10"/>
          <p:cNvCxnSpPr/>
          <p:nvPr/>
        </p:nvCxnSpPr>
        <p:spPr>
          <a:xfrm flipH="1">
            <a:off x="6516224" y="3219766"/>
            <a:ext cx="194672" cy="921624"/>
          </a:xfrm>
          <a:prstGeom prst="straightConnector1">
            <a:avLst/>
          </a:prstGeom>
          <a:ln w="22225" cmpd="sng">
            <a:solidFill>
              <a:schemeClr val="tx2"/>
            </a:solidFill>
            <a:tailEnd type="arrow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8294417" y="1616846"/>
            <a:ext cx="978720" cy="117252"/>
          </a:xfrm>
          <a:prstGeom prst="straightConnector1">
            <a:avLst/>
          </a:prstGeom>
          <a:ln w="22225" cmpd="sng">
            <a:solidFill>
              <a:schemeClr val="tx2"/>
            </a:solidFill>
            <a:tailEnd type="arrow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6981076" y="1734099"/>
            <a:ext cx="604328" cy="2363361"/>
          </a:xfrm>
          <a:prstGeom prst="straightConnector1">
            <a:avLst/>
          </a:prstGeom>
          <a:ln w="22225" cmpd="sng">
            <a:solidFill>
              <a:schemeClr val="tx2"/>
            </a:solidFill>
            <a:tailEnd type="arrow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6825448" y="2713655"/>
            <a:ext cx="314846" cy="1887590"/>
          </a:xfrm>
          <a:prstGeom prst="straightConnector1">
            <a:avLst/>
          </a:prstGeom>
          <a:ln w="22225" cmpd="sng">
            <a:solidFill>
              <a:schemeClr val="tx2"/>
            </a:solidFill>
            <a:tailEnd type="arrow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8204715" y="2313245"/>
            <a:ext cx="579062" cy="2743730"/>
          </a:xfrm>
          <a:prstGeom prst="straightConnector1">
            <a:avLst/>
          </a:prstGeom>
          <a:ln w="22225" cmpd="sng">
            <a:solidFill>
              <a:schemeClr val="tx2"/>
            </a:solidFill>
            <a:tailEnd type="arrow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1472013"/>
            <a:ext cx="3701791" cy="3758748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Оцениваются изменения в КМД: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Соотнесение с TMF SID (если применимо)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Появление новых  сущностей …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Уточнение сущностей в порядке наследования </a:t>
            </a: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от </a:t>
            </a: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классов SID (если применимо)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Изменение атрибутов и связей в ключевых сущностях ….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Beeline Sans" panose="020B0500040202020204" pitchFamily="34" charset="-52"/>
              <a:buChar char="–"/>
            </a:pPr>
            <a:r>
              <a:rPr lang="ru-RU" altLang="ru-RU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Спецификация внешних интерфейсов REST, </a:t>
            </a:r>
            <a:r>
              <a:rPr lang="ru-RU" altLang="ru-RU" sz="1200" dirty="0" err="1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OpenAPI</a:t>
            </a: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/>
            </a:r>
            <a:br>
              <a:rPr lang="ru-RU" altLang="ru-RU" sz="12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endParaRPr lang="ru-RU" altLang="ru-RU" sz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r>
              <a:rPr lang="ru-RU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Приводится модель данных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30013683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29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ru-RU" dirty="0" smtClean="0"/>
              <a:t>нализ </a:t>
            </a:r>
            <a:r>
              <a:rPr lang="ru-RU" dirty="0"/>
              <a:t>рисков	</a:t>
            </a:r>
            <a:endParaRPr lang="ru-RU" sz="20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720172"/>
              </p:ext>
            </p:extLst>
          </p:nvPr>
        </p:nvGraphicFramePr>
        <p:xfrm>
          <a:off x="360362" y="979483"/>
          <a:ext cx="10799128" cy="398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99782">
                  <a:extLst>
                    <a:ext uri="{9D8B030D-6E8A-4147-A177-3AD203B41FA5}">
                      <a16:colId xmlns:a16="http://schemas.microsoft.com/office/drawing/2014/main" val="4059383895"/>
                    </a:ext>
                  </a:extLst>
                </a:gridCol>
                <a:gridCol w="2699782">
                  <a:extLst>
                    <a:ext uri="{9D8B030D-6E8A-4147-A177-3AD203B41FA5}">
                      <a16:colId xmlns:a16="http://schemas.microsoft.com/office/drawing/2014/main" val="4134434669"/>
                    </a:ext>
                  </a:extLst>
                </a:gridCol>
                <a:gridCol w="2699782">
                  <a:extLst>
                    <a:ext uri="{9D8B030D-6E8A-4147-A177-3AD203B41FA5}">
                      <a16:colId xmlns:a16="http://schemas.microsoft.com/office/drawing/2014/main" val="914940741"/>
                    </a:ext>
                  </a:extLst>
                </a:gridCol>
                <a:gridCol w="2699782">
                  <a:extLst>
                    <a:ext uri="{9D8B030D-6E8A-4147-A177-3AD203B41FA5}">
                      <a16:colId xmlns:a16="http://schemas.microsoft.com/office/drawing/2014/main" val="3135374272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 риска</a:t>
                      </a: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Причина риска</a:t>
                      </a: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Последствия</a:t>
                      </a: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Влияние на проект</a:t>
                      </a: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50325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494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0285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83958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1056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412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7377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/>
              <a:t>30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</a:t>
            </a:r>
            <a:r>
              <a:rPr lang="ru-RU" dirty="0"/>
              <a:t>альтернатив</a:t>
            </a:r>
            <a:endParaRPr lang="ru-RU" sz="20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42051"/>
              </p:ext>
            </p:extLst>
          </p:nvPr>
        </p:nvGraphicFramePr>
        <p:xfrm>
          <a:off x="360362" y="979483"/>
          <a:ext cx="10799128" cy="436248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9038">
                  <a:extLst>
                    <a:ext uri="{9D8B030D-6E8A-4147-A177-3AD203B41FA5}">
                      <a16:colId xmlns:a16="http://schemas.microsoft.com/office/drawing/2014/main" val="4059383895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4134434669"/>
                    </a:ext>
                  </a:extLst>
                </a:gridCol>
                <a:gridCol w="3115733">
                  <a:extLst>
                    <a:ext uri="{9D8B030D-6E8A-4147-A177-3AD203B41FA5}">
                      <a16:colId xmlns:a16="http://schemas.microsoft.com/office/drawing/2014/main" val="914940741"/>
                    </a:ext>
                  </a:extLst>
                </a:gridCol>
                <a:gridCol w="2455757">
                  <a:extLst>
                    <a:ext uri="{9D8B030D-6E8A-4147-A177-3AD203B41FA5}">
                      <a16:colId xmlns:a16="http://schemas.microsoft.com/office/drawing/2014/main" val="3135374272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Альтернатива</a:t>
                      </a: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</a:p>
                  </a:txBody>
                  <a:tcPr marL="324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</a:p>
                  </a:txBody>
                  <a:tcPr marL="324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Вывод</a:t>
                      </a:r>
                    </a:p>
                  </a:txBody>
                  <a:tcPr marL="180000" marR="86402" marT="43201" marB="4320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50325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Платформизация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существующих систем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(Предлагаемое решение)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Переиспользование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лучших существующих решений </a:t>
                      </a:r>
                      <a:br>
                        <a:rPr lang="ru-RU" sz="11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 экспертизы в Компании.</a:t>
                      </a:r>
                    </a:p>
                  </a:txBody>
                  <a:tcPr marL="324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Сложность организационного взаимодействия между командой платформы и поставщиками систем.</a:t>
                      </a:r>
                    </a:p>
                  </a:txBody>
                  <a:tcPr marL="324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80000" marR="86402" marT="47521" marB="47521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494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Реализация платформы </a:t>
                      </a:r>
                      <a:br>
                        <a:rPr lang="ru-RU" sz="12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2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полностью «с нуля»</a:t>
                      </a: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Автономность команды </a:t>
                      </a:r>
                      <a:b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платформы – продуктовый подход.</a:t>
                      </a:r>
                    </a:p>
                  </a:txBody>
                  <a:tcPr marL="324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Высокие трудозатраты </a:t>
                      </a:r>
                      <a:b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на реализацию платформы.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Неоптимальное использование вычислительных ресурсов.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Дублирование хранения </a:t>
                      </a:r>
                      <a:r>
                        <a:rPr lang="ru-RU" sz="1100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гео</a:t>
                      </a: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-данных </a:t>
                      </a:r>
                      <a:b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в разных системах.</a:t>
                      </a:r>
                    </a:p>
                  </a:txBody>
                  <a:tcPr marL="324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0285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83958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1056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86402" marT="47521" marB="47521" anchor="ctr"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412547"/>
                  </a:ext>
                </a:extLst>
              </a:tr>
            </a:tbl>
          </a:graphicData>
        </a:graphic>
      </p:graphicFrame>
      <p:sp>
        <p:nvSpPr>
          <p:cNvPr id="8" name="Полилиния: фигура 35">
            <a:extLst>
              <a:ext uri="{FF2B5EF4-FFF2-40B4-BE49-F238E27FC236}">
                <a16:creationId xmlns:a16="http://schemas.microsoft.com/office/drawing/2014/main" id="{BE5A7717-F1A8-4F66-8111-CB14B6512167}"/>
              </a:ext>
            </a:extLst>
          </p:cNvPr>
          <p:cNvSpPr/>
          <p:nvPr/>
        </p:nvSpPr>
        <p:spPr>
          <a:xfrm>
            <a:off x="5680594" y="1085056"/>
            <a:ext cx="186375" cy="186292"/>
          </a:xfrm>
          <a:custGeom>
            <a:avLst/>
            <a:gdLst>
              <a:gd name="connsiteX0" fmla="*/ 180960 w 353021"/>
              <a:gd name="connsiteY0" fmla="*/ 103 h 352863"/>
              <a:gd name="connsiteX1" fmla="*/ 199183 w 353021"/>
              <a:gd name="connsiteY1" fmla="*/ 1306 h 352863"/>
              <a:gd name="connsiteX2" fmla="*/ 266915 w 353021"/>
              <a:gd name="connsiteY2" fmla="*/ 25030 h 352863"/>
              <a:gd name="connsiteX3" fmla="*/ 319520 w 353021"/>
              <a:gd name="connsiteY3" fmla="*/ 73165 h 352863"/>
              <a:gd name="connsiteX4" fmla="*/ 348917 w 353021"/>
              <a:gd name="connsiteY4" fmla="*/ 138491 h 352863"/>
              <a:gd name="connsiteX5" fmla="*/ 346682 w 353021"/>
              <a:gd name="connsiteY5" fmla="*/ 223415 h 352863"/>
              <a:gd name="connsiteX6" fmla="*/ 305423 w 353021"/>
              <a:gd name="connsiteY6" fmla="*/ 297165 h 352863"/>
              <a:gd name="connsiteX7" fmla="*/ 196432 w 353021"/>
              <a:gd name="connsiteY7" fmla="*/ 352176 h 352863"/>
              <a:gd name="connsiteX8" fmla="*/ 175287 w 353021"/>
              <a:gd name="connsiteY8" fmla="*/ 352864 h 352863"/>
              <a:gd name="connsiteX9" fmla="*/ 154142 w 353021"/>
              <a:gd name="connsiteY9" fmla="*/ 351660 h 352863"/>
              <a:gd name="connsiteX10" fmla="*/ 81252 w 353021"/>
              <a:gd name="connsiteY10" fmla="*/ 325186 h 352863"/>
              <a:gd name="connsiteX11" fmla="*/ 26928 w 353021"/>
              <a:gd name="connsiteY11" fmla="*/ 270518 h 352863"/>
              <a:gd name="connsiteX12" fmla="*/ 1313 w 353021"/>
              <a:gd name="connsiteY12" fmla="*/ 198660 h 352863"/>
              <a:gd name="connsiteX13" fmla="*/ 8190 w 353021"/>
              <a:gd name="connsiteY13" fmla="*/ 123363 h 352863"/>
              <a:gd name="connsiteX14" fmla="*/ 45838 w 353021"/>
              <a:gd name="connsiteY14" fmla="*/ 57521 h 352863"/>
              <a:gd name="connsiteX15" fmla="*/ 98787 w 353021"/>
              <a:gd name="connsiteY15" fmla="*/ 17810 h 352863"/>
              <a:gd name="connsiteX16" fmla="*/ 162565 w 353021"/>
              <a:gd name="connsiteY16" fmla="*/ 447 h 352863"/>
              <a:gd name="connsiteX17" fmla="*/ 180960 w 353021"/>
              <a:gd name="connsiteY17" fmla="*/ 103 h 352863"/>
              <a:gd name="connsiteX18" fmla="*/ 176147 w 353021"/>
              <a:gd name="connsiteY18" fmla="*/ 24686 h 352863"/>
              <a:gd name="connsiteX19" fmla="*/ 159643 w 353021"/>
              <a:gd name="connsiteY19" fmla="*/ 25374 h 352863"/>
              <a:gd name="connsiteX20" fmla="*/ 118212 w 353021"/>
              <a:gd name="connsiteY20" fmla="*/ 36204 h 352863"/>
              <a:gd name="connsiteX21" fmla="*/ 81424 w 353021"/>
              <a:gd name="connsiteY21" fmla="*/ 58209 h 352863"/>
              <a:gd name="connsiteX22" fmla="*/ 68702 w 353021"/>
              <a:gd name="connsiteY22" fmla="*/ 69383 h 352863"/>
              <a:gd name="connsiteX23" fmla="*/ 57872 w 353021"/>
              <a:gd name="connsiteY23" fmla="*/ 81245 h 352863"/>
              <a:gd name="connsiteX24" fmla="*/ 36039 w 353021"/>
              <a:gd name="connsiteY24" fmla="*/ 118549 h 352863"/>
              <a:gd name="connsiteX25" fmla="*/ 25381 w 353021"/>
              <a:gd name="connsiteY25" fmla="*/ 160152 h 352863"/>
              <a:gd name="connsiteX26" fmla="*/ 24693 w 353021"/>
              <a:gd name="connsiteY26" fmla="*/ 176311 h 352863"/>
              <a:gd name="connsiteX27" fmla="*/ 25381 w 353021"/>
              <a:gd name="connsiteY27" fmla="*/ 192471 h 352863"/>
              <a:gd name="connsiteX28" fmla="*/ 36211 w 353021"/>
              <a:gd name="connsiteY28" fmla="*/ 234589 h 352863"/>
              <a:gd name="connsiteX29" fmla="*/ 58559 w 353021"/>
              <a:gd name="connsiteY29" fmla="*/ 271722 h 352863"/>
              <a:gd name="connsiteX30" fmla="*/ 111680 w 353021"/>
              <a:gd name="connsiteY30" fmla="*/ 313668 h 352863"/>
              <a:gd name="connsiteX31" fmla="*/ 177350 w 353021"/>
              <a:gd name="connsiteY31" fmla="*/ 328108 h 352863"/>
              <a:gd name="connsiteX32" fmla="*/ 243020 w 353021"/>
              <a:gd name="connsiteY32" fmla="*/ 312465 h 352863"/>
              <a:gd name="connsiteX33" fmla="*/ 284278 w 353021"/>
              <a:gd name="connsiteY33" fmla="*/ 282896 h 352863"/>
              <a:gd name="connsiteX34" fmla="*/ 326568 w 353021"/>
              <a:gd name="connsiteY34" fmla="*/ 199347 h 352863"/>
              <a:gd name="connsiteX35" fmla="*/ 328116 w 353021"/>
              <a:gd name="connsiteY35" fmla="*/ 180265 h 352863"/>
              <a:gd name="connsiteX36" fmla="*/ 327772 w 353021"/>
              <a:gd name="connsiteY36" fmla="*/ 160839 h 352863"/>
              <a:gd name="connsiteX37" fmla="*/ 300954 w 353021"/>
              <a:gd name="connsiteY37" fmla="*/ 89496 h 352863"/>
              <a:gd name="connsiteX38" fmla="*/ 243020 w 353021"/>
              <a:gd name="connsiteY38" fmla="*/ 39986 h 352863"/>
              <a:gd name="connsiteX39" fmla="*/ 192650 w 353021"/>
              <a:gd name="connsiteY39" fmla="*/ 25374 h 352863"/>
              <a:gd name="connsiteX40" fmla="*/ 176147 w 353021"/>
              <a:gd name="connsiteY40" fmla="*/ 24686 h 352863"/>
              <a:gd name="connsiteX41" fmla="*/ 129559 w 353021"/>
              <a:gd name="connsiteY41" fmla="*/ 117862 h 352863"/>
              <a:gd name="connsiteX42" fmla="*/ 134888 w 353021"/>
              <a:gd name="connsiteY42" fmla="*/ 118549 h 352863"/>
              <a:gd name="connsiteX43" fmla="*/ 156377 w 353021"/>
              <a:gd name="connsiteY43" fmla="*/ 139007 h 352863"/>
              <a:gd name="connsiteX44" fmla="*/ 176318 w 353021"/>
              <a:gd name="connsiteY44" fmla="*/ 158948 h 352863"/>
              <a:gd name="connsiteX45" fmla="*/ 196260 w 353021"/>
              <a:gd name="connsiteY45" fmla="*/ 139007 h 352863"/>
              <a:gd name="connsiteX46" fmla="*/ 217749 w 353021"/>
              <a:gd name="connsiteY46" fmla="*/ 118549 h 352863"/>
              <a:gd name="connsiteX47" fmla="*/ 222906 w 353021"/>
              <a:gd name="connsiteY47" fmla="*/ 117862 h 352863"/>
              <a:gd name="connsiteX48" fmla="*/ 227720 w 353021"/>
              <a:gd name="connsiteY48" fmla="*/ 118893 h 352863"/>
              <a:gd name="connsiteX49" fmla="*/ 231158 w 353021"/>
              <a:gd name="connsiteY49" fmla="*/ 121644 h 352863"/>
              <a:gd name="connsiteX50" fmla="*/ 233909 w 353021"/>
              <a:gd name="connsiteY50" fmla="*/ 124910 h 352863"/>
              <a:gd name="connsiteX51" fmla="*/ 234596 w 353021"/>
              <a:gd name="connsiteY51" fmla="*/ 129723 h 352863"/>
              <a:gd name="connsiteX52" fmla="*/ 233909 w 353021"/>
              <a:gd name="connsiteY52" fmla="*/ 134881 h 352863"/>
              <a:gd name="connsiteX53" fmla="*/ 213451 w 353021"/>
              <a:gd name="connsiteY53" fmla="*/ 156370 h 352863"/>
              <a:gd name="connsiteX54" fmla="*/ 193509 w 353021"/>
              <a:gd name="connsiteY54" fmla="*/ 176483 h 352863"/>
              <a:gd name="connsiteX55" fmla="*/ 213451 w 353021"/>
              <a:gd name="connsiteY55" fmla="*/ 196425 h 352863"/>
              <a:gd name="connsiteX56" fmla="*/ 233909 w 353021"/>
              <a:gd name="connsiteY56" fmla="*/ 217914 h 352863"/>
              <a:gd name="connsiteX57" fmla="*/ 234596 w 353021"/>
              <a:gd name="connsiteY57" fmla="*/ 223071 h 352863"/>
              <a:gd name="connsiteX58" fmla="*/ 233909 w 353021"/>
              <a:gd name="connsiteY58" fmla="*/ 227885 h 352863"/>
              <a:gd name="connsiteX59" fmla="*/ 231158 w 353021"/>
              <a:gd name="connsiteY59" fmla="*/ 231151 h 352863"/>
              <a:gd name="connsiteX60" fmla="*/ 227720 w 353021"/>
              <a:gd name="connsiteY60" fmla="*/ 233901 h 352863"/>
              <a:gd name="connsiteX61" fmla="*/ 222906 w 353021"/>
              <a:gd name="connsiteY61" fmla="*/ 234933 h 352863"/>
              <a:gd name="connsiteX62" fmla="*/ 217749 w 353021"/>
              <a:gd name="connsiteY62" fmla="*/ 234245 h 352863"/>
              <a:gd name="connsiteX63" fmla="*/ 196260 w 353021"/>
              <a:gd name="connsiteY63" fmla="*/ 213788 h 352863"/>
              <a:gd name="connsiteX64" fmla="*/ 176318 w 353021"/>
              <a:gd name="connsiteY64" fmla="*/ 193674 h 352863"/>
              <a:gd name="connsiteX65" fmla="*/ 156377 w 353021"/>
              <a:gd name="connsiteY65" fmla="*/ 213788 h 352863"/>
              <a:gd name="connsiteX66" fmla="*/ 134888 w 353021"/>
              <a:gd name="connsiteY66" fmla="*/ 234245 h 352863"/>
              <a:gd name="connsiteX67" fmla="*/ 129730 w 353021"/>
              <a:gd name="connsiteY67" fmla="*/ 234933 h 352863"/>
              <a:gd name="connsiteX68" fmla="*/ 124917 w 353021"/>
              <a:gd name="connsiteY68" fmla="*/ 234245 h 352863"/>
              <a:gd name="connsiteX69" fmla="*/ 121651 w 353021"/>
              <a:gd name="connsiteY69" fmla="*/ 231495 h 352863"/>
              <a:gd name="connsiteX70" fmla="*/ 118900 w 353021"/>
              <a:gd name="connsiteY70" fmla="*/ 228056 h 352863"/>
              <a:gd name="connsiteX71" fmla="*/ 117869 w 353021"/>
              <a:gd name="connsiteY71" fmla="*/ 223243 h 352863"/>
              <a:gd name="connsiteX72" fmla="*/ 118556 w 353021"/>
              <a:gd name="connsiteY72" fmla="*/ 218086 h 352863"/>
              <a:gd name="connsiteX73" fmla="*/ 139014 w 353021"/>
              <a:gd name="connsiteY73" fmla="*/ 196597 h 352863"/>
              <a:gd name="connsiteX74" fmla="*/ 158955 w 353021"/>
              <a:gd name="connsiteY74" fmla="*/ 176655 h 352863"/>
              <a:gd name="connsiteX75" fmla="*/ 139014 w 353021"/>
              <a:gd name="connsiteY75" fmla="*/ 156542 h 352863"/>
              <a:gd name="connsiteX76" fmla="*/ 118556 w 353021"/>
              <a:gd name="connsiteY76" fmla="*/ 135053 h 352863"/>
              <a:gd name="connsiteX77" fmla="*/ 117869 w 353021"/>
              <a:gd name="connsiteY77" fmla="*/ 129895 h 352863"/>
              <a:gd name="connsiteX78" fmla="*/ 118556 w 353021"/>
              <a:gd name="connsiteY78" fmla="*/ 125082 h 352863"/>
              <a:gd name="connsiteX79" fmla="*/ 121307 w 353021"/>
              <a:gd name="connsiteY79" fmla="*/ 121644 h 352863"/>
              <a:gd name="connsiteX80" fmla="*/ 124745 w 353021"/>
              <a:gd name="connsiteY80" fmla="*/ 118893 h 352863"/>
              <a:gd name="connsiteX81" fmla="*/ 129559 w 353021"/>
              <a:gd name="connsiteY81" fmla="*/ 117862 h 35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353021" h="352863">
                <a:moveTo>
                  <a:pt x="180960" y="103"/>
                </a:moveTo>
                <a:cubicBezTo>
                  <a:pt x="188524" y="447"/>
                  <a:pt x="194541" y="790"/>
                  <a:pt x="199183" y="1306"/>
                </a:cubicBezTo>
                <a:cubicBezTo>
                  <a:pt x="223594" y="4573"/>
                  <a:pt x="246114" y="12480"/>
                  <a:pt x="266915" y="25030"/>
                </a:cubicBezTo>
                <a:cubicBezTo>
                  <a:pt x="287716" y="37407"/>
                  <a:pt x="305251" y="53567"/>
                  <a:pt x="319520" y="73165"/>
                </a:cubicBezTo>
                <a:cubicBezTo>
                  <a:pt x="333789" y="92763"/>
                  <a:pt x="343587" y="114595"/>
                  <a:pt x="348917" y="138491"/>
                </a:cubicBezTo>
                <a:cubicBezTo>
                  <a:pt x="355105" y="166684"/>
                  <a:pt x="354246" y="195050"/>
                  <a:pt x="346682" y="223415"/>
                </a:cubicBezTo>
                <a:cubicBezTo>
                  <a:pt x="338946" y="251780"/>
                  <a:pt x="325193" y="276363"/>
                  <a:pt x="305423" y="297165"/>
                </a:cubicBezTo>
                <a:cubicBezTo>
                  <a:pt x="275683" y="328452"/>
                  <a:pt x="239410" y="346847"/>
                  <a:pt x="196432" y="352176"/>
                </a:cubicBezTo>
                <a:cubicBezTo>
                  <a:pt x="191618" y="352692"/>
                  <a:pt x="184570" y="352864"/>
                  <a:pt x="175287" y="352864"/>
                </a:cubicBezTo>
                <a:cubicBezTo>
                  <a:pt x="166004" y="352864"/>
                  <a:pt x="158955" y="352520"/>
                  <a:pt x="154142" y="351660"/>
                </a:cubicBezTo>
                <a:cubicBezTo>
                  <a:pt x="127668" y="348050"/>
                  <a:pt x="103428" y="339283"/>
                  <a:pt x="81252" y="325186"/>
                </a:cubicBezTo>
                <a:cubicBezTo>
                  <a:pt x="59075" y="311089"/>
                  <a:pt x="41025" y="292867"/>
                  <a:pt x="26928" y="270518"/>
                </a:cubicBezTo>
                <a:cubicBezTo>
                  <a:pt x="12831" y="248170"/>
                  <a:pt x="4408" y="224274"/>
                  <a:pt x="1313" y="198660"/>
                </a:cubicBezTo>
                <a:cubicBezTo>
                  <a:pt x="-1781" y="173045"/>
                  <a:pt x="626" y="148118"/>
                  <a:pt x="8190" y="123363"/>
                </a:cubicBezTo>
                <a:cubicBezTo>
                  <a:pt x="15926" y="98780"/>
                  <a:pt x="28475" y="76775"/>
                  <a:pt x="45838" y="57521"/>
                </a:cubicBezTo>
                <a:cubicBezTo>
                  <a:pt x="61310" y="40846"/>
                  <a:pt x="78845" y="27609"/>
                  <a:pt x="98787" y="17810"/>
                </a:cubicBezTo>
                <a:cubicBezTo>
                  <a:pt x="118728" y="8011"/>
                  <a:pt x="139873" y="2338"/>
                  <a:pt x="162565" y="447"/>
                </a:cubicBezTo>
                <a:cubicBezTo>
                  <a:pt x="167207" y="-69"/>
                  <a:pt x="173396" y="-69"/>
                  <a:pt x="180960" y="103"/>
                </a:cubicBezTo>
                <a:close/>
                <a:moveTo>
                  <a:pt x="176147" y="24686"/>
                </a:moveTo>
                <a:cubicBezTo>
                  <a:pt x="168754" y="24686"/>
                  <a:pt x="163253" y="24858"/>
                  <a:pt x="159643" y="25374"/>
                </a:cubicBezTo>
                <a:cubicBezTo>
                  <a:pt x="145546" y="26921"/>
                  <a:pt x="131794" y="30531"/>
                  <a:pt x="118212" y="36204"/>
                </a:cubicBezTo>
                <a:cubicBezTo>
                  <a:pt x="104803" y="41877"/>
                  <a:pt x="92426" y="49097"/>
                  <a:pt x="81424" y="58209"/>
                </a:cubicBezTo>
                <a:cubicBezTo>
                  <a:pt x="77642" y="61131"/>
                  <a:pt x="73344" y="64741"/>
                  <a:pt x="68702" y="69383"/>
                </a:cubicBezTo>
                <a:cubicBezTo>
                  <a:pt x="64061" y="74024"/>
                  <a:pt x="60450" y="77978"/>
                  <a:pt x="57872" y="81245"/>
                </a:cubicBezTo>
                <a:cubicBezTo>
                  <a:pt x="48932" y="92591"/>
                  <a:pt x="41712" y="104968"/>
                  <a:pt x="36039" y="118549"/>
                </a:cubicBezTo>
                <a:cubicBezTo>
                  <a:pt x="30538" y="132130"/>
                  <a:pt x="26928" y="146055"/>
                  <a:pt x="25381" y="160152"/>
                </a:cubicBezTo>
                <a:cubicBezTo>
                  <a:pt x="24865" y="164278"/>
                  <a:pt x="24693" y="169607"/>
                  <a:pt x="24693" y="176311"/>
                </a:cubicBezTo>
                <a:cubicBezTo>
                  <a:pt x="24693" y="183016"/>
                  <a:pt x="24865" y="188345"/>
                  <a:pt x="25381" y="192471"/>
                </a:cubicBezTo>
                <a:cubicBezTo>
                  <a:pt x="26928" y="206911"/>
                  <a:pt x="30538" y="220836"/>
                  <a:pt x="36211" y="234589"/>
                </a:cubicBezTo>
                <a:cubicBezTo>
                  <a:pt x="41884" y="248342"/>
                  <a:pt x="49276" y="260719"/>
                  <a:pt x="58559" y="271722"/>
                </a:cubicBezTo>
                <a:cubicBezTo>
                  <a:pt x="73172" y="289944"/>
                  <a:pt x="90879" y="303869"/>
                  <a:pt x="111680" y="313668"/>
                </a:cubicBezTo>
                <a:cubicBezTo>
                  <a:pt x="132481" y="323467"/>
                  <a:pt x="154314" y="328280"/>
                  <a:pt x="177350" y="328108"/>
                </a:cubicBezTo>
                <a:cubicBezTo>
                  <a:pt x="200386" y="327937"/>
                  <a:pt x="222219" y="322779"/>
                  <a:pt x="243020" y="312465"/>
                </a:cubicBezTo>
                <a:cubicBezTo>
                  <a:pt x="258492" y="305072"/>
                  <a:pt x="272073" y="295102"/>
                  <a:pt x="284278" y="282896"/>
                </a:cubicBezTo>
                <a:cubicBezTo>
                  <a:pt x="307314" y="259516"/>
                  <a:pt x="321411" y="231667"/>
                  <a:pt x="326568" y="199347"/>
                </a:cubicBezTo>
                <a:cubicBezTo>
                  <a:pt x="327256" y="195050"/>
                  <a:pt x="327772" y="188689"/>
                  <a:pt x="328116" y="180265"/>
                </a:cubicBezTo>
                <a:cubicBezTo>
                  <a:pt x="328287" y="172014"/>
                  <a:pt x="328287" y="165481"/>
                  <a:pt x="327772" y="160839"/>
                </a:cubicBezTo>
                <a:cubicBezTo>
                  <a:pt x="325021" y="134709"/>
                  <a:pt x="316082" y="110813"/>
                  <a:pt x="300954" y="89496"/>
                </a:cubicBezTo>
                <a:cubicBezTo>
                  <a:pt x="285998" y="68008"/>
                  <a:pt x="266572" y="51504"/>
                  <a:pt x="243020" y="39986"/>
                </a:cubicBezTo>
                <a:cubicBezTo>
                  <a:pt x="227032" y="32078"/>
                  <a:pt x="210357" y="27093"/>
                  <a:pt x="192650" y="25374"/>
                </a:cubicBezTo>
                <a:cubicBezTo>
                  <a:pt x="189040" y="25030"/>
                  <a:pt x="183539" y="24686"/>
                  <a:pt x="176147" y="24686"/>
                </a:cubicBezTo>
                <a:close/>
                <a:moveTo>
                  <a:pt x="129559" y="117862"/>
                </a:moveTo>
                <a:cubicBezTo>
                  <a:pt x="131794" y="117862"/>
                  <a:pt x="133685" y="118205"/>
                  <a:pt x="134888" y="118549"/>
                </a:cubicBezTo>
                <a:cubicBezTo>
                  <a:pt x="136091" y="119065"/>
                  <a:pt x="143312" y="125941"/>
                  <a:pt x="156377" y="139007"/>
                </a:cubicBezTo>
                <a:lnTo>
                  <a:pt x="176318" y="158948"/>
                </a:lnTo>
                <a:lnTo>
                  <a:pt x="196260" y="139007"/>
                </a:lnTo>
                <a:cubicBezTo>
                  <a:pt x="209325" y="125941"/>
                  <a:pt x="216545" y="119065"/>
                  <a:pt x="217749" y="118549"/>
                </a:cubicBezTo>
                <a:cubicBezTo>
                  <a:pt x="218952" y="118034"/>
                  <a:pt x="220843" y="117862"/>
                  <a:pt x="222906" y="117862"/>
                </a:cubicBezTo>
                <a:cubicBezTo>
                  <a:pt x="225141" y="117862"/>
                  <a:pt x="226688" y="118205"/>
                  <a:pt x="227720" y="118893"/>
                </a:cubicBezTo>
                <a:cubicBezTo>
                  <a:pt x="228751" y="119581"/>
                  <a:pt x="229954" y="120440"/>
                  <a:pt x="231158" y="121644"/>
                </a:cubicBezTo>
                <a:cubicBezTo>
                  <a:pt x="232361" y="122847"/>
                  <a:pt x="233393" y="123879"/>
                  <a:pt x="233909" y="124910"/>
                </a:cubicBezTo>
                <a:cubicBezTo>
                  <a:pt x="234424" y="125941"/>
                  <a:pt x="234596" y="127489"/>
                  <a:pt x="234596" y="129723"/>
                </a:cubicBezTo>
                <a:cubicBezTo>
                  <a:pt x="234596" y="131958"/>
                  <a:pt x="234252" y="133677"/>
                  <a:pt x="233909" y="134881"/>
                </a:cubicBezTo>
                <a:cubicBezTo>
                  <a:pt x="233393" y="136256"/>
                  <a:pt x="226516" y="143304"/>
                  <a:pt x="213451" y="156370"/>
                </a:cubicBezTo>
                <a:lnTo>
                  <a:pt x="193509" y="176483"/>
                </a:lnTo>
                <a:lnTo>
                  <a:pt x="213451" y="196425"/>
                </a:lnTo>
                <a:cubicBezTo>
                  <a:pt x="226516" y="209490"/>
                  <a:pt x="233393" y="216710"/>
                  <a:pt x="233909" y="217914"/>
                </a:cubicBezTo>
                <a:cubicBezTo>
                  <a:pt x="234424" y="219289"/>
                  <a:pt x="234596" y="221008"/>
                  <a:pt x="234596" y="223071"/>
                </a:cubicBezTo>
                <a:cubicBezTo>
                  <a:pt x="234596" y="225306"/>
                  <a:pt x="234252" y="226853"/>
                  <a:pt x="233909" y="227885"/>
                </a:cubicBezTo>
                <a:cubicBezTo>
                  <a:pt x="233393" y="228916"/>
                  <a:pt x="232533" y="229947"/>
                  <a:pt x="231158" y="231151"/>
                </a:cubicBezTo>
                <a:cubicBezTo>
                  <a:pt x="229783" y="232354"/>
                  <a:pt x="228751" y="233214"/>
                  <a:pt x="227720" y="233901"/>
                </a:cubicBezTo>
                <a:cubicBezTo>
                  <a:pt x="226688" y="234589"/>
                  <a:pt x="225141" y="234933"/>
                  <a:pt x="222906" y="234933"/>
                </a:cubicBezTo>
                <a:cubicBezTo>
                  <a:pt x="220671" y="234933"/>
                  <a:pt x="218952" y="234761"/>
                  <a:pt x="217749" y="234245"/>
                </a:cubicBezTo>
                <a:cubicBezTo>
                  <a:pt x="216545" y="233730"/>
                  <a:pt x="209325" y="226853"/>
                  <a:pt x="196260" y="213788"/>
                </a:cubicBezTo>
                <a:lnTo>
                  <a:pt x="176318" y="193674"/>
                </a:lnTo>
                <a:lnTo>
                  <a:pt x="156377" y="213788"/>
                </a:lnTo>
                <a:cubicBezTo>
                  <a:pt x="143312" y="226853"/>
                  <a:pt x="136091" y="233730"/>
                  <a:pt x="134888" y="234245"/>
                </a:cubicBezTo>
                <a:cubicBezTo>
                  <a:pt x="133513" y="234761"/>
                  <a:pt x="131794" y="234933"/>
                  <a:pt x="129730" y="234933"/>
                </a:cubicBezTo>
                <a:cubicBezTo>
                  <a:pt x="127496" y="234933"/>
                  <a:pt x="125948" y="234761"/>
                  <a:pt x="124917" y="234245"/>
                </a:cubicBezTo>
                <a:cubicBezTo>
                  <a:pt x="123886" y="233730"/>
                  <a:pt x="122854" y="232870"/>
                  <a:pt x="121651" y="231495"/>
                </a:cubicBezTo>
                <a:cubicBezTo>
                  <a:pt x="120447" y="230291"/>
                  <a:pt x="119588" y="229088"/>
                  <a:pt x="118900" y="228056"/>
                </a:cubicBezTo>
                <a:cubicBezTo>
                  <a:pt x="118212" y="227025"/>
                  <a:pt x="117869" y="225478"/>
                  <a:pt x="117869" y="223243"/>
                </a:cubicBezTo>
                <a:cubicBezTo>
                  <a:pt x="117869" y="221008"/>
                  <a:pt x="118041" y="219289"/>
                  <a:pt x="118556" y="218086"/>
                </a:cubicBezTo>
                <a:cubicBezTo>
                  <a:pt x="119072" y="216882"/>
                  <a:pt x="125948" y="209662"/>
                  <a:pt x="139014" y="196597"/>
                </a:cubicBezTo>
                <a:lnTo>
                  <a:pt x="158955" y="176655"/>
                </a:lnTo>
                <a:lnTo>
                  <a:pt x="139014" y="156542"/>
                </a:lnTo>
                <a:cubicBezTo>
                  <a:pt x="125948" y="143476"/>
                  <a:pt x="119072" y="136256"/>
                  <a:pt x="118556" y="135053"/>
                </a:cubicBezTo>
                <a:cubicBezTo>
                  <a:pt x="118041" y="133849"/>
                  <a:pt x="117869" y="132130"/>
                  <a:pt x="117869" y="129895"/>
                </a:cubicBezTo>
                <a:cubicBezTo>
                  <a:pt x="117869" y="127661"/>
                  <a:pt x="118041" y="126113"/>
                  <a:pt x="118556" y="125082"/>
                </a:cubicBezTo>
                <a:cubicBezTo>
                  <a:pt x="119072" y="124050"/>
                  <a:pt x="119932" y="122847"/>
                  <a:pt x="121307" y="121644"/>
                </a:cubicBezTo>
                <a:cubicBezTo>
                  <a:pt x="122510" y="120268"/>
                  <a:pt x="123714" y="119409"/>
                  <a:pt x="124745" y="118893"/>
                </a:cubicBezTo>
                <a:cubicBezTo>
                  <a:pt x="125605" y="118205"/>
                  <a:pt x="127152" y="117862"/>
                  <a:pt x="129559" y="117862"/>
                </a:cubicBezTo>
                <a:close/>
              </a:path>
            </a:pathLst>
          </a:custGeom>
          <a:solidFill>
            <a:schemeClr val="tx2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" name="Полилиния: фигура 7">
            <a:extLst>
              <a:ext uri="{FF2B5EF4-FFF2-40B4-BE49-F238E27FC236}">
                <a16:creationId xmlns:a16="http://schemas.microsoft.com/office/drawing/2014/main" id="{1C68C6B0-4EA0-403E-A54D-116CCC1C26C3}"/>
              </a:ext>
            </a:extLst>
          </p:cNvPr>
          <p:cNvSpPr/>
          <p:nvPr/>
        </p:nvSpPr>
        <p:spPr>
          <a:xfrm>
            <a:off x="2905663" y="1085056"/>
            <a:ext cx="176107" cy="176067"/>
          </a:xfrm>
          <a:custGeom>
            <a:avLst/>
            <a:gdLst>
              <a:gd name="connsiteX0" fmla="*/ 180960 w 353021"/>
              <a:gd name="connsiteY0" fmla="*/ 179 h 352939"/>
              <a:gd name="connsiteX1" fmla="*/ 199182 w 353021"/>
              <a:gd name="connsiteY1" fmla="*/ 1382 h 352939"/>
              <a:gd name="connsiteX2" fmla="*/ 266915 w 353021"/>
              <a:gd name="connsiteY2" fmla="*/ 25106 h 352939"/>
              <a:gd name="connsiteX3" fmla="*/ 319520 w 353021"/>
              <a:gd name="connsiteY3" fmla="*/ 73241 h 352939"/>
              <a:gd name="connsiteX4" fmla="*/ 348917 w 353021"/>
              <a:gd name="connsiteY4" fmla="*/ 138567 h 352939"/>
              <a:gd name="connsiteX5" fmla="*/ 346682 w 353021"/>
              <a:gd name="connsiteY5" fmla="*/ 223491 h 352939"/>
              <a:gd name="connsiteX6" fmla="*/ 305423 w 353021"/>
              <a:gd name="connsiteY6" fmla="*/ 297241 h 352939"/>
              <a:gd name="connsiteX7" fmla="*/ 196432 w 353021"/>
              <a:gd name="connsiteY7" fmla="*/ 352252 h 352939"/>
              <a:gd name="connsiteX8" fmla="*/ 175287 w 353021"/>
              <a:gd name="connsiteY8" fmla="*/ 352940 h 352939"/>
              <a:gd name="connsiteX9" fmla="*/ 154142 w 353021"/>
              <a:gd name="connsiteY9" fmla="*/ 351736 h 352939"/>
              <a:gd name="connsiteX10" fmla="*/ 81252 w 353021"/>
              <a:gd name="connsiteY10" fmla="*/ 325262 h 352939"/>
              <a:gd name="connsiteX11" fmla="*/ 26928 w 353021"/>
              <a:gd name="connsiteY11" fmla="*/ 270594 h 352939"/>
              <a:gd name="connsiteX12" fmla="*/ 1313 w 353021"/>
              <a:gd name="connsiteY12" fmla="*/ 198736 h 352939"/>
              <a:gd name="connsiteX13" fmla="*/ 8190 w 353021"/>
              <a:gd name="connsiteY13" fmla="*/ 123439 h 352939"/>
              <a:gd name="connsiteX14" fmla="*/ 45838 w 353021"/>
              <a:gd name="connsiteY14" fmla="*/ 57597 h 352939"/>
              <a:gd name="connsiteX15" fmla="*/ 98787 w 353021"/>
              <a:gd name="connsiteY15" fmla="*/ 17886 h 352939"/>
              <a:gd name="connsiteX16" fmla="*/ 162737 w 353021"/>
              <a:gd name="connsiteY16" fmla="*/ 523 h 352939"/>
              <a:gd name="connsiteX17" fmla="*/ 180960 w 353021"/>
              <a:gd name="connsiteY17" fmla="*/ 179 h 352939"/>
              <a:gd name="connsiteX18" fmla="*/ 176146 w 353021"/>
              <a:gd name="connsiteY18" fmla="*/ 24762 h 352939"/>
              <a:gd name="connsiteX19" fmla="*/ 159643 w 353021"/>
              <a:gd name="connsiteY19" fmla="*/ 25450 h 352939"/>
              <a:gd name="connsiteX20" fmla="*/ 118212 w 353021"/>
              <a:gd name="connsiteY20" fmla="*/ 36280 h 352939"/>
              <a:gd name="connsiteX21" fmla="*/ 81424 w 353021"/>
              <a:gd name="connsiteY21" fmla="*/ 58285 h 352939"/>
              <a:gd name="connsiteX22" fmla="*/ 68702 w 353021"/>
              <a:gd name="connsiteY22" fmla="*/ 69459 h 352939"/>
              <a:gd name="connsiteX23" fmla="*/ 57872 w 353021"/>
              <a:gd name="connsiteY23" fmla="*/ 81321 h 352939"/>
              <a:gd name="connsiteX24" fmla="*/ 36039 w 353021"/>
              <a:gd name="connsiteY24" fmla="*/ 118625 h 352939"/>
              <a:gd name="connsiteX25" fmla="*/ 25381 w 353021"/>
              <a:gd name="connsiteY25" fmla="*/ 160228 h 352939"/>
              <a:gd name="connsiteX26" fmla="*/ 24693 w 353021"/>
              <a:gd name="connsiteY26" fmla="*/ 176387 h 352939"/>
              <a:gd name="connsiteX27" fmla="*/ 25381 w 353021"/>
              <a:gd name="connsiteY27" fmla="*/ 192547 h 352939"/>
              <a:gd name="connsiteX28" fmla="*/ 36211 w 353021"/>
              <a:gd name="connsiteY28" fmla="*/ 234665 h 352939"/>
              <a:gd name="connsiteX29" fmla="*/ 58559 w 353021"/>
              <a:gd name="connsiteY29" fmla="*/ 271798 h 352939"/>
              <a:gd name="connsiteX30" fmla="*/ 111680 w 353021"/>
              <a:gd name="connsiteY30" fmla="*/ 313744 h 352939"/>
              <a:gd name="connsiteX31" fmla="*/ 177350 w 353021"/>
              <a:gd name="connsiteY31" fmla="*/ 328185 h 352939"/>
              <a:gd name="connsiteX32" fmla="*/ 243020 w 353021"/>
              <a:gd name="connsiteY32" fmla="*/ 312541 h 352939"/>
              <a:gd name="connsiteX33" fmla="*/ 284278 w 353021"/>
              <a:gd name="connsiteY33" fmla="*/ 282972 h 352939"/>
              <a:gd name="connsiteX34" fmla="*/ 326568 w 353021"/>
              <a:gd name="connsiteY34" fmla="*/ 199423 h 352939"/>
              <a:gd name="connsiteX35" fmla="*/ 328116 w 353021"/>
              <a:gd name="connsiteY35" fmla="*/ 180341 h 352939"/>
              <a:gd name="connsiteX36" fmla="*/ 327772 w 353021"/>
              <a:gd name="connsiteY36" fmla="*/ 160915 h 352939"/>
              <a:gd name="connsiteX37" fmla="*/ 300954 w 353021"/>
              <a:gd name="connsiteY37" fmla="*/ 89572 h 352939"/>
              <a:gd name="connsiteX38" fmla="*/ 243020 w 353021"/>
              <a:gd name="connsiteY38" fmla="*/ 40062 h 352939"/>
              <a:gd name="connsiteX39" fmla="*/ 192650 w 353021"/>
              <a:gd name="connsiteY39" fmla="*/ 25450 h 352939"/>
              <a:gd name="connsiteX40" fmla="*/ 176146 w 353021"/>
              <a:gd name="connsiteY40" fmla="*/ 24762 h 352939"/>
              <a:gd name="connsiteX41" fmla="*/ 176146 w 353021"/>
              <a:gd name="connsiteY41" fmla="*/ 98340 h 352939"/>
              <a:gd name="connsiteX42" fmla="*/ 183710 w 353021"/>
              <a:gd name="connsiteY42" fmla="*/ 101090 h 352939"/>
              <a:gd name="connsiteX43" fmla="*/ 188524 w 353021"/>
              <a:gd name="connsiteY43" fmla="*/ 107279 h 352939"/>
              <a:gd name="connsiteX44" fmla="*/ 188868 w 353021"/>
              <a:gd name="connsiteY44" fmla="*/ 136848 h 352939"/>
              <a:gd name="connsiteX45" fmla="*/ 188868 w 353021"/>
              <a:gd name="connsiteY45" fmla="*/ 164182 h 352939"/>
              <a:gd name="connsiteX46" fmla="*/ 216202 w 353021"/>
              <a:gd name="connsiteY46" fmla="*/ 164182 h 352939"/>
              <a:gd name="connsiteX47" fmla="*/ 245770 w 353021"/>
              <a:gd name="connsiteY47" fmla="*/ 164697 h 352939"/>
              <a:gd name="connsiteX48" fmla="*/ 250756 w 353021"/>
              <a:gd name="connsiteY48" fmla="*/ 167792 h 352939"/>
              <a:gd name="connsiteX49" fmla="*/ 253850 w 353021"/>
              <a:gd name="connsiteY49" fmla="*/ 172949 h 352939"/>
              <a:gd name="connsiteX50" fmla="*/ 252819 w 353021"/>
              <a:gd name="connsiteY50" fmla="*/ 182404 h 352939"/>
              <a:gd name="connsiteX51" fmla="*/ 245770 w 353021"/>
              <a:gd name="connsiteY51" fmla="*/ 188421 h 352939"/>
              <a:gd name="connsiteX52" fmla="*/ 216202 w 353021"/>
              <a:gd name="connsiteY52" fmla="*/ 188765 h 352939"/>
              <a:gd name="connsiteX53" fmla="*/ 188868 w 353021"/>
              <a:gd name="connsiteY53" fmla="*/ 188765 h 352939"/>
              <a:gd name="connsiteX54" fmla="*/ 188868 w 353021"/>
              <a:gd name="connsiteY54" fmla="*/ 216099 h 352939"/>
              <a:gd name="connsiteX55" fmla="*/ 188524 w 353021"/>
              <a:gd name="connsiteY55" fmla="*/ 245667 h 352939"/>
              <a:gd name="connsiteX56" fmla="*/ 182507 w 353021"/>
              <a:gd name="connsiteY56" fmla="*/ 252716 h 352939"/>
              <a:gd name="connsiteX57" fmla="*/ 173052 w 353021"/>
              <a:gd name="connsiteY57" fmla="*/ 253747 h 352939"/>
              <a:gd name="connsiteX58" fmla="*/ 167895 w 353021"/>
              <a:gd name="connsiteY58" fmla="*/ 250653 h 352939"/>
              <a:gd name="connsiteX59" fmla="*/ 164800 w 353021"/>
              <a:gd name="connsiteY59" fmla="*/ 245667 h 352939"/>
              <a:gd name="connsiteX60" fmla="*/ 164285 w 353021"/>
              <a:gd name="connsiteY60" fmla="*/ 216099 h 352939"/>
              <a:gd name="connsiteX61" fmla="*/ 164285 w 353021"/>
              <a:gd name="connsiteY61" fmla="*/ 188765 h 352939"/>
              <a:gd name="connsiteX62" fmla="*/ 136951 w 353021"/>
              <a:gd name="connsiteY62" fmla="*/ 188765 h 352939"/>
              <a:gd name="connsiteX63" fmla="*/ 107382 w 353021"/>
              <a:gd name="connsiteY63" fmla="*/ 188421 h 352939"/>
              <a:gd name="connsiteX64" fmla="*/ 100334 w 353021"/>
              <a:gd name="connsiteY64" fmla="*/ 182404 h 352939"/>
              <a:gd name="connsiteX65" fmla="*/ 99302 w 353021"/>
              <a:gd name="connsiteY65" fmla="*/ 172949 h 352939"/>
              <a:gd name="connsiteX66" fmla="*/ 102397 w 353021"/>
              <a:gd name="connsiteY66" fmla="*/ 167792 h 352939"/>
              <a:gd name="connsiteX67" fmla="*/ 107382 w 353021"/>
              <a:gd name="connsiteY67" fmla="*/ 164697 h 352939"/>
              <a:gd name="connsiteX68" fmla="*/ 136951 w 353021"/>
              <a:gd name="connsiteY68" fmla="*/ 164182 h 352939"/>
              <a:gd name="connsiteX69" fmla="*/ 164285 w 353021"/>
              <a:gd name="connsiteY69" fmla="*/ 164182 h 352939"/>
              <a:gd name="connsiteX70" fmla="*/ 164285 w 353021"/>
              <a:gd name="connsiteY70" fmla="*/ 136848 h 352939"/>
              <a:gd name="connsiteX71" fmla="*/ 164800 w 353021"/>
              <a:gd name="connsiteY71" fmla="*/ 107451 h 352939"/>
              <a:gd name="connsiteX72" fmla="*/ 167723 w 353021"/>
              <a:gd name="connsiteY72" fmla="*/ 102638 h 352939"/>
              <a:gd name="connsiteX73" fmla="*/ 172364 w 353021"/>
              <a:gd name="connsiteY73" fmla="*/ 99199 h 352939"/>
              <a:gd name="connsiteX74" fmla="*/ 176146 w 353021"/>
              <a:gd name="connsiteY74" fmla="*/ 98340 h 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53021" h="352939">
                <a:moveTo>
                  <a:pt x="180960" y="179"/>
                </a:moveTo>
                <a:cubicBezTo>
                  <a:pt x="188524" y="523"/>
                  <a:pt x="194541" y="867"/>
                  <a:pt x="199182" y="1382"/>
                </a:cubicBezTo>
                <a:cubicBezTo>
                  <a:pt x="223594" y="4649"/>
                  <a:pt x="246114" y="12556"/>
                  <a:pt x="266915" y="25106"/>
                </a:cubicBezTo>
                <a:cubicBezTo>
                  <a:pt x="287716" y="37484"/>
                  <a:pt x="305251" y="53643"/>
                  <a:pt x="319520" y="73241"/>
                </a:cubicBezTo>
                <a:cubicBezTo>
                  <a:pt x="333789" y="92839"/>
                  <a:pt x="343587" y="114671"/>
                  <a:pt x="348917" y="138567"/>
                </a:cubicBezTo>
                <a:cubicBezTo>
                  <a:pt x="355105" y="166760"/>
                  <a:pt x="354246" y="195126"/>
                  <a:pt x="346682" y="223491"/>
                </a:cubicBezTo>
                <a:cubicBezTo>
                  <a:pt x="338946" y="251856"/>
                  <a:pt x="325193" y="276439"/>
                  <a:pt x="305423" y="297241"/>
                </a:cubicBezTo>
                <a:cubicBezTo>
                  <a:pt x="275683" y="328528"/>
                  <a:pt x="239410" y="346923"/>
                  <a:pt x="196432" y="352252"/>
                </a:cubicBezTo>
                <a:cubicBezTo>
                  <a:pt x="191618" y="352768"/>
                  <a:pt x="184570" y="352940"/>
                  <a:pt x="175287" y="352940"/>
                </a:cubicBezTo>
                <a:cubicBezTo>
                  <a:pt x="166004" y="352940"/>
                  <a:pt x="158955" y="352596"/>
                  <a:pt x="154142" y="351736"/>
                </a:cubicBezTo>
                <a:cubicBezTo>
                  <a:pt x="127668" y="348126"/>
                  <a:pt x="103428" y="339359"/>
                  <a:pt x="81252" y="325262"/>
                </a:cubicBezTo>
                <a:cubicBezTo>
                  <a:pt x="59075" y="311165"/>
                  <a:pt x="41025" y="292943"/>
                  <a:pt x="26928" y="270594"/>
                </a:cubicBezTo>
                <a:cubicBezTo>
                  <a:pt x="12831" y="248246"/>
                  <a:pt x="4408" y="224350"/>
                  <a:pt x="1313" y="198736"/>
                </a:cubicBezTo>
                <a:cubicBezTo>
                  <a:pt x="-1781" y="173121"/>
                  <a:pt x="626" y="148194"/>
                  <a:pt x="8190" y="123439"/>
                </a:cubicBezTo>
                <a:cubicBezTo>
                  <a:pt x="15926" y="98856"/>
                  <a:pt x="28475" y="76851"/>
                  <a:pt x="45838" y="57597"/>
                </a:cubicBezTo>
                <a:cubicBezTo>
                  <a:pt x="61310" y="40922"/>
                  <a:pt x="78845" y="27685"/>
                  <a:pt x="98787" y="17886"/>
                </a:cubicBezTo>
                <a:cubicBezTo>
                  <a:pt x="118900" y="8087"/>
                  <a:pt x="140217" y="2242"/>
                  <a:pt x="162737" y="523"/>
                </a:cubicBezTo>
                <a:cubicBezTo>
                  <a:pt x="167379" y="7"/>
                  <a:pt x="173396" y="-165"/>
                  <a:pt x="180960" y="179"/>
                </a:cubicBezTo>
                <a:close/>
                <a:moveTo>
                  <a:pt x="176146" y="24762"/>
                </a:moveTo>
                <a:cubicBezTo>
                  <a:pt x="168754" y="24762"/>
                  <a:pt x="163253" y="24934"/>
                  <a:pt x="159643" y="25450"/>
                </a:cubicBezTo>
                <a:cubicBezTo>
                  <a:pt x="145546" y="26997"/>
                  <a:pt x="131793" y="30607"/>
                  <a:pt x="118212" y="36280"/>
                </a:cubicBezTo>
                <a:cubicBezTo>
                  <a:pt x="104803" y="41953"/>
                  <a:pt x="92426" y="49173"/>
                  <a:pt x="81424" y="58285"/>
                </a:cubicBezTo>
                <a:cubicBezTo>
                  <a:pt x="77642" y="61207"/>
                  <a:pt x="73344" y="64817"/>
                  <a:pt x="68702" y="69459"/>
                </a:cubicBezTo>
                <a:cubicBezTo>
                  <a:pt x="64061" y="74100"/>
                  <a:pt x="60450" y="78054"/>
                  <a:pt x="57872" y="81321"/>
                </a:cubicBezTo>
                <a:cubicBezTo>
                  <a:pt x="48932" y="92667"/>
                  <a:pt x="41712" y="105044"/>
                  <a:pt x="36039" y="118625"/>
                </a:cubicBezTo>
                <a:cubicBezTo>
                  <a:pt x="30538" y="132206"/>
                  <a:pt x="26928" y="146131"/>
                  <a:pt x="25381" y="160228"/>
                </a:cubicBezTo>
                <a:cubicBezTo>
                  <a:pt x="24865" y="164354"/>
                  <a:pt x="24693" y="169683"/>
                  <a:pt x="24693" y="176387"/>
                </a:cubicBezTo>
                <a:cubicBezTo>
                  <a:pt x="24693" y="183092"/>
                  <a:pt x="24865" y="188421"/>
                  <a:pt x="25381" y="192547"/>
                </a:cubicBezTo>
                <a:cubicBezTo>
                  <a:pt x="26928" y="206987"/>
                  <a:pt x="30538" y="220912"/>
                  <a:pt x="36211" y="234665"/>
                </a:cubicBezTo>
                <a:cubicBezTo>
                  <a:pt x="41884" y="248418"/>
                  <a:pt x="49276" y="260796"/>
                  <a:pt x="58559" y="271798"/>
                </a:cubicBezTo>
                <a:cubicBezTo>
                  <a:pt x="73172" y="290020"/>
                  <a:pt x="90879" y="303945"/>
                  <a:pt x="111680" y="313744"/>
                </a:cubicBezTo>
                <a:cubicBezTo>
                  <a:pt x="132481" y="323543"/>
                  <a:pt x="154314" y="328356"/>
                  <a:pt x="177350" y="328185"/>
                </a:cubicBezTo>
                <a:cubicBezTo>
                  <a:pt x="200386" y="328013"/>
                  <a:pt x="222219" y="322855"/>
                  <a:pt x="243020" y="312541"/>
                </a:cubicBezTo>
                <a:cubicBezTo>
                  <a:pt x="258492" y="305148"/>
                  <a:pt x="272073" y="295178"/>
                  <a:pt x="284278" y="282972"/>
                </a:cubicBezTo>
                <a:cubicBezTo>
                  <a:pt x="307314" y="259592"/>
                  <a:pt x="321411" y="231743"/>
                  <a:pt x="326568" y="199423"/>
                </a:cubicBezTo>
                <a:cubicBezTo>
                  <a:pt x="327256" y="195126"/>
                  <a:pt x="327772" y="188765"/>
                  <a:pt x="328116" y="180341"/>
                </a:cubicBezTo>
                <a:cubicBezTo>
                  <a:pt x="328287" y="172090"/>
                  <a:pt x="328287" y="165557"/>
                  <a:pt x="327772" y="160915"/>
                </a:cubicBezTo>
                <a:cubicBezTo>
                  <a:pt x="325021" y="134785"/>
                  <a:pt x="316082" y="110889"/>
                  <a:pt x="300954" y="89572"/>
                </a:cubicBezTo>
                <a:cubicBezTo>
                  <a:pt x="285997" y="68084"/>
                  <a:pt x="266571" y="51580"/>
                  <a:pt x="243020" y="40062"/>
                </a:cubicBezTo>
                <a:cubicBezTo>
                  <a:pt x="227032" y="32154"/>
                  <a:pt x="210357" y="27169"/>
                  <a:pt x="192650" y="25450"/>
                </a:cubicBezTo>
                <a:cubicBezTo>
                  <a:pt x="189212" y="24934"/>
                  <a:pt x="183710" y="24762"/>
                  <a:pt x="176146" y="24762"/>
                </a:cubicBezTo>
                <a:close/>
                <a:moveTo>
                  <a:pt x="176146" y="98340"/>
                </a:moveTo>
                <a:cubicBezTo>
                  <a:pt x="178725" y="98340"/>
                  <a:pt x="181132" y="99199"/>
                  <a:pt x="183710" y="101090"/>
                </a:cubicBezTo>
                <a:cubicBezTo>
                  <a:pt x="186117" y="102810"/>
                  <a:pt x="187664" y="104873"/>
                  <a:pt x="188524" y="107279"/>
                </a:cubicBezTo>
                <a:cubicBezTo>
                  <a:pt x="188696" y="109170"/>
                  <a:pt x="188868" y="118969"/>
                  <a:pt x="188868" y="136848"/>
                </a:cubicBezTo>
                <a:lnTo>
                  <a:pt x="188868" y="164182"/>
                </a:lnTo>
                <a:lnTo>
                  <a:pt x="216202" y="164182"/>
                </a:lnTo>
                <a:cubicBezTo>
                  <a:pt x="234080" y="164182"/>
                  <a:pt x="244051" y="164354"/>
                  <a:pt x="245770" y="164697"/>
                </a:cubicBezTo>
                <a:cubicBezTo>
                  <a:pt x="247489" y="165041"/>
                  <a:pt x="249208" y="166073"/>
                  <a:pt x="250756" y="167792"/>
                </a:cubicBezTo>
                <a:cubicBezTo>
                  <a:pt x="252303" y="169511"/>
                  <a:pt x="253334" y="171230"/>
                  <a:pt x="253850" y="172949"/>
                </a:cubicBezTo>
                <a:cubicBezTo>
                  <a:pt x="254882" y="176215"/>
                  <a:pt x="254538" y="179482"/>
                  <a:pt x="252819" y="182404"/>
                </a:cubicBezTo>
                <a:cubicBezTo>
                  <a:pt x="251100" y="185327"/>
                  <a:pt x="248865" y="187390"/>
                  <a:pt x="245770" y="188421"/>
                </a:cubicBezTo>
                <a:cubicBezTo>
                  <a:pt x="244051" y="188765"/>
                  <a:pt x="234080" y="188765"/>
                  <a:pt x="216202" y="188765"/>
                </a:cubicBezTo>
                <a:lnTo>
                  <a:pt x="188868" y="188765"/>
                </a:lnTo>
                <a:lnTo>
                  <a:pt x="188868" y="216099"/>
                </a:lnTo>
                <a:cubicBezTo>
                  <a:pt x="188868" y="233977"/>
                  <a:pt x="188696" y="243948"/>
                  <a:pt x="188524" y="245667"/>
                </a:cubicBezTo>
                <a:cubicBezTo>
                  <a:pt x="187493" y="248762"/>
                  <a:pt x="185430" y="251169"/>
                  <a:pt x="182507" y="252716"/>
                </a:cubicBezTo>
                <a:cubicBezTo>
                  <a:pt x="179585" y="254435"/>
                  <a:pt x="176490" y="254779"/>
                  <a:pt x="173052" y="253747"/>
                </a:cubicBezTo>
                <a:cubicBezTo>
                  <a:pt x="171333" y="253231"/>
                  <a:pt x="169442" y="252200"/>
                  <a:pt x="167895" y="250653"/>
                </a:cubicBezTo>
                <a:cubicBezTo>
                  <a:pt x="166348" y="249106"/>
                  <a:pt x="165144" y="247386"/>
                  <a:pt x="164800" y="245667"/>
                </a:cubicBezTo>
                <a:cubicBezTo>
                  <a:pt x="164456" y="243948"/>
                  <a:pt x="164285" y="233977"/>
                  <a:pt x="164285" y="216099"/>
                </a:cubicBezTo>
                <a:lnTo>
                  <a:pt x="164285" y="188765"/>
                </a:lnTo>
                <a:lnTo>
                  <a:pt x="136951" y="188765"/>
                </a:lnTo>
                <a:cubicBezTo>
                  <a:pt x="119072" y="188765"/>
                  <a:pt x="109101" y="188593"/>
                  <a:pt x="107382" y="188421"/>
                </a:cubicBezTo>
                <a:cubicBezTo>
                  <a:pt x="104288" y="187390"/>
                  <a:pt x="101881" y="185499"/>
                  <a:pt x="100334" y="182404"/>
                </a:cubicBezTo>
                <a:cubicBezTo>
                  <a:pt x="98787" y="179310"/>
                  <a:pt x="98271" y="176387"/>
                  <a:pt x="99302" y="172949"/>
                </a:cubicBezTo>
                <a:cubicBezTo>
                  <a:pt x="99818" y="171230"/>
                  <a:pt x="100850" y="169339"/>
                  <a:pt x="102397" y="167792"/>
                </a:cubicBezTo>
                <a:cubicBezTo>
                  <a:pt x="103944" y="166073"/>
                  <a:pt x="105663" y="165041"/>
                  <a:pt x="107382" y="164697"/>
                </a:cubicBezTo>
                <a:cubicBezTo>
                  <a:pt x="109101" y="164354"/>
                  <a:pt x="119072" y="164182"/>
                  <a:pt x="136951" y="164182"/>
                </a:cubicBezTo>
                <a:lnTo>
                  <a:pt x="164285" y="164182"/>
                </a:lnTo>
                <a:lnTo>
                  <a:pt x="164285" y="136848"/>
                </a:lnTo>
                <a:cubicBezTo>
                  <a:pt x="164285" y="118969"/>
                  <a:pt x="164456" y="108998"/>
                  <a:pt x="164800" y="107451"/>
                </a:cubicBezTo>
                <a:cubicBezTo>
                  <a:pt x="165144" y="105732"/>
                  <a:pt x="166176" y="104185"/>
                  <a:pt x="167723" y="102638"/>
                </a:cubicBezTo>
                <a:cubicBezTo>
                  <a:pt x="169270" y="101090"/>
                  <a:pt x="170817" y="99887"/>
                  <a:pt x="172364" y="99199"/>
                </a:cubicBezTo>
                <a:cubicBezTo>
                  <a:pt x="174083" y="98512"/>
                  <a:pt x="175459" y="98340"/>
                  <a:pt x="176146" y="98340"/>
                </a:cubicBezTo>
                <a:close/>
              </a:path>
            </a:pathLst>
          </a:custGeom>
          <a:solidFill>
            <a:schemeClr val="tx2"/>
          </a:solidFill>
          <a:ln w="1718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701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805230" y="1586678"/>
            <a:ext cx="1833242" cy="2339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050" b="1" dirty="0" smtClean="0">
                <a:solidFill>
                  <a:schemeClr val="tx2"/>
                </a:solidFill>
              </a:rPr>
              <a:t>оптимальный </a:t>
            </a:r>
            <a:r>
              <a:rPr lang="ru-RU" sz="1050" b="1" dirty="0">
                <a:solidFill>
                  <a:schemeClr val="tx2"/>
                </a:solidFill>
              </a:rPr>
              <a:t>способ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8805230" y="2498042"/>
            <a:ext cx="1833242" cy="2339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>
            <a:outerShdw blurRad="114300" dist="38100" dir="4800000" sx="101000" sy="101000" algn="r" rotWithShape="0">
              <a:prstClr val="black">
                <a:alpha val="9000"/>
              </a:prstClr>
            </a:out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050" b="1" dirty="0" smtClean="0">
                <a:solidFill>
                  <a:schemeClr val="tx2"/>
                </a:solidFill>
              </a:rPr>
              <a:t>НЕ оптимальный </a:t>
            </a:r>
            <a:r>
              <a:rPr lang="ru-RU" sz="1050" b="1" dirty="0">
                <a:solidFill>
                  <a:schemeClr val="tx2"/>
                </a:solidFill>
              </a:rPr>
              <a:t>способ</a:t>
            </a:r>
          </a:p>
        </p:txBody>
      </p:sp>
    </p:spTree>
    <p:extLst>
      <p:ext uri="{BB962C8B-B14F-4D97-AF65-F5344CB8AC3E}">
        <p14:creationId xmlns:p14="http://schemas.microsoft.com/office/powerpoint/2010/main" val="20567660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5427424" y="1223258"/>
            <a:ext cx="4692359" cy="125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latin typeface="+mj-lt"/>
              <a:ea typeface="Arial" charset="0"/>
              <a:cs typeface="Arial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06625" y="1223258"/>
            <a:ext cx="999269" cy="125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 smtClean="0">
              <a:latin typeface="+mj-lt"/>
              <a:ea typeface="Arial" charset="0"/>
              <a:cs typeface="Arial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2266-9822-464F-A30A-62496F64E94B}" type="slidenum">
              <a:rPr lang="ru-RU" smtClean="0">
                <a:latin typeface="+mj-lt"/>
              </a:rPr>
              <a:t>31</a:t>
            </a:fld>
            <a:endParaRPr lang="ru-RU" dirty="0">
              <a:latin typeface="+mj-lt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j-lt"/>
              </a:rPr>
              <a:t>краткое </a:t>
            </a:r>
            <a:r>
              <a:rPr lang="ru-RU" dirty="0">
                <a:latin typeface="+mj-lt"/>
              </a:rPr>
              <a:t>резюме и выводы</a:t>
            </a:r>
            <a:endParaRPr lang="ru-RU" sz="2000" dirty="0">
              <a:latin typeface="+mj-lt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7" y="4154574"/>
            <a:ext cx="6286123" cy="1682463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В целях общности терминологии, базовых понятий и подходов к проектированию, при подготовке архитектурных решений рекомендуется ознакомиться с Технической политикой и Глоссарием терминов</a:t>
            </a: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endParaRPr lang="ru-RU" altLang="ru-RU" sz="11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При необходимости получения консультаций и помощи в формировании, подготовке, оформлении архитектуры решения для защиты на АК, подготовке концепции решения вы можете запросить консультацию в корпоративной архитектуре</a:t>
            </a: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endParaRPr lang="ru-RU" altLang="ru-RU" sz="11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Calibri" panose="020F0502020204030204" pitchFamily="34" charset="0"/>
              </a:rPr>
              <a:t>Рекомендуется перед выходом на АК провести консультации с Центром корпоративной архитектуры по формируемой концепции решения. 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277238" y="1058419"/>
            <a:ext cx="4413516" cy="818593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2000" b="1" dirty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выводы</a:t>
            </a:r>
            <a:endParaRPr lang="ru-RU" altLang="ru-RU" sz="2000" b="1" dirty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585623F-D267-8640-92F1-BF208A41EF0C}"/>
              </a:ext>
            </a:extLst>
          </p:cNvPr>
          <p:cNvSpPr txBox="1">
            <a:spLocks/>
          </p:cNvSpPr>
          <p:nvPr/>
        </p:nvSpPr>
        <p:spPr>
          <a:xfrm>
            <a:off x="5395502" y="1058419"/>
            <a:ext cx="4912279" cy="818593"/>
          </a:xfrm>
          <a:prstGeom prst="rect">
            <a:avLst/>
          </a:prstGeom>
        </p:spPr>
        <p:txBody>
          <a:bodyPr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>
              <a:spcBef>
                <a:spcPct val="0"/>
              </a:spcBef>
              <a:buClr>
                <a:schemeClr val="bg1">
                  <a:lumMod val="50000"/>
                </a:schemeClr>
              </a:buClr>
            </a:pPr>
            <a:r>
              <a:rPr lang="ru-RU" altLang="ru-RU" sz="2000" b="1" dirty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рекомендация </a:t>
            </a:r>
            <a:r>
              <a:rPr lang="ru-RU" altLang="ru-RU" sz="2000" b="1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для проекта решения АК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77237" y="1580185"/>
            <a:ext cx="37736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Beeline Sans" panose="020B0500040202020204" pitchFamily="34" charset="-52"/>
              <a:buChar char="–"/>
            </a:pPr>
            <a:r>
              <a:rPr lang="en-US" sz="1400" dirty="0">
                <a:solidFill>
                  <a:schemeClr val="tx2"/>
                </a:solidFill>
                <a:latin typeface="+mj-lt"/>
              </a:rPr>
              <a:t>&lt;</a:t>
            </a:r>
            <a:r>
              <a:rPr lang="ru-RU" sz="1400" dirty="0">
                <a:solidFill>
                  <a:schemeClr val="tx2"/>
                </a:solidFill>
                <a:latin typeface="+mj-lt"/>
              </a:rPr>
              <a:t>Вывод эксперта по проекту решения</a:t>
            </a:r>
            <a:r>
              <a:rPr lang="en-US" sz="1400" dirty="0">
                <a:solidFill>
                  <a:schemeClr val="tx2"/>
                </a:solidFill>
                <a:latin typeface="+mj-lt"/>
              </a:rPr>
              <a:t>&gt;</a:t>
            </a:r>
            <a:r>
              <a:rPr lang="ru-RU" sz="1400" dirty="0">
                <a:solidFill>
                  <a:schemeClr val="tx2"/>
                </a:solidFill>
                <a:latin typeface="+mj-lt"/>
              </a:rPr>
              <a:t> </a:t>
            </a:r>
            <a:endParaRPr lang="en-US" sz="14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 typeface="Beeline Sans" panose="020B0500040202020204" pitchFamily="34" charset="-52"/>
              <a:buChar char="–"/>
            </a:pPr>
            <a:r>
              <a:rPr lang="en-US" sz="1400" dirty="0">
                <a:solidFill>
                  <a:schemeClr val="tx2"/>
                </a:solidFill>
                <a:latin typeface="+mj-lt"/>
              </a:rPr>
              <a:t>&lt;</a:t>
            </a:r>
            <a:r>
              <a:rPr lang="ru-RU" sz="1400" dirty="0">
                <a:solidFill>
                  <a:schemeClr val="tx2"/>
                </a:solidFill>
                <a:latin typeface="+mj-lt"/>
              </a:rPr>
              <a:t> Вывод эксперта по проекту решения </a:t>
            </a:r>
            <a:r>
              <a:rPr lang="en-US" sz="1400" dirty="0">
                <a:solidFill>
                  <a:schemeClr val="tx2"/>
                </a:solidFill>
                <a:latin typeface="+mj-lt"/>
              </a:rPr>
              <a:t>&gt;</a:t>
            </a:r>
            <a:r>
              <a:rPr lang="ru-RU" sz="1400" dirty="0">
                <a:solidFill>
                  <a:schemeClr val="tx2"/>
                </a:solidFill>
                <a:latin typeface="+mj-lt"/>
              </a:rPr>
              <a:t> </a:t>
            </a:r>
          </a:p>
          <a:p>
            <a:pPr marL="285750" indent="-285750">
              <a:buFont typeface="Beeline Sans" panose="020B0500040202020204" pitchFamily="34" charset="-52"/>
              <a:buChar char="–"/>
            </a:pPr>
            <a:r>
              <a:rPr lang="ru-RU" sz="1400" dirty="0">
                <a:solidFill>
                  <a:schemeClr val="tx2"/>
                </a:solidFill>
                <a:latin typeface="+mj-lt"/>
              </a:rPr>
              <a:t>…..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409676" y="1580185"/>
            <a:ext cx="37736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Beeline Sans" panose="020B0500040202020204" pitchFamily="34" charset="-52"/>
              <a:buChar char="–"/>
            </a:pPr>
            <a:r>
              <a:rPr lang="ru-RU" sz="1400" dirty="0">
                <a:solidFill>
                  <a:schemeClr val="tx2"/>
                </a:solidFill>
                <a:latin typeface="+mj-lt"/>
              </a:rPr>
              <a:t>&lt;Сводная рекомендация&gt; ….</a:t>
            </a:r>
          </a:p>
          <a:p>
            <a:pPr marL="285750" indent="-285750">
              <a:buFont typeface="Beeline Sans" panose="020B0500040202020204" pitchFamily="34" charset="-52"/>
              <a:buChar char="–"/>
            </a:pPr>
            <a:r>
              <a:rPr lang="ru-RU" sz="1400" dirty="0">
                <a:solidFill>
                  <a:schemeClr val="tx2"/>
                </a:solidFill>
                <a:latin typeface="+mj-lt"/>
              </a:rPr>
              <a:t>&lt;Сводная рекомендация&gt; …</a:t>
            </a:r>
          </a:p>
        </p:txBody>
      </p:sp>
    </p:spTree>
    <p:extLst>
      <p:ext uri="{BB962C8B-B14F-4D97-AF65-F5344CB8AC3E}">
        <p14:creationId xmlns:p14="http://schemas.microsoft.com/office/powerpoint/2010/main" val="18634331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37A677-23DE-4441-BA04-7F63569583A5}"/>
              </a:ext>
            </a:extLst>
          </p:cNvPr>
          <p:cNvSpPr/>
          <p:nvPr/>
        </p:nvSpPr>
        <p:spPr>
          <a:xfrm>
            <a:off x="1096579" y="2947669"/>
            <a:ext cx="3166459" cy="3352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ea typeface="Arial" charset="0"/>
              <a:cs typeface="Arial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29C1E0D-B8E3-4461-860B-E89D44BA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19208"/>
            <a:ext cx="5761037" cy="2116400"/>
          </a:xfrm>
        </p:spPr>
        <p:txBody>
          <a:bodyPr/>
          <a:lstStyle/>
          <a:p>
            <a:pPr>
              <a:lnSpc>
                <a:spcPts val="4800"/>
              </a:lnSpc>
            </a:pPr>
            <a:r>
              <a:rPr lang="ru-RU" dirty="0" smtClean="0"/>
              <a:t>спасибо</a:t>
            </a:r>
            <a:br>
              <a:rPr lang="ru-RU" dirty="0" smtClean="0"/>
            </a:br>
            <a:r>
              <a:rPr lang="ru-RU" dirty="0" smtClean="0"/>
              <a:t>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3563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37A677-23DE-4441-BA04-7F63569583A5}"/>
              </a:ext>
            </a:extLst>
          </p:cNvPr>
          <p:cNvSpPr/>
          <p:nvPr/>
        </p:nvSpPr>
        <p:spPr>
          <a:xfrm>
            <a:off x="273951" y="2940265"/>
            <a:ext cx="3989088" cy="3352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ea typeface="Arial" charset="0"/>
              <a:cs typeface="Arial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29C1E0D-B8E3-4461-860B-E89D44BA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814631"/>
            <a:ext cx="5761037" cy="2116400"/>
          </a:xfrm>
        </p:spPr>
        <p:txBody>
          <a:bodyPr/>
          <a:lstStyle/>
          <a:p>
            <a:pPr>
              <a:lnSpc>
                <a:spcPts val="4800"/>
              </a:lnSpc>
            </a:pPr>
            <a:r>
              <a:rPr lang="ru-RU" dirty="0" smtClean="0"/>
              <a:t>приложение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73951" y="3968320"/>
            <a:ext cx="5407758" cy="16298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0" bIns="0" rtlCol="0" anchor="ctr"/>
          <a:lstStyle/>
          <a:p>
            <a:pPr defTabSz="825500" hangingPunct="0"/>
            <a:r>
              <a:rPr lang="ru-RU" sz="1400" dirty="0">
                <a:solidFill>
                  <a:schemeClr val="tx2"/>
                </a:solidFill>
                <a:sym typeface="Helvetica Neue Medium"/>
              </a:rPr>
              <a:t>Приложения заполняются по необходимости, в случае потребности в детализации принятых решений: развернутое описание отдельных компонент, технической архитектуры решения,  описания процессов, </a:t>
            </a:r>
            <a:r>
              <a:rPr lang="en-US" sz="1400" dirty="0">
                <a:solidFill>
                  <a:schemeClr val="tx2"/>
                </a:solidFill>
                <a:sym typeface="Helvetica Neue Medium"/>
              </a:rPr>
              <a:t>CJM</a:t>
            </a:r>
            <a:r>
              <a:rPr lang="ru-RU" sz="1400" dirty="0">
                <a:solidFill>
                  <a:schemeClr val="tx2"/>
                </a:solidFill>
                <a:sym typeface="Helvetica Neue Medium"/>
              </a:rPr>
              <a:t>, расчеты, примеры, скриншоты, обоснования - могут быть приведены в приложении.</a:t>
            </a:r>
          </a:p>
          <a:p>
            <a:pPr defTabSz="825500" hangingPunct="0"/>
            <a:r>
              <a:rPr lang="en-US" sz="1400" dirty="0">
                <a:solidFill>
                  <a:schemeClr val="tx2"/>
                </a:solidFill>
                <a:sym typeface="Helvetica Neue Medium"/>
              </a:rPr>
              <a:t>&lt;</a:t>
            </a:r>
            <a:r>
              <a:rPr lang="ru-RU" sz="1400" b="1" dirty="0">
                <a:solidFill>
                  <a:schemeClr val="tx2"/>
                </a:solidFill>
                <a:sym typeface="Helvetica Neue Medium"/>
              </a:rPr>
              <a:t>Удалить</a:t>
            </a:r>
            <a:r>
              <a:rPr lang="en-US" sz="1400" b="1" dirty="0">
                <a:solidFill>
                  <a:schemeClr val="tx2"/>
                </a:solidFill>
                <a:sym typeface="Helvetica Neue Medium"/>
              </a:rPr>
              <a:t> </a:t>
            </a:r>
            <a:r>
              <a:rPr lang="ru-RU" sz="1400" b="1" dirty="0">
                <a:solidFill>
                  <a:schemeClr val="tx2"/>
                </a:solidFill>
                <a:sym typeface="Helvetica Neue Medium"/>
              </a:rPr>
              <a:t>примечание из итоговой презентации</a:t>
            </a:r>
            <a:r>
              <a:rPr lang="en-US" sz="1400" dirty="0">
                <a:solidFill>
                  <a:schemeClr val="tx2"/>
                </a:solidFill>
                <a:sym typeface="Helvetica Neue Medium"/>
              </a:rPr>
              <a:t>&gt;</a:t>
            </a:r>
            <a:r>
              <a:rPr lang="ru-RU" sz="1400" dirty="0">
                <a:solidFill>
                  <a:schemeClr val="tx2"/>
                </a:solidFill>
                <a:sym typeface="Helvetica Neue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243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07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5&quot;&gt;&lt;elem m_fUsage=&quot;1.24659000000000008690E+00&quot;&gt;&lt;m_msothmcolidx val=&quot;0&quot;/&gt;&lt;m_rgb r=&quot;63&quot; g=&quot;32&quot; b=&quot;C8&quot;/&gt;&lt;m_nBrightness endver=&quot;26206&quot; val=&quot;0&quot;/&gt;&lt;/elem&gt;&lt;elem m_fUsage=&quot;1.00000000000000000000E+00&quot;&gt;&lt;m_msothmcolidx val=&quot;0&quot;/&gt;&lt;m_rgb r=&quot;FF&quot; g=&quot;C8&quot; b=&quot;01&quot;/&gt;&lt;m_nBrightness endver=&quot;26206&quot; val=&quot;0&quot;/&gt;&lt;/elem&gt;&lt;elem m_fUsage=&quot;9.00000000000000022204E-01&quot;&gt;&lt;m_msothmcolidx val=&quot;0&quot;/&gt;&lt;m_rgb r=&quot;AB&quot; g=&quot;AB&quot; b=&quot;AB&quot;/&gt;&lt;m_nBrightness endver=&quot;26206&quot; val=&quot;0&quot;/&gt;&lt;/elem&gt;&lt;elem m_fUsage=&quot;8.10000000000000053291E-01&quot;&gt;&lt;m_msothmcolidx val=&quot;0&quot;/&gt;&lt;m_rgb r=&quot;B3&quot; g=&quot;09&quot; b=&quot;6D&quot;/&gt;&lt;m_nBrightness endver=&quot;26206&quot; val=&quot;0&quot;/&gt;&lt;/elem&gt;&lt;elem m_fUsage=&quot;7.29000000000000092371E-01&quot;&gt;&lt;m_msothmcolidx val=&quot;0&quot;/&gt;&lt;m_rgb r=&quot;00&quot; g=&quot;32&quot; b=&quot;FA&quot;/&gt;&lt;m_nBrightness endver=&quot;26206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BwZ3XZcf5npstiKccar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BwZ3XZcf5npstiKccar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BwZ3XZcf5npstiKccar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uotone. Title">
  <a:themeElements>
    <a:clrScheme name="Custom 10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E5093B"/>
      </a:accent4>
      <a:accent5>
        <a:srgbClr val="B3096D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2.xml><?xml version="1.0" encoding="utf-8"?>
<a:theme xmlns:a="http://schemas.openxmlformats.org/drawingml/2006/main" name="Duotone. Content">
  <a:themeElements>
    <a:clrScheme name="Custom 10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E5093B"/>
      </a:accent4>
      <a:accent5>
        <a:srgbClr val="B3096D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3.xml><?xml version="1.0" encoding="utf-8"?>
<a:theme xmlns:a="http://schemas.openxmlformats.org/drawingml/2006/main" name="1_Duotone. Content">
  <a:themeElements>
    <a:clrScheme name="Custom 10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E5093B"/>
      </a:accent4>
      <a:accent5>
        <a:srgbClr val="B3096D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4.xml><?xml version="1.0" encoding="utf-8"?>
<a:theme xmlns:a="http://schemas.openxmlformats.org/drawingml/2006/main" name="2_Duotone. Content">
  <a:themeElements>
    <a:clrScheme name="Другая 6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E5093B"/>
      </a:accent4>
      <a:accent5>
        <a:srgbClr val="B3096D"/>
      </a:accent5>
      <a:accent6>
        <a:srgbClr val="6332C8"/>
      </a:accent6>
      <a:hlink>
        <a:srgbClr val="1E1E1E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E020D08BF105B478B4260E593011668" ma:contentTypeVersion="0" ma:contentTypeDescription="Создание документа." ma:contentTypeScope="" ma:versionID="15e447fe843ea6bb082097ba3276e0d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eb82f30dbe50326594e3f26f915f05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E43F67-D9AC-4709-940A-79FF1E9A01F6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43CE55A-BBBA-4B74-9760-A61B720305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C9C911-12D4-4AE2-B6A3-00339FB016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24533</TotalTime>
  <Words>3507</Words>
  <Application>Microsoft Office PowerPoint</Application>
  <PresentationFormat>Произвольный</PresentationFormat>
  <Paragraphs>604</Paragraphs>
  <Slides>33</Slides>
  <Notes>31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8" baseType="lpstr">
      <vt:lpstr>Helvetica Neue</vt:lpstr>
      <vt:lpstr>Helvetica Neue Light</vt:lpstr>
      <vt:lpstr>Beeline Sans V0.3 Black</vt:lpstr>
      <vt:lpstr>Open Sans ExtraBold</vt:lpstr>
      <vt:lpstr>Calibri</vt:lpstr>
      <vt:lpstr>Helvetica Neue Medium</vt:lpstr>
      <vt:lpstr>Beeline Sans</vt:lpstr>
      <vt:lpstr>Arial Black</vt:lpstr>
      <vt:lpstr>Arial</vt:lpstr>
      <vt:lpstr>Beeline Sans V0.3 Regular</vt:lpstr>
      <vt:lpstr>Duotone. Title</vt:lpstr>
      <vt:lpstr>Duotone. Content</vt:lpstr>
      <vt:lpstr>1_Duotone. Content</vt:lpstr>
      <vt:lpstr>2_Duotone. Content</vt:lpstr>
      <vt:lpstr>Слайд think-cell</vt:lpstr>
      <vt:lpstr>шаблон доклада на архитектурный  комитет </vt:lpstr>
      <vt:lpstr>памятка</vt:lpstr>
      <vt:lpstr>требования к полноте содержания концепции</vt:lpstr>
      <vt:lpstr>матрица применения чек-листов к материалам, выносимым на АК</vt:lpstr>
      <vt:lpstr>чек-лист общих материалов</vt:lpstr>
      <vt:lpstr>чек-лист логики общих материалов</vt:lpstr>
      <vt:lpstr>чек-лист принципов Технической Политики</vt:lpstr>
      <vt:lpstr>чек-лист концепции продукта/сервиса</vt:lpstr>
      <vt:lpstr>чек-лист сложного коммунального элемента  ИТ-ландшафта</vt:lpstr>
      <vt:lpstr>экспертная оценка проекта решения</vt:lpstr>
      <vt:lpstr>название доклада</vt:lpstr>
      <vt:lpstr>запрашиваемый проект решения</vt:lpstr>
      <vt:lpstr>описание задачи и предметной области</vt:lpstr>
      <vt:lpstr>назначение и область применения</vt:lpstr>
      <vt:lpstr>предпосылки и история</vt:lpstr>
      <vt:lpstr>соответствие стратегическим целям Компании</vt:lpstr>
      <vt:lpstr>предлагаемое решение/общее описание продукта</vt:lpstr>
      <vt:lpstr>состояние AS IS</vt:lpstr>
      <vt:lpstr>состояние TO BE предлагаемый вариант решения</vt:lpstr>
      <vt:lpstr>AS IS / TO BE</vt:lpstr>
      <vt:lpstr>сценарии потребления</vt:lpstr>
      <vt:lpstr>CJ</vt:lpstr>
      <vt:lpstr>архитектурные решения</vt:lpstr>
      <vt:lpstr>роадмап решения. вариант 1</vt:lpstr>
      <vt:lpstr>роадмап решения. </vt:lpstr>
      <vt:lpstr>система КПЭ и ключевые метрики решения</vt:lpstr>
      <vt:lpstr>позиционирование на Функционально- доменной модели и в ИТ-ландшафте</vt:lpstr>
      <vt:lpstr>изменения в корпоративной модели данных</vt:lpstr>
      <vt:lpstr>анализ рисков </vt:lpstr>
      <vt:lpstr>анализ альтернатив</vt:lpstr>
      <vt:lpstr>краткое резюме и выводы</vt:lpstr>
      <vt:lpstr>спасибо за внимание</vt:lpstr>
      <vt:lpstr>приложение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Трохан Николай Викторович</cp:lastModifiedBy>
  <cp:revision>1236</cp:revision>
  <cp:lastPrinted>2017-08-06T18:41:35Z</cp:lastPrinted>
  <dcterms:created xsi:type="dcterms:W3CDTF">2017-08-04T16:03:42Z</dcterms:created>
  <dcterms:modified xsi:type="dcterms:W3CDTF">2022-05-19T08:42:29Z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0x0101006E020D08BF105B478B4260E593011668</vt:lpwstr>
  </property>
</Properties>
</file>